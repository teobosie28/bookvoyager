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0" r:id="rId2"/>
    <p:sldMasterId id="2147483648" r:id="rId3"/>
    <p:sldMasterId id="2147483876" r:id="rId4"/>
  </p:sldMasterIdLst>
  <p:notesMasterIdLst>
    <p:notesMasterId r:id="rId25"/>
  </p:notesMasterIdLst>
  <p:sldIdLst>
    <p:sldId id="257" r:id="rId5"/>
    <p:sldId id="259" r:id="rId6"/>
    <p:sldId id="260" r:id="rId7"/>
    <p:sldId id="264" r:id="rId8"/>
    <p:sldId id="269" r:id="rId9"/>
    <p:sldId id="270" r:id="rId10"/>
    <p:sldId id="271" r:id="rId11"/>
    <p:sldId id="273" r:id="rId12"/>
    <p:sldId id="272" r:id="rId13"/>
    <p:sldId id="276" r:id="rId14"/>
    <p:sldId id="275" r:id="rId15"/>
    <p:sldId id="277" r:id="rId16"/>
    <p:sldId id="267" r:id="rId17"/>
    <p:sldId id="268" r:id="rId18"/>
    <p:sldId id="278" r:id="rId19"/>
    <p:sldId id="279" r:id="rId20"/>
    <p:sldId id="280" r:id="rId21"/>
    <p:sldId id="265" r:id="rId22"/>
    <p:sldId id="266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6700"/>
    <a:srgbClr val="B86500"/>
    <a:srgbClr val="DE7A00"/>
    <a:srgbClr val="FFA83F"/>
    <a:srgbClr val="FFC000"/>
    <a:srgbClr val="FFFFFF"/>
    <a:srgbClr val="FFD85D"/>
    <a:srgbClr val="EE8200"/>
    <a:srgbClr val="FF9900"/>
    <a:srgbClr val="FFD5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1EB6C-2174-4132-BF49-7ABB4008F36F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5B8E8-9FA4-4566-B7FF-5FFC2C74361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7993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C3A8-72B7-550E-7331-A2363063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83F22-F74A-7D29-809B-81B43DD93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63322-524D-CB46-1177-B70A9BAF3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705F6-CD6D-0956-E49C-0FF2FCBCC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63708-60A3-468B-A647-C708F597B6F6}" type="slidenum">
              <a:rPr lang="ro-RO" smtClean="0"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72020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FBA4-0953-5D17-A7F6-6BCDDAD2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420BF-89B1-C0AC-2B08-DBDF53DD8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F6C34-8721-1606-7182-0418D2A0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7864E-6FB4-CE16-8B63-57400892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32705-8BF0-4400-DF6A-8675C8B1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6915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0BFC-8107-30B1-6A3D-F02721E1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5DAE-C378-9389-749B-4EAABDDD8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C6B64-962D-4100-A2D4-B478416D2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CBD9-D501-027E-C5B5-E31FBF0E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54136-4CF6-34E5-4F94-73A8A1358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42555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2E42A-4055-4DF7-C2F4-AB1CFEF8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E6A2-E146-992E-B136-0FE4B70AE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14278-5B13-6FDB-D23C-C3DE474E9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F01A9-AEC7-C6E1-F010-B6BF40F1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A4091-983F-D2C2-7E1C-AE1F78EC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3169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D43C7-063A-57EE-0779-2713B280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A269A-6484-88D8-FD4A-DFCB91C02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92242-7D2A-DFB6-9E4F-07FE80E35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A8D15-4376-4F8E-A2E2-39C61202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747EF-1CE3-32E9-74C0-FAD4A7BD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4576C-84E6-9970-8792-F15E5D6E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8653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2AB9-B862-900C-E8B2-B9167A94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DE77E-BA47-62ED-A443-B28A19297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D49A6-968F-4A50-55FB-5DE0B42BE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31A10-7A2B-A5B6-F16E-FE11BD4B2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233EE-CF55-1939-F67A-B59DBFEA1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CCD99-CEF1-B512-474D-759CBC057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D68041-DA3A-1E61-3248-6C64129B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477E38-6839-A6A5-FE22-4F72B658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6578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169D-B662-9A1C-EC21-6E3795C0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AC3D2-3872-F217-0022-DEFBA34A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5BBC6-3509-D0EB-4C29-4271D6AE5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7A872-6FE9-EEE5-D909-50984FE0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970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3E2AA-7CA6-E19A-969A-C1093E08A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070BB9-7911-95C4-2124-F245FC477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AF8FB-95EC-4EFD-ED4C-599FD0FB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54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8B45E-7267-BD34-7C27-AFCC8E916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8D1F4-24F9-005E-56F7-7663655A4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5092D-C778-314D-1092-1D819FDDD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28FD9-83A8-25FD-4CD9-EACE1B1F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236DA-B69A-91E1-09C1-F7957A88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AADAA-8D4B-58A4-E398-5A3F4F7D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747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4546-38CE-30DC-BC08-F5304B3B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134F0D-CBBB-A223-D46C-70F5DBA79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F8DFD-67DF-7669-A705-4D161E1DB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625ED-B02B-49DE-0F59-008A7A51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C2B57-9675-267B-DADD-AA8F8AC0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0BD02-4A4B-458E-857E-BB1AC7C7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0750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1EC0-6216-A03A-3C55-EF96E49F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F2966-B214-3BC9-EE0F-7D803380E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46D4A-E3B0-1F16-47B1-9F1AD8DD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0D507-FBF4-2E03-1493-4D05B98F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A6596-6EB2-FE5C-DB50-FDA49D62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8355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1BC64-54DE-6098-7B63-C78D63E43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EA0C1-DE14-FA95-E594-B772892A5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73FD5-DC02-19C5-206C-3DD0FC24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6139D-C972-EC67-4A5B-819F3F38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D9EB-6233-8FEB-8441-AF567A2C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642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F642-1837-049C-3F42-84008AA7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8DBCF-0FAF-515A-F976-978111FB7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9F3FC-6AAD-5714-C00D-992E71F7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2081-11A3-49E7-ADF8-BA11C5F28564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DF3DE-420D-EEA5-2936-D42F070C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DA387-92FD-0AAA-644E-9B66DD40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2EB3-7CB1-4A44-8A43-18E898C9077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4093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9B001-653A-24AE-596D-C00937D4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C9C07-0A84-41C1-B605-F1EF77B93210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FAA72-46E2-6CC6-C0E9-8BD8EE1E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F9624-900A-4486-7677-828BC8A4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7AA5C-1CB1-447F-8787-BFB248E1428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58995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32C6-5BE0-15A8-DE92-A330F0BD2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51931-5068-E594-7F01-6C557B9AD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1AE8F-FC64-CD33-561E-8E86688D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ED64D-D5FF-47B6-A30B-F4DEE196F11D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52B9C-3479-F9E8-1B07-6C7656BBB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F872C-4AD4-54BF-B3E1-0DBCA1C6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96C72-F567-4987-85CB-B810DB53E2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4212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27AEE-2AC0-2645-D4DA-4E368550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964BD-6DC5-B9CC-FF16-4777246C2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4B180-4950-4B3E-F8EA-59A5CDDAB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0F1BA-CE3F-46AC-9180-954FFFFB59A1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1CA51-6D32-04BB-17CE-EF3C5CF1C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A3BD-D380-F654-909B-1612C6900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2F7DE-88A9-437B-914E-B8B93EC5CDC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8306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63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BB137F-559A-C196-B02C-060F3DF1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E39F6-80C2-5F5A-B849-B8AFAF9D3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C4D5A-92AB-87CC-E98F-7F16C2004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52081-11A3-49E7-ADF8-BA11C5F28564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9614-4F91-D469-83EE-789055504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749EF-C5A4-DDE7-9BE6-AF9E6A6343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52EB3-7CB1-4A44-8A43-18E898C9077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242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FF33A5-29AC-CF4C-CF1F-552E133BD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319B9-4938-948A-901C-958B49449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833C6-C7B8-541F-9E20-0F07348A2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C9C07-0A84-41C1-B605-F1EF77B93210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17CA9-DA7C-8F2E-DBA2-A09B50FD7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B9CF0-0DDE-2F38-3C4A-CD1DECA04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7AA5C-1CB1-447F-8787-BFB248E1428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1910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5A93A-4FBA-71FB-2BC5-F06536EE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000F7-94F7-945F-FC1D-7BE5F1C4F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42E7-121C-951A-C9D6-E5E9E04C4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ED64D-D5FF-47B6-A30B-F4DEE196F11D}" type="datetimeFigureOut">
              <a:rPr lang="ro-RO" smtClean="0"/>
              <a:t>25.05.2025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B29EB-3931-2DD8-5AF5-F4BE64DBE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39B92-ACD1-83F9-A170-4078945022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96C72-F567-4987-85CB-B810DB53E2B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955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9" Type="http://schemas.openxmlformats.org/officeDocument/2006/relationships/image" Target="../media/image4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sv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svg"/><Relationship Id="rId7" Type="http://schemas.openxmlformats.org/officeDocument/2006/relationships/image" Target="../media/image5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7DBC0591-BBBE-4BEB-7E5D-5F697C02E97C}"/>
              </a:ext>
            </a:extLst>
          </p:cNvPr>
          <p:cNvSpPr/>
          <p:nvPr/>
        </p:nvSpPr>
        <p:spPr>
          <a:xfrm>
            <a:off x="696000" y="-1971000"/>
            <a:ext cx="10800000" cy="1080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6B2ED5-1543-85C3-4A18-73137EE7A3C4}"/>
              </a:ext>
            </a:extLst>
          </p:cNvPr>
          <p:cNvSpPr/>
          <p:nvPr/>
        </p:nvSpPr>
        <p:spPr>
          <a:xfrm>
            <a:off x="1596000" y="-1071000"/>
            <a:ext cx="9000000" cy="900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8E125A-83E1-7120-AC17-545855F29AEA}"/>
              </a:ext>
            </a:extLst>
          </p:cNvPr>
          <p:cNvSpPr/>
          <p:nvPr/>
        </p:nvSpPr>
        <p:spPr>
          <a:xfrm>
            <a:off x="2496000" y="-171000"/>
            <a:ext cx="7200000" cy="720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FFCC5EF-044F-812E-2E79-804D66ABC932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2DB787-9B57-D992-C3F6-8B70DBEEEB5A}"/>
              </a:ext>
            </a:extLst>
          </p:cNvPr>
          <p:cNvSpPr/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7FB3BFD-CD26-8631-FB1F-50148321C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86858D0-A14E-F2C5-56EC-47CF185B8338}"/>
              </a:ext>
            </a:extLst>
          </p:cNvPr>
          <p:cNvGrpSpPr/>
          <p:nvPr/>
        </p:nvGrpSpPr>
        <p:grpSpPr>
          <a:xfrm>
            <a:off x="-11472153" y="967154"/>
            <a:ext cx="9284677" cy="4923692"/>
            <a:chOff x="-9792627" y="967154"/>
            <a:chExt cx="9284677" cy="492369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0A8514B-4E8C-CC13-ABCC-EF5B47A0B0C6}"/>
                </a:ext>
              </a:extLst>
            </p:cNvPr>
            <p:cNvSpPr/>
            <p:nvPr/>
          </p:nvSpPr>
          <p:spPr>
            <a:xfrm>
              <a:off x="-9792627" y="967154"/>
              <a:ext cx="9284677" cy="4923692"/>
            </a:xfrm>
            <a:prstGeom prst="round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CFF8BA3-47F3-079D-846B-671E545DB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39053" b="37996"/>
            <a:stretch/>
          </p:blipFill>
          <p:spPr>
            <a:xfrm>
              <a:off x="-7948246" y="2617176"/>
              <a:ext cx="7074182" cy="1623647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E8002B7-61B9-CC08-F144-5603B0BCA8B2}"/>
              </a:ext>
            </a:extLst>
          </p:cNvPr>
          <p:cNvSpPr txBox="1"/>
          <p:nvPr/>
        </p:nvSpPr>
        <p:spPr>
          <a:xfrm>
            <a:off x="14525291" y="2025097"/>
            <a:ext cx="43997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Faculty of Engineering in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ctr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Foreign Languages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Group 1211EF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Dragomirescu Alexandru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Pencea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 Vlad-Alexandru</a:t>
            </a: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r"/>
            <a:r>
              <a:rPr lang="ro-RO" sz="1800" b="1" i="0" u="none" strike="noStrike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Coord teacher</a:t>
            </a:r>
            <a:endParaRPr lang="ro-RO" sz="1800" b="0" i="0" u="none" strike="noStrike" baseline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r"/>
            <a:r>
              <a:rPr lang="ro-RO" sz="1800" b="1" i="0" u="none" strike="noStrike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sl. dr. ing. Mitrea Dan Alexandru</a:t>
            </a:r>
            <a:endParaRPr lang="ro-RO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0706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DBDF5-C7BB-45C0-31C0-6430CA9BC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37E4FAD0-7E7B-4D21-F1BE-B02448C78DEA}"/>
              </a:ext>
            </a:extLst>
          </p:cNvPr>
          <p:cNvSpPr/>
          <p:nvPr/>
        </p:nvSpPr>
        <p:spPr>
          <a:xfrm>
            <a:off x="-1129107" y="-3558715"/>
            <a:ext cx="14450215" cy="13975431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0C1BC1E-4207-D24A-8E3A-8EDD9BBA0DF1}"/>
              </a:ext>
            </a:extLst>
          </p:cNvPr>
          <p:cNvSpPr/>
          <p:nvPr/>
        </p:nvSpPr>
        <p:spPr>
          <a:xfrm>
            <a:off x="75076" y="-2394096"/>
            <a:ext cx="12041846" cy="11646193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8E6FA3-2598-A4EE-4991-B36A9D44DC90}"/>
              </a:ext>
            </a:extLst>
          </p:cNvPr>
          <p:cNvSpPr/>
          <p:nvPr/>
        </p:nvSpPr>
        <p:spPr>
          <a:xfrm>
            <a:off x="1279262" y="-1229477"/>
            <a:ext cx="9633477" cy="9316954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AD060C7-37FE-EE34-0EEF-6B313C3356EE}"/>
              </a:ext>
            </a:extLst>
          </p:cNvPr>
          <p:cNvSpPr/>
          <p:nvPr/>
        </p:nvSpPr>
        <p:spPr>
          <a:xfrm rot="16200000">
            <a:off x="3396000" y="729000"/>
            <a:ext cx="5400000" cy="5400000"/>
          </a:xfrm>
          <a:prstGeom prst="ellipse">
            <a:avLst/>
          </a:prstGeom>
          <a:noFill/>
          <a:ln w="139700">
            <a:solidFill>
              <a:srgbClr val="FF8C00"/>
            </a:solidFill>
            <a:prstDash val="lgDash"/>
          </a:ln>
          <a:effectLst>
            <a:innerShdw blurRad="114300">
              <a:srgbClr val="FF8C00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339FC39-D23F-F2FF-BF2E-871A9E4E3001}"/>
              </a:ext>
            </a:extLst>
          </p:cNvPr>
          <p:cNvSpPr/>
          <p:nvPr/>
        </p:nvSpPr>
        <p:spPr>
          <a:xfrm>
            <a:off x="4296000" y="1629000"/>
            <a:ext cx="3600000" cy="3600000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BE0BE0-DDD9-0129-5B49-FB90F0159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986" y="2362200"/>
            <a:ext cx="1724025" cy="16764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F9D01D7-D768-85F9-A434-1FE39091094C}"/>
              </a:ext>
            </a:extLst>
          </p:cNvPr>
          <p:cNvGrpSpPr/>
          <p:nvPr/>
        </p:nvGrpSpPr>
        <p:grpSpPr>
          <a:xfrm>
            <a:off x="-11472153" y="967154"/>
            <a:ext cx="9284677" cy="4923692"/>
            <a:chOff x="-9792627" y="967154"/>
            <a:chExt cx="9284677" cy="492369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1EEE466-37B2-C784-8579-9A9EB9F54B70}"/>
                </a:ext>
              </a:extLst>
            </p:cNvPr>
            <p:cNvSpPr/>
            <p:nvPr/>
          </p:nvSpPr>
          <p:spPr>
            <a:xfrm>
              <a:off x="-9792627" y="967154"/>
              <a:ext cx="9284677" cy="4923692"/>
            </a:xfrm>
            <a:prstGeom prst="round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28329909-A752-5611-D0F8-242C8698C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39053" b="37996"/>
            <a:stretch/>
          </p:blipFill>
          <p:spPr>
            <a:xfrm>
              <a:off x="-7948246" y="2617176"/>
              <a:ext cx="7074182" cy="1623647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914578B-9389-CC8D-BA69-346CCF1C747A}"/>
              </a:ext>
            </a:extLst>
          </p:cNvPr>
          <p:cNvSpPr txBox="1"/>
          <p:nvPr/>
        </p:nvSpPr>
        <p:spPr>
          <a:xfrm>
            <a:off x="14525291" y="2025097"/>
            <a:ext cx="43997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Faculty of Engineering in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ctr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Foreign Languages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Group 1211EF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Dragomirescu Alexandru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Pencea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 Vlad-Alexandru</a:t>
            </a: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r"/>
            <a:r>
              <a:rPr lang="ro-RO" sz="1800" b="1" i="0" u="none" strike="noStrike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Coord teacher</a:t>
            </a:r>
            <a:endParaRPr lang="ro-RO" sz="1800" b="0" i="0" u="none" strike="noStrike" baseline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r"/>
            <a:r>
              <a:rPr lang="ro-RO" sz="1800" b="1" i="0" u="none" strike="noStrike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sl. dr. ing. Mitrea Dan Alexandru</a:t>
            </a:r>
            <a:endParaRPr lang="ro-RO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33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ED5B3-9254-3342-BEC2-1FAC8A40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95FDE50-0523-771B-129C-197FE8EFB3BA}"/>
              </a:ext>
            </a:extLst>
          </p:cNvPr>
          <p:cNvGrpSpPr/>
          <p:nvPr/>
        </p:nvGrpSpPr>
        <p:grpSpPr>
          <a:xfrm>
            <a:off x="-1633366" y="967154"/>
            <a:ext cx="9284677" cy="4923692"/>
            <a:chOff x="-9792627" y="967154"/>
            <a:chExt cx="9284677" cy="492369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B54DC09-56AE-91C5-1335-C39A36D1CCCA}"/>
                </a:ext>
              </a:extLst>
            </p:cNvPr>
            <p:cNvSpPr/>
            <p:nvPr/>
          </p:nvSpPr>
          <p:spPr>
            <a:xfrm>
              <a:off x="-9792627" y="967154"/>
              <a:ext cx="9284677" cy="4923692"/>
            </a:xfrm>
            <a:prstGeom prst="round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A406E8B0-C710-1FEB-BF63-B20186EEB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9053" b="37996"/>
            <a:stretch/>
          </p:blipFill>
          <p:spPr>
            <a:xfrm>
              <a:off x="-7948246" y="2617176"/>
              <a:ext cx="7074182" cy="1623647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A56A6DD-8BD0-9812-E951-A351F17F11B4}"/>
              </a:ext>
            </a:extLst>
          </p:cNvPr>
          <p:cNvSpPr/>
          <p:nvPr/>
        </p:nvSpPr>
        <p:spPr>
          <a:xfrm rot="6424724">
            <a:off x="-2903999" y="-5571000"/>
            <a:ext cx="18000000" cy="18000000"/>
          </a:xfrm>
          <a:prstGeom prst="ellipse">
            <a:avLst/>
          </a:prstGeom>
          <a:noFill/>
          <a:ln w="139700">
            <a:solidFill>
              <a:srgbClr val="FF8C00"/>
            </a:solidFill>
            <a:prstDash val="lgDash"/>
          </a:ln>
          <a:effectLst>
            <a:innerShdw blurRad="114300">
              <a:srgbClr val="FF8C00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9CAAF1-163E-F38F-2DBC-1731B89FCB39}"/>
              </a:ext>
            </a:extLst>
          </p:cNvPr>
          <p:cNvSpPr txBox="1"/>
          <p:nvPr/>
        </p:nvSpPr>
        <p:spPr>
          <a:xfrm>
            <a:off x="7651311" y="2025097"/>
            <a:ext cx="43997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Faculty of Engineering in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ctr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Foreign Languages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Group 1211EF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Dragomirescu Alexandru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r>
              <a:rPr lang="en-US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Pencea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 Vlad-Alexandru</a:t>
            </a: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just"/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r"/>
            <a:r>
              <a:rPr lang="ro-RO" sz="1800" b="1" i="0" u="none" strike="noStrike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Coord teacher</a:t>
            </a:r>
            <a:endParaRPr lang="ro-RO" sz="1800" b="0" i="0" u="none" strike="noStrike" baseline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  <a:p>
            <a:pPr algn="r"/>
            <a:r>
              <a:rPr lang="ro-RO" sz="1800" b="1" i="0" u="none" strike="noStrike" baseline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sl. dr. ing. Mitrea Dan Alexandru</a:t>
            </a:r>
            <a:endParaRPr lang="ro-RO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A5D90A-33AB-E047-DFE4-510716A685B8}"/>
              </a:ext>
            </a:extLst>
          </p:cNvPr>
          <p:cNvSpPr/>
          <p:nvPr/>
        </p:nvSpPr>
        <p:spPr>
          <a:xfrm>
            <a:off x="12964892" y="0"/>
            <a:ext cx="7894320" cy="6858000"/>
          </a:xfrm>
          <a:prstGeom prst="roundRect">
            <a:avLst>
              <a:gd name="adj" fmla="val 0"/>
            </a:avLst>
          </a:prstGeom>
          <a:solidFill>
            <a:srgbClr val="99CCFF"/>
          </a:solidFill>
          <a:ln>
            <a:noFill/>
          </a:ln>
          <a:effectLst>
            <a:outerShdw blurRad="850900" dist="2286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575DDD-2AA7-2605-440D-B1B13EABA3CF}"/>
              </a:ext>
            </a:extLst>
          </p:cNvPr>
          <p:cNvSpPr txBox="1"/>
          <p:nvPr/>
        </p:nvSpPr>
        <p:spPr>
          <a:xfrm>
            <a:off x="7314288" y="-1202830"/>
            <a:ext cx="1861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Contents</a:t>
            </a:r>
            <a:endParaRPr lang="ro-RO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</p:txBody>
      </p:sp>
      <p:pic>
        <p:nvPicPr>
          <p:cNvPr id="16" name="Picture 15" descr="A cartoon character walking on a graph&#10;&#10;AI-generated content may be incorrect.">
            <a:extLst>
              <a:ext uri="{FF2B5EF4-FFF2-40B4-BE49-F238E27FC236}">
                <a16:creationId xmlns:a16="http://schemas.microsoft.com/office/drawing/2014/main" id="{D17AD0FB-6084-977F-5CA0-685F416F5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469" b="95508" l="8691" r="93262">
                        <a14:foregroundMark x1="45508" y1="5469" x2="40137" y2="12207"/>
                        <a14:foregroundMark x1="40137" y1="12207" x2="40527" y2="9082"/>
                        <a14:foregroundMark x1="35156" y1="4590" x2="47559" y2="5566"/>
                        <a14:foregroundMark x1="47559" y1="5566" x2="48145" y2="6641"/>
                        <a14:foregroundMark x1="91211" y1="33203" x2="89355" y2="39355"/>
                        <a14:foregroundMark x1="14258" y1="84668" x2="33008" y2="83887"/>
                        <a14:foregroundMark x1="33008" y1="83887" x2="25977" y2="87109"/>
                        <a14:foregroundMark x1="41309" y1="68457" x2="57031" y2="70020"/>
                        <a14:foregroundMark x1="57031" y1="70020" x2="55469" y2="86523"/>
                        <a14:foregroundMark x1="55469" y1="86523" x2="64160" y2="84668"/>
                        <a14:foregroundMark x1="64160" y1="84668" x2="61523" y2="69043"/>
                        <a14:foregroundMark x1="61523" y1="69043" x2="50781" y2="75879"/>
                        <a14:foregroundMark x1="50781" y1="75879" x2="52344" y2="88379"/>
                        <a14:foregroundMark x1="52344" y1="88379" x2="60059" y2="90430"/>
                        <a14:foregroundMark x1="60645" y1="89258" x2="60059" y2="87598"/>
                        <a14:foregroundMark x1="77539" y1="55566" x2="92188" y2="66895"/>
                        <a14:foregroundMark x1="92188" y1="66895" x2="90723" y2="90430"/>
                        <a14:foregroundMark x1="90723" y1="90430" x2="82715" y2="74023"/>
                        <a14:foregroundMark x1="82715" y1="74023" x2="84668" y2="62012"/>
                        <a14:foregroundMark x1="84668" y1="62012" x2="87793" y2="79199"/>
                        <a14:foregroundMark x1="87793" y1="79199" x2="83496" y2="59180"/>
                        <a14:foregroundMark x1="83496" y1="59180" x2="74414" y2="79688"/>
                        <a14:foregroundMark x1="74414" y1="79688" x2="76465" y2="91406"/>
                        <a14:foregroundMark x1="76465" y1="91406" x2="86719" y2="84863"/>
                        <a14:foregroundMark x1="86719" y1="84863" x2="81738" y2="70410"/>
                        <a14:foregroundMark x1="81738" y1="70410" x2="84668" y2="64746"/>
                        <a14:foregroundMark x1="90820" y1="55957" x2="90820" y2="87891"/>
                        <a14:foregroundMark x1="90820" y1="87891" x2="81742" y2="94068"/>
                        <a14:foregroundMark x1="82021" y1="94093" x2="93262" y2="90039"/>
                        <a14:foregroundMark x1="93262" y1="90039" x2="92676" y2="54102"/>
                        <a14:foregroundMark x1="85533" y1="95489" x2="88379" y2="95605"/>
                        <a14:foregroundMark x1="9082" y1="83887" x2="8691" y2="92285"/>
                        <a14:foregroundMark x1="27148" y1="80762" x2="28809" y2="80762"/>
                        <a14:foregroundMark x1="28613" y1="80859" x2="30664" y2="81055"/>
                        <a14:backgroundMark x1="76855" y1="95996" x2="80566" y2="96191"/>
                        <a14:backgroundMark x1="76367" y1="95410" x2="85059" y2="96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71903" y="2169235"/>
            <a:ext cx="4226128" cy="422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89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F0C4D-B86F-4736-472B-E033062D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B04F6F4-5F1C-B6B1-C2A6-30D6D402C246}"/>
              </a:ext>
            </a:extLst>
          </p:cNvPr>
          <p:cNvGrpSpPr/>
          <p:nvPr/>
        </p:nvGrpSpPr>
        <p:grpSpPr>
          <a:xfrm>
            <a:off x="-9893446" y="967154"/>
            <a:ext cx="9284677" cy="4923692"/>
            <a:chOff x="-9792627" y="967154"/>
            <a:chExt cx="9284677" cy="492369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8CC25DC-FFEE-A91C-F1CA-3D9B458B0BD4}"/>
                </a:ext>
              </a:extLst>
            </p:cNvPr>
            <p:cNvSpPr/>
            <p:nvPr/>
          </p:nvSpPr>
          <p:spPr>
            <a:xfrm>
              <a:off x="-9792627" y="967154"/>
              <a:ext cx="9284677" cy="4923692"/>
            </a:xfrm>
            <a:prstGeom prst="round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62D67CE-FEED-88AA-EC16-5F16EBCDE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9053" b="37996"/>
            <a:stretch/>
          </p:blipFill>
          <p:spPr>
            <a:xfrm>
              <a:off x="-7948246" y="2617176"/>
              <a:ext cx="7074182" cy="1623647"/>
            </a:xfrm>
            <a:prstGeom prst="rect">
              <a:avLst/>
            </a:prstGeom>
          </p:spPr>
        </p:pic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A74F80-A0CE-C8BF-5F24-5BAAFE61AF8D}"/>
              </a:ext>
            </a:extLst>
          </p:cNvPr>
          <p:cNvSpPr/>
          <p:nvPr/>
        </p:nvSpPr>
        <p:spPr>
          <a:xfrm>
            <a:off x="4297681" y="0"/>
            <a:ext cx="7894320" cy="6858000"/>
          </a:xfrm>
          <a:prstGeom prst="roundRect">
            <a:avLst>
              <a:gd name="adj" fmla="val 0"/>
            </a:avLst>
          </a:prstGeom>
          <a:solidFill>
            <a:srgbClr val="99CCFF"/>
          </a:solidFill>
          <a:ln>
            <a:noFill/>
          </a:ln>
          <a:effectLst>
            <a:outerShdw blurRad="850900" dist="2286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FEF98E-DE5A-6C61-234C-5191F9CCEFDD}"/>
              </a:ext>
            </a:extLst>
          </p:cNvPr>
          <p:cNvGrpSpPr/>
          <p:nvPr/>
        </p:nvGrpSpPr>
        <p:grpSpPr>
          <a:xfrm>
            <a:off x="6060665" y="919313"/>
            <a:ext cx="1969142" cy="540000"/>
            <a:chOff x="4771699" y="169563"/>
            <a:chExt cx="2599061" cy="540000"/>
          </a:xfrm>
        </p:grpSpPr>
        <p:sp>
          <p:nvSpPr>
            <p:cNvPr id="4" name="Flowchart: Off-page Connector 30">
              <a:extLst>
                <a:ext uri="{FF2B5EF4-FFF2-40B4-BE49-F238E27FC236}">
                  <a16:creationId xmlns:a16="http://schemas.microsoft.com/office/drawing/2014/main" id="{D0A2C781-D9DB-050C-5908-DA9D4B185086}"/>
                </a:ext>
              </a:extLst>
            </p:cNvPr>
            <p:cNvSpPr/>
            <p:nvPr/>
          </p:nvSpPr>
          <p:spPr>
            <a:xfrm rot="16200000" flipV="1">
              <a:off x="5706890" y="-765628"/>
              <a:ext cx="540000" cy="2410382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8000"/>
                <a:gd name="connsiteX1" fmla="*/ 10000 w 10000"/>
                <a:gd name="connsiteY1" fmla="*/ 0 h 8000"/>
                <a:gd name="connsiteX2" fmla="*/ 10000 w 10000"/>
                <a:gd name="connsiteY2" fmla="*/ 8000 h 8000"/>
                <a:gd name="connsiteX3" fmla="*/ 5126 w 10000"/>
                <a:gd name="connsiteY3" fmla="*/ 5920 h 8000"/>
                <a:gd name="connsiteX4" fmla="*/ 0 w 10000"/>
                <a:gd name="connsiteY4" fmla="*/ 8000 h 8000"/>
                <a:gd name="connsiteX5" fmla="*/ 0 w 10000"/>
                <a:gd name="connsiteY5" fmla="*/ 0 h 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8000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126" y="5920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85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B170E5-40E6-AC7D-BA2E-A106213393F4}"/>
                </a:ext>
              </a:extLst>
            </p:cNvPr>
            <p:cNvSpPr txBox="1"/>
            <p:nvPr/>
          </p:nvSpPr>
          <p:spPr>
            <a:xfrm>
              <a:off x="5315182" y="239508"/>
              <a:ext cx="205557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Objectives</a:t>
              </a:r>
              <a:endParaRPr lang="ro-RO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8E4AE03-AC58-42DE-D64C-00EB7C890B1D}"/>
              </a:ext>
            </a:extLst>
          </p:cNvPr>
          <p:cNvGrpSpPr/>
          <p:nvPr/>
        </p:nvGrpSpPr>
        <p:grpSpPr>
          <a:xfrm>
            <a:off x="5853348" y="2484384"/>
            <a:ext cx="1971420" cy="540000"/>
            <a:chOff x="4356848" y="1326629"/>
            <a:chExt cx="2976065" cy="540000"/>
          </a:xfrm>
          <a:solidFill>
            <a:srgbClr val="FFA83F"/>
          </a:solidFill>
        </p:grpSpPr>
        <p:sp>
          <p:nvSpPr>
            <p:cNvPr id="7" name="Flowchart: Off-page Connector 30">
              <a:extLst>
                <a:ext uri="{FF2B5EF4-FFF2-40B4-BE49-F238E27FC236}">
                  <a16:creationId xmlns:a16="http://schemas.microsoft.com/office/drawing/2014/main" id="{1B5D21C4-9FA5-18E7-05DE-5A8A8BBCCFC3}"/>
                </a:ext>
              </a:extLst>
            </p:cNvPr>
            <p:cNvSpPr/>
            <p:nvPr/>
          </p:nvSpPr>
          <p:spPr>
            <a:xfrm rot="16200000" flipV="1">
              <a:off x="5499465" y="184012"/>
              <a:ext cx="540000" cy="2825233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8000"/>
                <a:gd name="connsiteX1" fmla="*/ 10000 w 10000"/>
                <a:gd name="connsiteY1" fmla="*/ 0 h 8000"/>
                <a:gd name="connsiteX2" fmla="*/ 10000 w 10000"/>
                <a:gd name="connsiteY2" fmla="*/ 8000 h 8000"/>
                <a:gd name="connsiteX3" fmla="*/ 5126 w 10000"/>
                <a:gd name="connsiteY3" fmla="*/ 5920 h 8000"/>
                <a:gd name="connsiteX4" fmla="*/ 0 w 10000"/>
                <a:gd name="connsiteY4" fmla="*/ 8000 h 8000"/>
                <a:gd name="connsiteX5" fmla="*/ 0 w 10000"/>
                <a:gd name="connsiteY5" fmla="*/ 0 h 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8000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126" y="5920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ABD154-9178-B958-7187-5527CE889A84}"/>
                </a:ext>
              </a:extLst>
            </p:cNvPr>
            <p:cNvSpPr txBox="1"/>
            <p:nvPr/>
          </p:nvSpPr>
          <p:spPr>
            <a:xfrm>
              <a:off x="5231089" y="1418207"/>
              <a:ext cx="21018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o-RO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Features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25C366-C5C7-27D7-3D38-4B238FFC7E35}"/>
              </a:ext>
            </a:extLst>
          </p:cNvPr>
          <p:cNvGrpSpPr/>
          <p:nvPr/>
        </p:nvGrpSpPr>
        <p:grpSpPr>
          <a:xfrm>
            <a:off x="4752985" y="4210979"/>
            <a:ext cx="3419773" cy="540000"/>
            <a:chOff x="5086245" y="2690924"/>
            <a:chExt cx="2397869" cy="540000"/>
          </a:xfrm>
        </p:grpSpPr>
        <p:sp>
          <p:nvSpPr>
            <p:cNvPr id="15" name="Flowchart: Off-page Connector 30">
              <a:extLst>
                <a:ext uri="{FF2B5EF4-FFF2-40B4-BE49-F238E27FC236}">
                  <a16:creationId xmlns:a16="http://schemas.microsoft.com/office/drawing/2014/main" id="{CECCB802-B9BE-959E-EBDA-3231857D2169}"/>
                </a:ext>
              </a:extLst>
            </p:cNvPr>
            <p:cNvSpPr/>
            <p:nvPr/>
          </p:nvSpPr>
          <p:spPr>
            <a:xfrm rot="16200000" flipV="1">
              <a:off x="5857022" y="1920147"/>
              <a:ext cx="540000" cy="2081554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8000"/>
                <a:gd name="connsiteX1" fmla="*/ 10000 w 10000"/>
                <a:gd name="connsiteY1" fmla="*/ 0 h 8000"/>
                <a:gd name="connsiteX2" fmla="*/ 10000 w 10000"/>
                <a:gd name="connsiteY2" fmla="*/ 8000 h 8000"/>
                <a:gd name="connsiteX3" fmla="*/ 5126 w 10000"/>
                <a:gd name="connsiteY3" fmla="*/ 5920 h 8000"/>
                <a:gd name="connsiteX4" fmla="*/ 0 w 10000"/>
                <a:gd name="connsiteY4" fmla="*/ 8000 h 8000"/>
                <a:gd name="connsiteX5" fmla="*/ 0 w 10000"/>
                <a:gd name="connsiteY5" fmla="*/ 0 h 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8000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126" y="5920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7A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88BBC1-51CF-8DE0-6D27-87F598E121E2}"/>
                </a:ext>
              </a:extLst>
            </p:cNvPr>
            <p:cNvSpPr txBox="1"/>
            <p:nvPr/>
          </p:nvSpPr>
          <p:spPr>
            <a:xfrm>
              <a:off x="5613792" y="2760868"/>
              <a:ext cx="18703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o-RO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Unique Elements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407C666-94C0-908C-ED1C-9DF207DE720F}"/>
              </a:ext>
            </a:extLst>
          </p:cNvPr>
          <p:cNvSpPr txBox="1"/>
          <p:nvPr/>
        </p:nvSpPr>
        <p:spPr>
          <a:xfrm>
            <a:off x="4392279" y="117284"/>
            <a:ext cx="1861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Contents</a:t>
            </a:r>
            <a:endParaRPr lang="ro-RO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</p:txBody>
      </p:sp>
      <p:pic>
        <p:nvPicPr>
          <p:cNvPr id="10" name="Picture 9" descr="A cartoon character walking on a graph&#10;&#10;AI-generated content may be incorrect.">
            <a:extLst>
              <a:ext uri="{FF2B5EF4-FFF2-40B4-BE49-F238E27FC236}">
                <a16:creationId xmlns:a16="http://schemas.microsoft.com/office/drawing/2014/main" id="{7EE12C6E-FCF0-4F1D-45B1-2D2EADBB0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469" b="95508" l="8691" r="93262">
                        <a14:foregroundMark x1="45508" y1="5469" x2="40137" y2="12207"/>
                        <a14:foregroundMark x1="40137" y1="12207" x2="40527" y2="9082"/>
                        <a14:foregroundMark x1="35156" y1="4590" x2="47559" y2="5566"/>
                        <a14:foregroundMark x1="47559" y1="5566" x2="48145" y2="6641"/>
                        <a14:foregroundMark x1="91211" y1="33203" x2="89355" y2="39355"/>
                        <a14:foregroundMark x1="14258" y1="84668" x2="33008" y2="83887"/>
                        <a14:foregroundMark x1="33008" y1="83887" x2="25977" y2="87109"/>
                        <a14:foregroundMark x1="41309" y1="68457" x2="57031" y2="70020"/>
                        <a14:foregroundMark x1="57031" y1="70020" x2="55469" y2="86523"/>
                        <a14:foregroundMark x1="55469" y1="86523" x2="64160" y2="84668"/>
                        <a14:foregroundMark x1="64160" y1="84668" x2="61523" y2="69043"/>
                        <a14:foregroundMark x1="61523" y1="69043" x2="50781" y2="75879"/>
                        <a14:foregroundMark x1="50781" y1="75879" x2="52344" y2="88379"/>
                        <a14:foregroundMark x1="52344" y1="88379" x2="60059" y2="90430"/>
                        <a14:foregroundMark x1="60645" y1="89258" x2="60059" y2="87598"/>
                        <a14:foregroundMark x1="77539" y1="55566" x2="92188" y2="66895"/>
                        <a14:foregroundMark x1="92188" y1="66895" x2="90723" y2="90430"/>
                        <a14:foregroundMark x1="90723" y1="90430" x2="82715" y2="74023"/>
                        <a14:foregroundMark x1="82715" y1="74023" x2="84668" y2="62012"/>
                        <a14:foregroundMark x1="84668" y1="62012" x2="87793" y2="79199"/>
                        <a14:foregroundMark x1="87793" y1="79199" x2="83496" y2="59180"/>
                        <a14:foregroundMark x1="83496" y1="59180" x2="74414" y2="79688"/>
                        <a14:foregroundMark x1="74414" y1="79688" x2="76465" y2="91406"/>
                        <a14:foregroundMark x1="76465" y1="91406" x2="86719" y2="84863"/>
                        <a14:foregroundMark x1="86719" y1="84863" x2="81738" y2="70410"/>
                        <a14:foregroundMark x1="81738" y1="70410" x2="84668" y2="64746"/>
                        <a14:foregroundMark x1="90820" y1="55957" x2="90820" y2="87891"/>
                        <a14:foregroundMark x1="90820" y1="87891" x2="81742" y2="94068"/>
                        <a14:foregroundMark x1="82021" y1="94093" x2="93262" y2="90039"/>
                        <a14:foregroundMark x1="93262" y1="90039" x2="92676" y2="54102"/>
                        <a14:foregroundMark x1="85533" y1="95489" x2="88379" y2="95605"/>
                        <a14:foregroundMark x1="9082" y1="83887" x2="8691" y2="92285"/>
                        <a14:foregroundMark x1="27148" y1="80762" x2="28809" y2="80762"/>
                        <a14:foregroundMark x1="28613" y1="80859" x2="30664" y2="81055"/>
                        <a14:backgroundMark x1="76855" y1="95996" x2="80566" y2="96191"/>
                        <a14:backgroundMark x1="76367" y1="95410" x2="85059" y2="961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3" y="2169235"/>
            <a:ext cx="4226128" cy="42261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0F5F60C-FA0E-DC3E-2728-0B22F33C997E}"/>
              </a:ext>
            </a:extLst>
          </p:cNvPr>
          <p:cNvGrpSpPr/>
          <p:nvPr/>
        </p:nvGrpSpPr>
        <p:grpSpPr>
          <a:xfrm>
            <a:off x="8640597" y="5116883"/>
            <a:ext cx="1962092" cy="540000"/>
            <a:chOff x="7945836" y="3382103"/>
            <a:chExt cx="2722164" cy="540000"/>
          </a:xfrm>
        </p:grpSpPr>
        <p:sp>
          <p:nvSpPr>
            <p:cNvPr id="18" name="Flowchart: Off-page Connector 30">
              <a:extLst>
                <a:ext uri="{FF2B5EF4-FFF2-40B4-BE49-F238E27FC236}">
                  <a16:creationId xmlns:a16="http://schemas.microsoft.com/office/drawing/2014/main" id="{0DA406B9-9570-6F41-A76E-91795E317141}"/>
                </a:ext>
              </a:extLst>
            </p:cNvPr>
            <p:cNvSpPr/>
            <p:nvPr/>
          </p:nvSpPr>
          <p:spPr>
            <a:xfrm rot="16200000">
              <a:off x="9036920" y="2291022"/>
              <a:ext cx="540000" cy="2722161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8000"/>
                <a:gd name="connsiteX1" fmla="*/ 10000 w 10000"/>
                <a:gd name="connsiteY1" fmla="*/ 0 h 8000"/>
                <a:gd name="connsiteX2" fmla="*/ 10000 w 10000"/>
                <a:gd name="connsiteY2" fmla="*/ 8000 h 8000"/>
                <a:gd name="connsiteX3" fmla="*/ 5126 w 10000"/>
                <a:gd name="connsiteY3" fmla="*/ 5920 h 8000"/>
                <a:gd name="connsiteX4" fmla="*/ 0 w 10000"/>
                <a:gd name="connsiteY4" fmla="*/ 8000 h 8000"/>
                <a:gd name="connsiteX5" fmla="*/ 0 w 10000"/>
                <a:gd name="connsiteY5" fmla="*/ 0 h 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8000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126" y="5920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6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FFE9A2-D666-3C49-6E60-6C58C627EB23}"/>
                </a:ext>
              </a:extLst>
            </p:cNvPr>
            <p:cNvSpPr txBox="1"/>
            <p:nvPr/>
          </p:nvSpPr>
          <p:spPr>
            <a:xfrm>
              <a:off x="7945836" y="3448344"/>
              <a:ext cx="212095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Conclusion</a:t>
              </a:r>
              <a:endParaRPr lang="ro-RO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84E55-806A-5DFB-A083-5B34646F108D}"/>
              </a:ext>
            </a:extLst>
          </p:cNvPr>
          <p:cNvGrpSpPr/>
          <p:nvPr/>
        </p:nvGrpSpPr>
        <p:grpSpPr>
          <a:xfrm>
            <a:off x="8601380" y="1615504"/>
            <a:ext cx="3135316" cy="540000"/>
            <a:chOff x="7916282" y="709564"/>
            <a:chExt cx="2362842" cy="540000"/>
          </a:xfrm>
        </p:grpSpPr>
        <p:sp>
          <p:nvSpPr>
            <p:cNvPr id="21" name="Flowchart: Off-page Connector 30">
              <a:extLst>
                <a:ext uri="{FF2B5EF4-FFF2-40B4-BE49-F238E27FC236}">
                  <a16:creationId xmlns:a16="http://schemas.microsoft.com/office/drawing/2014/main" id="{18D779EE-BA52-ED21-933B-2D78A8FED4D0}"/>
                </a:ext>
              </a:extLst>
            </p:cNvPr>
            <p:cNvSpPr/>
            <p:nvPr/>
          </p:nvSpPr>
          <p:spPr>
            <a:xfrm rot="16200000">
              <a:off x="8842481" y="-187080"/>
              <a:ext cx="540000" cy="2333287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8000"/>
                <a:gd name="connsiteX1" fmla="*/ 10000 w 10000"/>
                <a:gd name="connsiteY1" fmla="*/ 0 h 8000"/>
                <a:gd name="connsiteX2" fmla="*/ 10000 w 10000"/>
                <a:gd name="connsiteY2" fmla="*/ 8000 h 8000"/>
                <a:gd name="connsiteX3" fmla="*/ 5126 w 10000"/>
                <a:gd name="connsiteY3" fmla="*/ 5920 h 8000"/>
                <a:gd name="connsiteX4" fmla="*/ 0 w 10000"/>
                <a:gd name="connsiteY4" fmla="*/ 8000 h 8000"/>
                <a:gd name="connsiteX5" fmla="*/ 0 w 10000"/>
                <a:gd name="connsiteY5" fmla="*/ 0 h 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8000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126" y="5920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CFB787C-CFE5-15EE-95A3-E0EF0D5BEF31}"/>
                </a:ext>
              </a:extLst>
            </p:cNvPr>
            <p:cNvSpPr txBox="1"/>
            <p:nvPr/>
          </p:nvSpPr>
          <p:spPr>
            <a:xfrm>
              <a:off x="7916282" y="779508"/>
              <a:ext cx="20521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Technologies Used</a:t>
              </a:r>
              <a:endParaRPr lang="ro-RO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4494AF5-5AC2-EA5B-2425-6BF63D3557D1}"/>
              </a:ext>
            </a:extLst>
          </p:cNvPr>
          <p:cNvGrpSpPr/>
          <p:nvPr/>
        </p:nvGrpSpPr>
        <p:grpSpPr>
          <a:xfrm>
            <a:off x="8644662" y="3360754"/>
            <a:ext cx="2970939" cy="850224"/>
            <a:chOff x="7945836" y="1963123"/>
            <a:chExt cx="2255786" cy="540000"/>
          </a:xfrm>
        </p:grpSpPr>
        <p:sp>
          <p:nvSpPr>
            <p:cNvPr id="24" name="Flowchart: Off-page Connector 30">
              <a:extLst>
                <a:ext uri="{FF2B5EF4-FFF2-40B4-BE49-F238E27FC236}">
                  <a16:creationId xmlns:a16="http://schemas.microsoft.com/office/drawing/2014/main" id="{6FEB7966-C027-3358-DD53-95EA646F7B55}"/>
                </a:ext>
              </a:extLst>
            </p:cNvPr>
            <p:cNvSpPr/>
            <p:nvPr/>
          </p:nvSpPr>
          <p:spPr>
            <a:xfrm rot="16200000">
              <a:off x="8803731" y="1105231"/>
              <a:ext cx="540000" cy="2255783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8000 h 10000"/>
                <a:gd name="connsiteX3" fmla="*/ 5000 w 10000"/>
                <a:gd name="connsiteY3" fmla="*/ 10000 h 10000"/>
                <a:gd name="connsiteX4" fmla="*/ 0 w 10000"/>
                <a:gd name="connsiteY4" fmla="*/ 8000 h 10000"/>
                <a:gd name="connsiteX5" fmla="*/ 0 w 10000"/>
                <a:gd name="connsiteY5" fmla="*/ 0 h 10000"/>
                <a:gd name="connsiteX0" fmla="*/ 0 w 10000"/>
                <a:gd name="connsiteY0" fmla="*/ 0 h 8000"/>
                <a:gd name="connsiteX1" fmla="*/ 10000 w 10000"/>
                <a:gd name="connsiteY1" fmla="*/ 0 h 8000"/>
                <a:gd name="connsiteX2" fmla="*/ 10000 w 10000"/>
                <a:gd name="connsiteY2" fmla="*/ 8000 h 8000"/>
                <a:gd name="connsiteX3" fmla="*/ 5126 w 10000"/>
                <a:gd name="connsiteY3" fmla="*/ 5920 h 8000"/>
                <a:gd name="connsiteX4" fmla="*/ 0 w 10000"/>
                <a:gd name="connsiteY4" fmla="*/ 8000 h 8000"/>
                <a:gd name="connsiteX5" fmla="*/ 0 w 10000"/>
                <a:gd name="connsiteY5" fmla="*/ 0 h 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8000">
                  <a:moveTo>
                    <a:pt x="0" y="0"/>
                  </a:moveTo>
                  <a:lnTo>
                    <a:pt x="10000" y="0"/>
                  </a:lnTo>
                  <a:lnTo>
                    <a:pt x="10000" y="8000"/>
                  </a:lnTo>
                  <a:lnTo>
                    <a:pt x="5126" y="5920"/>
                  </a:lnTo>
                  <a:lnTo>
                    <a:pt x="0" y="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7DF262A-DC67-585B-FF9A-8D806893C971}"/>
                </a:ext>
              </a:extLst>
            </p:cNvPr>
            <p:cNvSpPr txBox="1"/>
            <p:nvPr/>
          </p:nvSpPr>
          <p:spPr>
            <a:xfrm>
              <a:off x="7945836" y="1999006"/>
              <a:ext cx="1784414" cy="4495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o-RO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Comparison with </a:t>
              </a:r>
              <a:endPara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  <a:p>
              <a:r>
                <a:rPr lang="ro-RO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Other Platforms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97ABB2-662A-5E7D-8506-63AF93479ED6}"/>
              </a:ext>
            </a:extLst>
          </p:cNvPr>
          <p:cNvCxnSpPr>
            <a:cxnSpLocks/>
          </p:cNvCxnSpPr>
          <p:nvPr/>
        </p:nvCxnSpPr>
        <p:spPr>
          <a:xfrm>
            <a:off x="8172757" y="290690"/>
            <a:ext cx="0" cy="6274778"/>
          </a:xfrm>
          <a:prstGeom prst="straightConnector1">
            <a:avLst/>
          </a:prstGeom>
          <a:ln w="76200">
            <a:solidFill>
              <a:srgbClr val="251D1D"/>
            </a:solidFill>
            <a:miter lim="800000"/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539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5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75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75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75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750"/>
                            </p:stCondLst>
                            <p:childTnLst>
                              <p:par>
                                <p:cTn id="3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1E95E770-5E9F-961E-97CF-1E27898227D0}"/>
              </a:ext>
            </a:extLst>
          </p:cNvPr>
          <p:cNvGrpSpPr/>
          <p:nvPr/>
        </p:nvGrpSpPr>
        <p:grpSpPr>
          <a:xfrm>
            <a:off x="3920051" y="-4638788"/>
            <a:ext cx="2030860" cy="2156402"/>
            <a:chOff x="5409400" y="1086137"/>
            <a:chExt cx="2030860" cy="2156402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FF78006C-2460-614D-556D-32F3836920F6}"/>
                </a:ext>
              </a:extLst>
            </p:cNvPr>
            <p:cNvSpPr/>
            <p:nvPr/>
          </p:nvSpPr>
          <p:spPr>
            <a:xfrm rot="5400000">
              <a:off x="5348059" y="1150339"/>
              <a:ext cx="2153541" cy="2030860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190500" dist="127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7498F05-21FC-191A-029B-D14393E57153}"/>
                </a:ext>
              </a:extLst>
            </p:cNvPr>
            <p:cNvSpPr txBox="1"/>
            <p:nvPr/>
          </p:nvSpPr>
          <p:spPr>
            <a:xfrm>
              <a:off x="5634800" y="1086137"/>
              <a:ext cx="17022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Firebase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175726-8457-326D-74D7-CECFA75FDD8C}"/>
              </a:ext>
            </a:extLst>
          </p:cNvPr>
          <p:cNvGrpSpPr/>
          <p:nvPr/>
        </p:nvGrpSpPr>
        <p:grpSpPr>
          <a:xfrm>
            <a:off x="7329380" y="-4044235"/>
            <a:ext cx="2378952" cy="2153541"/>
            <a:chOff x="6321659" y="1629986"/>
            <a:chExt cx="2378952" cy="2153541"/>
          </a:xfrm>
        </p:grpSpPr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034E8BB7-9EA2-3A7E-EDE7-CE382CEC0625}"/>
                </a:ext>
              </a:extLst>
            </p:cNvPr>
            <p:cNvSpPr/>
            <p:nvPr/>
          </p:nvSpPr>
          <p:spPr>
            <a:xfrm rot="8097979">
              <a:off x="6260318" y="1691327"/>
              <a:ext cx="2153541" cy="2030860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90500" dist="1270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C7AEAFC-0BB3-AF17-4887-50133E73BC56}"/>
                </a:ext>
              </a:extLst>
            </p:cNvPr>
            <p:cNvSpPr txBox="1"/>
            <p:nvPr/>
          </p:nvSpPr>
          <p:spPr>
            <a:xfrm>
              <a:off x="7270940" y="2369798"/>
              <a:ext cx="142967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Typescript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FB05821-0BED-A9AE-2752-7C21121CC134}"/>
              </a:ext>
            </a:extLst>
          </p:cNvPr>
          <p:cNvGrpSpPr/>
          <p:nvPr/>
        </p:nvGrpSpPr>
        <p:grpSpPr>
          <a:xfrm>
            <a:off x="12662049" y="-2153541"/>
            <a:ext cx="2103314" cy="2153541"/>
            <a:chOff x="6603140" y="2706757"/>
            <a:chExt cx="2103314" cy="2153541"/>
          </a:xfrm>
        </p:grpSpPr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7C582116-AC01-FD93-3495-AEEEACC8C845}"/>
                </a:ext>
              </a:extLst>
            </p:cNvPr>
            <p:cNvSpPr/>
            <p:nvPr/>
          </p:nvSpPr>
          <p:spPr>
            <a:xfrm rot="10800000">
              <a:off x="6603140" y="2706757"/>
              <a:ext cx="2030860" cy="2153541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0056A0"/>
            </a:solidFill>
            <a:ln>
              <a:noFill/>
            </a:ln>
            <a:effectLst>
              <a:outerShdw blurRad="190500" dist="1270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D811599-C9CF-BFC9-72C4-D185ACF92776}"/>
                </a:ext>
              </a:extLst>
            </p:cNvPr>
            <p:cNvSpPr txBox="1"/>
            <p:nvPr/>
          </p:nvSpPr>
          <p:spPr>
            <a:xfrm>
              <a:off x="7004166" y="4337078"/>
              <a:ext cx="17022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Tailwind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F5E3F8E-C3C2-39D9-080C-8BFEBD2DE365}"/>
              </a:ext>
            </a:extLst>
          </p:cNvPr>
          <p:cNvGrpSpPr/>
          <p:nvPr/>
        </p:nvGrpSpPr>
        <p:grpSpPr>
          <a:xfrm>
            <a:off x="13914219" y="3765351"/>
            <a:ext cx="2797801" cy="2030860"/>
            <a:chOff x="5902810" y="3845088"/>
            <a:chExt cx="2797801" cy="2030860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1B98E92-5654-1A86-1CD4-F6DF43AC92AB}"/>
                </a:ext>
              </a:extLst>
            </p:cNvPr>
            <p:cNvSpPr/>
            <p:nvPr/>
          </p:nvSpPr>
          <p:spPr>
            <a:xfrm rot="13603579">
              <a:off x="5964151" y="3783747"/>
              <a:ext cx="2030860" cy="2153541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C46700"/>
            </a:solidFill>
            <a:ln>
              <a:noFill/>
            </a:ln>
            <a:effectLst>
              <a:outerShdw blurRad="190500" dist="1270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A0E1B28-80A5-C90D-5864-1F34B10D7B60}"/>
                </a:ext>
              </a:extLst>
            </p:cNvPr>
            <p:cNvSpPr txBox="1"/>
            <p:nvPr/>
          </p:nvSpPr>
          <p:spPr>
            <a:xfrm>
              <a:off x="6669751" y="4814293"/>
              <a:ext cx="20308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ReactJS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03E27D6-BD0B-3353-2522-FBC11B52CB48}"/>
              </a:ext>
            </a:extLst>
          </p:cNvPr>
          <p:cNvSpPr txBox="1"/>
          <p:nvPr/>
        </p:nvSpPr>
        <p:spPr>
          <a:xfrm>
            <a:off x="960471" y="-1357445"/>
            <a:ext cx="102710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Programming languages used to implement the application</a:t>
            </a:r>
            <a:endParaRPr lang="ro-RO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E2778D19-D7E3-93F2-EAD7-A0B3B3D540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16" r="16873"/>
          <a:stretch/>
        </p:blipFill>
        <p:spPr bwMode="auto">
          <a:xfrm>
            <a:off x="17631" y="-3304423"/>
            <a:ext cx="1091934" cy="16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DA51631E-61BD-AB4F-2292-27B9BAB11A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4" t="7296" r="20086" b="9279"/>
          <a:stretch/>
        </p:blipFill>
        <p:spPr bwMode="auto">
          <a:xfrm>
            <a:off x="-3679250" y="7283314"/>
            <a:ext cx="1137663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434990A-9E4E-ABE5-29E8-9A0B6C417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6048" y="9336580"/>
            <a:ext cx="1175675" cy="13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4925818-758A-6A43-6326-F04653F1909D}"/>
              </a:ext>
            </a:extLst>
          </p:cNvPr>
          <p:cNvGrpSpPr/>
          <p:nvPr/>
        </p:nvGrpSpPr>
        <p:grpSpPr>
          <a:xfrm>
            <a:off x="8502378" y="7623826"/>
            <a:ext cx="2038514" cy="2235974"/>
            <a:chOff x="4885625" y="4083457"/>
            <a:chExt cx="2038514" cy="2235974"/>
          </a:xfrm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7C34359A-25FF-8096-EF3F-76988D3578F1}"/>
                </a:ext>
              </a:extLst>
            </p:cNvPr>
            <p:cNvSpPr/>
            <p:nvPr/>
          </p:nvSpPr>
          <p:spPr>
            <a:xfrm rot="16200000">
              <a:off x="4824284" y="4144798"/>
              <a:ext cx="2153541" cy="2030860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FF8C00"/>
            </a:solidFill>
            <a:ln>
              <a:noFill/>
            </a:ln>
            <a:effectLst>
              <a:outerShdw blurRad="190500" dist="127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0D1F26-493F-4783-B1EE-9427605DC807}"/>
                </a:ext>
              </a:extLst>
            </p:cNvPr>
            <p:cNvSpPr txBox="1"/>
            <p:nvPr/>
          </p:nvSpPr>
          <p:spPr>
            <a:xfrm>
              <a:off x="4893279" y="5796211"/>
              <a:ext cx="20308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7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JavaScript</a:t>
              </a:r>
              <a:r>
                <a:rPr lang="ro-RO" sz="27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endPara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355540-7A9D-6412-852A-BF8457EC74E5}"/>
              </a:ext>
            </a:extLst>
          </p:cNvPr>
          <p:cNvGrpSpPr/>
          <p:nvPr/>
        </p:nvGrpSpPr>
        <p:grpSpPr>
          <a:xfrm>
            <a:off x="3566824" y="7673826"/>
            <a:ext cx="2030860" cy="2153541"/>
            <a:chOff x="3870195" y="3468152"/>
            <a:chExt cx="2030860" cy="2153541"/>
          </a:xfrm>
        </p:grpSpPr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5DC6CFD8-2E2A-A6CE-E0A0-D843B02A259B}"/>
                </a:ext>
              </a:extLst>
            </p:cNvPr>
            <p:cNvSpPr/>
            <p:nvPr/>
          </p:nvSpPr>
          <p:spPr>
            <a:xfrm rot="18763789">
              <a:off x="3808854" y="3529493"/>
              <a:ext cx="2153541" cy="2030860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FFA83F"/>
            </a:solidFill>
            <a:ln>
              <a:noFill/>
            </a:ln>
            <a:effectLst>
              <a:outerShdw blurRad="190500" dist="127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16B443-9347-62F3-43E5-BCABBCD7C631}"/>
                </a:ext>
              </a:extLst>
            </p:cNvPr>
            <p:cNvSpPr txBox="1"/>
            <p:nvPr/>
          </p:nvSpPr>
          <p:spPr>
            <a:xfrm>
              <a:off x="3905280" y="4412844"/>
              <a:ext cx="8926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CSS</a:t>
              </a:r>
              <a:r>
                <a:rPr lang="ro-RO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61FE1E-1A8A-BBDB-D67C-40419A059721}"/>
              </a:ext>
            </a:extLst>
          </p:cNvPr>
          <p:cNvGrpSpPr/>
          <p:nvPr/>
        </p:nvGrpSpPr>
        <p:grpSpPr>
          <a:xfrm>
            <a:off x="-2211722" y="7623827"/>
            <a:ext cx="2030860" cy="2153541"/>
            <a:chOff x="3558000" y="2391381"/>
            <a:chExt cx="2030860" cy="2153541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4D2A1599-ABA3-3299-8606-BE1DB1ECBFF6}"/>
                </a:ext>
              </a:extLst>
            </p:cNvPr>
            <p:cNvSpPr/>
            <p:nvPr/>
          </p:nvSpPr>
          <p:spPr>
            <a:xfrm>
              <a:off x="3558000" y="2391381"/>
              <a:ext cx="2030860" cy="2153541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FFCF37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sz="2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B80E2D-2ADE-12D0-8DDD-9B0D2CE18C3C}"/>
                </a:ext>
              </a:extLst>
            </p:cNvPr>
            <p:cNvSpPr txBox="1"/>
            <p:nvPr/>
          </p:nvSpPr>
          <p:spPr>
            <a:xfrm>
              <a:off x="3654684" y="2705038"/>
              <a:ext cx="11485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o-RO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HTML 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pic>
        <p:nvPicPr>
          <p:cNvPr id="28" name="Picture 8">
            <a:extLst>
              <a:ext uri="{FF2B5EF4-FFF2-40B4-BE49-F238E27FC236}">
                <a16:creationId xmlns:a16="http://schemas.microsoft.com/office/drawing/2014/main" id="{E1A92028-9286-ED83-76C6-B0AD6CCC29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8" r="14895"/>
          <a:stretch/>
        </p:blipFill>
        <p:spPr bwMode="auto">
          <a:xfrm>
            <a:off x="14955304" y="8967368"/>
            <a:ext cx="1482571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0B633F00-6E52-8705-4D2D-D99AF465C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0264" y="6545661"/>
            <a:ext cx="1380771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>
            <a:extLst>
              <a:ext uri="{FF2B5EF4-FFF2-40B4-BE49-F238E27FC236}">
                <a16:creationId xmlns:a16="http://schemas.microsoft.com/office/drawing/2014/main" id="{232AD323-376E-2A4F-8427-A7688D842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3538"/>
          <a:stretch/>
        </p:blipFill>
        <p:spPr bwMode="auto">
          <a:xfrm>
            <a:off x="14681160" y="268131"/>
            <a:ext cx="1395562" cy="149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4">
            <a:extLst>
              <a:ext uri="{FF2B5EF4-FFF2-40B4-BE49-F238E27FC236}">
                <a16:creationId xmlns:a16="http://schemas.microsoft.com/office/drawing/2014/main" id="{746C6E23-F539-3788-30C0-24631927C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0" y="-2983491"/>
            <a:ext cx="1145262" cy="157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99F76282-183D-DD2E-3236-35646D52DBF0}"/>
              </a:ext>
            </a:extLst>
          </p:cNvPr>
          <p:cNvGrpSpPr/>
          <p:nvPr/>
        </p:nvGrpSpPr>
        <p:grpSpPr>
          <a:xfrm>
            <a:off x="5415174" y="3170211"/>
            <a:ext cx="1300914" cy="1008208"/>
            <a:chOff x="5415174" y="3170211"/>
            <a:chExt cx="1300914" cy="1008208"/>
          </a:xfrm>
        </p:grpSpPr>
        <p:sp>
          <p:nvSpPr>
            <p:cNvPr id="44" name="Free-form: Shape 43">
              <a:extLst>
                <a:ext uri="{FF2B5EF4-FFF2-40B4-BE49-F238E27FC236}">
                  <a16:creationId xmlns:a16="http://schemas.microsoft.com/office/drawing/2014/main" id="{B3690E00-9AD3-ECD1-3E78-6A81EE581CA3}"/>
                </a:ext>
              </a:extLst>
            </p:cNvPr>
            <p:cNvSpPr/>
            <p:nvPr/>
          </p:nvSpPr>
          <p:spPr>
            <a:xfrm>
              <a:off x="5644460" y="3545850"/>
              <a:ext cx="230912" cy="370760"/>
            </a:xfrm>
            <a:custGeom>
              <a:avLst/>
              <a:gdLst>
                <a:gd name="connsiteX0" fmla="*/ 45532 w 230912"/>
                <a:gd name="connsiteY0" fmla="*/ 370761 h 370760"/>
                <a:gd name="connsiteX1" fmla="*/ 0 w 230912"/>
                <a:gd name="connsiteY1" fmla="*/ 325229 h 370760"/>
                <a:gd name="connsiteX2" fmla="*/ 139848 w 230912"/>
                <a:gd name="connsiteY2" fmla="*/ 185380 h 370760"/>
                <a:gd name="connsiteX3" fmla="*/ 0 w 230912"/>
                <a:gd name="connsiteY3" fmla="*/ 45532 h 370760"/>
                <a:gd name="connsiteX4" fmla="*/ 45532 w 230912"/>
                <a:gd name="connsiteY4" fmla="*/ 0 h 370760"/>
                <a:gd name="connsiteX5" fmla="*/ 230912 w 230912"/>
                <a:gd name="connsiteY5" fmla="*/ 185380 h 37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912" h="370760">
                  <a:moveTo>
                    <a:pt x="45532" y="370761"/>
                  </a:moveTo>
                  <a:lnTo>
                    <a:pt x="0" y="325229"/>
                  </a:lnTo>
                  <a:lnTo>
                    <a:pt x="139848" y="185380"/>
                  </a:lnTo>
                  <a:lnTo>
                    <a:pt x="0" y="45532"/>
                  </a:lnTo>
                  <a:lnTo>
                    <a:pt x="45532" y="0"/>
                  </a:lnTo>
                  <a:lnTo>
                    <a:pt x="230912" y="185380"/>
                  </a:lnTo>
                  <a:close/>
                </a:path>
              </a:pathLst>
            </a:custGeom>
            <a:solidFill>
              <a:srgbClr val="FF8C00"/>
            </a:solidFill>
            <a:ln w="16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45" name="Free-form: Shape 44">
              <a:extLst>
                <a:ext uri="{FF2B5EF4-FFF2-40B4-BE49-F238E27FC236}">
                  <a16:creationId xmlns:a16="http://schemas.microsoft.com/office/drawing/2014/main" id="{7BA38932-3C14-0D12-63DE-100301FE2B32}"/>
                </a:ext>
              </a:extLst>
            </p:cNvPr>
            <p:cNvSpPr/>
            <p:nvPr/>
          </p:nvSpPr>
          <p:spPr>
            <a:xfrm>
              <a:off x="5415174" y="3170211"/>
              <a:ext cx="1300914" cy="1008208"/>
            </a:xfrm>
            <a:custGeom>
              <a:avLst/>
              <a:gdLst>
                <a:gd name="connsiteX0" fmla="*/ 0 w 1300914"/>
                <a:gd name="connsiteY0" fmla="*/ 0 h 1008208"/>
                <a:gd name="connsiteX1" fmla="*/ 0 w 1300914"/>
                <a:gd name="connsiteY1" fmla="*/ 1008209 h 1008208"/>
                <a:gd name="connsiteX2" fmla="*/ 1300914 w 1300914"/>
                <a:gd name="connsiteY2" fmla="*/ 1008209 h 1008208"/>
                <a:gd name="connsiteX3" fmla="*/ 1300914 w 1300914"/>
                <a:gd name="connsiteY3" fmla="*/ 0 h 1008208"/>
                <a:gd name="connsiteX4" fmla="*/ 0 w 1300914"/>
                <a:gd name="connsiteY4" fmla="*/ 0 h 1008208"/>
                <a:gd name="connsiteX5" fmla="*/ 1122039 w 1300914"/>
                <a:gd name="connsiteY5" fmla="*/ 97569 h 1008208"/>
                <a:gd name="connsiteX6" fmla="*/ 1154561 w 1300914"/>
                <a:gd name="connsiteY6" fmla="*/ 130091 h 1008208"/>
                <a:gd name="connsiteX7" fmla="*/ 1122039 w 1300914"/>
                <a:gd name="connsiteY7" fmla="*/ 162614 h 1008208"/>
                <a:gd name="connsiteX8" fmla="*/ 1089516 w 1300914"/>
                <a:gd name="connsiteY8" fmla="*/ 130091 h 1008208"/>
                <a:gd name="connsiteX9" fmla="*/ 1122039 w 1300914"/>
                <a:gd name="connsiteY9" fmla="*/ 97569 h 1008208"/>
                <a:gd name="connsiteX10" fmla="*/ 1008209 w 1300914"/>
                <a:gd name="connsiteY10" fmla="*/ 97569 h 1008208"/>
                <a:gd name="connsiteX11" fmla="*/ 1040731 w 1300914"/>
                <a:gd name="connsiteY11" fmla="*/ 130091 h 1008208"/>
                <a:gd name="connsiteX12" fmla="*/ 1008209 w 1300914"/>
                <a:gd name="connsiteY12" fmla="*/ 162614 h 1008208"/>
                <a:gd name="connsiteX13" fmla="*/ 975686 w 1300914"/>
                <a:gd name="connsiteY13" fmla="*/ 130091 h 1008208"/>
                <a:gd name="connsiteX14" fmla="*/ 1008209 w 1300914"/>
                <a:gd name="connsiteY14" fmla="*/ 97569 h 1008208"/>
                <a:gd name="connsiteX15" fmla="*/ 894379 w 1300914"/>
                <a:gd name="connsiteY15" fmla="*/ 97569 h 1008208"/>
                <a:gd name="connsiteX16" fmla="*/ 926901 w 1300914"/>
                <a:gd name="connsiteY16" fmla="*/ 130091 h 1008208"/>
                <a:gd name="connsiteX17" fmla="*/ 894379 w 1300914"/>
                <a:gd name="connsiteY17" fmla="*/ 162614 h 1008208"/>
                <a:gd name="connsiteX18" fmla="*/ 861856 w 1300914"/>
                <a:gd name="connsiteY18" fmla="*/ 130091 h 1008208"/>
                <a:gd name="connsiteX19" fmla="*/ 894379 w 1300914"/>
                <a:gd name="connsiteY19" fmla="*/ 97569 h 1008208"/>
                <a:gd name="connsiteX20" fmla="*/ 1203346 w 1300914"/>
                <a:gd name="connsiteY20" fmla="*/ 910640 h 1008208"/>
                <a:gd name="connsiteX21" fmla="*/ 97569 w 1300914"/>
                <a:gd name="connsiteY21" fmla="*/ 910640 h 1008208"/>
                <a:gd name="connsiteX22" fmla="*/ 97569 w 1300914"/>
                <a:gd name="connsiteY22" fmla="*/ 260183 h 1008208"/>
                <a:gd name="connsiteX23" fmla="*/ 1203346 w 1300914"/>
                <a:gd name="connsiteY23" fmla="*/ 260183 h 1008208"/>
                <a:gd name="connsiteX24" fmla="*/ 1203346 w 1300914"/>
                <a:gd name="connsiteY24" fmla="*/ 910640 h 100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00914" h="1008208">
                  <a:moveTo>
                    <a:pt x="0" y="0"/>
                  </a:moveTo>
                  <a:lnTo>
                    <a:pt x="0" y="1008209"/>
                  </a:lnTo>
                  <a:lnTo>
                    <a:pt x="1300914" y="1008209"/>
                  </a:lnTo>
                  <a:lnTo>
                    <a:pt x="1300914" y="0"/>
                  </a:lnTo>
                  <a:lnTo>
                    <a:pt x="0" y="0"/>
                  </a:lnTo>
                  <a:close/>
                  <a:moveTo>
                    <a:pt x="1122039" y="97569"/>
                  </a:moveTo>
                  <a:cubicBezTo>
                    <a:pt x="1139926" y="97569"/>
                    <a:pt x="1154561" y="112204"/>
                    <a:pt x="1154561" y="130091"/>
                  </a:cubicBezTo>
                  <a:cubicBezTo>
                    <a:pt x="1154561" y="147979"/>
                    <a:pt x="1139926" y="162614"/>
                    <a:pt x="1122039" y="162614"/>
                  </a:cubicBezTo>
                  <a:cubicBezTo>
                    <a:pt x="1104151" y="162614"/>
                    <a:pt x="1089516" y="147979"/>
                    <a:pt x="1089516" y="130091"/>
                  </a:cubicBezTo>
                  <a:cubicBezTo>
                    <a:pt x="1089516" y="112204"/>
                    <a:pt x="1104151" y="97569"/>
                    <a:pt x="1122039" y="97569"/>
                  </a:cubicBezTo>
                  <a:close/>
                  <a:moveTo>
                    <a:pt x="1008209" y="97569"/>
                  </a:moveTo>
                  <a:cubicBezTo>
                    <a:pt x="1026096" y="97569"/>
                    <a:pt x="1040731" y="112204"/>
                    <a:pt x="1040731" y="130091"/>
                  </a:cubicBezTo>
                  <a:cubicBezTo>
                    <a:pt x="1040731" y="147979"/>
                    <a:pt x="1026096" y="162614"/>
                    <a:pt x="1008209" y="162614"/>
                  </a:cubicBezTo>
                  <a:cubicBezTo>
                    <a:pt x="990321" y="162614"/>
                    <a:pt x="975686" y="147979"/>
                    <a:pt x="975686" y="130091"/>
                  </a:cubicBezTo>
                  <a:cubicBezTo>
                    <a:pt x="975686" y="112204"/>
                    <a:pt x="990321" y="97569"/>
                    <a:pt x="1008209" y="97569"/>
                  </a:cubicBezTo>
                  <a:close/>
                  <a:moveTo>
                    <a:pt x="894379" y="97569"/>
                  </a:moveTo>
                  <a:cubicBezTo>
                    <a:pt x="912266" y="97569"/>
                    <a:pt x="926901" y="112204"/>
                    <a:pt x="926901" y="130091"/>
                  </a:cubicBezTo>
                  <a:cubicBezTo>
                    <a:pt x="926901" y="147979"/>
                    <a:pt x="912266" y="162614"/>
                    <a:pt x="894379" y="162614"/>
                  </a:cubicBezTo>
                  <a:cubicBezTo>
                    <a:pt x="876491" y="162614"/>
                    <a:pt x="861856" y="147979"/>
                    <a:pt x="861856" y="130091"/>
                  </a:cubicBezTo>
                  <a:cubicBezTo>
                    <a:pt x="861856" y="112204"/>
                    <a:pt x="876491" y="97569"/>
                    <a:pt x="894379" y="97569"/>
                  </a:cubicBezTo>
                  <a:close/>
                  <a:moveTo>
                    <a:pt x="1203346" y="910640"/>
                  </a:moveTo>
                  <a:lnTo>
                    <a:pt x="97569" y="910640"/>
                  </a:lnTo>
                  <a:lnTo>
                    <a:pt x="97569" y="260183"/>
                  </a:lnTo>
                  <a:lnTo>
                    <a:pt x="1203346" y="260183"/>
                  </a:lnTo>
                  <a:lnTo>
                    <a:pt x="1203346" y="910640"/>
                  </a:lnTo>
                  <a:close/>
                </a:path>
              </a:pathLst>
            </a:custGeom>
            <a:solidFill>
              <a:srgbClr val="0056A0"/>
            </a:solidFill>
            <a:ln w="16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46" name="Free-form: Shape 45">
              <a:extLst>
                <a:ext uri="{FF2B5EF4-FFF2-40B4-BE49-F238E27FC236}">
                  <a16:creationId xmlns:a16="http://schemas.microsoft.com/office/drawing/2014/main" id="{77A018F7-4055-CB6C-EE44-46907E9FDABC}"/>
                </a:ext>
              </a:extLst>
            </p:cNvPr>
            <p:cNvSpPr/>
            <p:nvPr/>
          </p:nvSpPr>
          <p:spPr>
            <a:xfrm>
              <a:off x="5903017" y="3853191"/>
              <a:ext cx="260182" cy="65045"/>
            </a:xfrm>
            <a:custGeom>
              <a:avLst/>
              <a:gdLst>
                <a:gd name="connsiteX0" fmla="*/ 0 w 260182"/>
                <a:gd name="connsiteY0" fmla="*/ 0 h 65045"/>
                <a:gd name="connsiteX1" fmla="*/ 260183 w 260182"/>
                <a:gd name="connsiteY1" fmla="*/ 0 h 65045"/>
                <a:gd name="connsiteX2" fmla="*/ 260183 w 260182"/>
                <a:gd name="connsiteY2" fmla="*/ 65046 h 65045"/>
                <a:gd name="connsiteX3" fmla="*/ 0 w 260182"/>
                <a:gd name="connsiteY3" fmla="*/ 65046 h 6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0182" h="65045">
                  <a:moveTo>
                    <a:pt x="0" y="0"/>
                  </a:moveTo>
                  <a:lnTo>
                    <a:pt x="260183" y="0"/>
                  </a:lnTo>
                  <a:lnTo>
                    <a:pt x="260183" y="65046"/>
                  </a:lnTo>
                  <a:lnTo>
                    <a:pt x="0" y="6504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6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</p:grpSp>
    </p:spTree>
    <p:extLst>
      <p:ext uri="{BB962C8B-B14F-4D97-AF65-F5344CB8AC3E}">
        <p14:creationId xmlns:p14="http://schemas.microsoft.com/office/powerpoint/2010/main" val="1824931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0">
        <p14:pan/>
      </p:transition>
    </mc:Choice>
    <mc:Fallback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06C4D-8885-7C2D-770C-DC849BC4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D34DC068-8A3D-7AE1-EAA2-DC0DCCBF864D}"/>
              </a:ext>
            </a:extLst>
          </p:cNvPr>
          <p:cNvGrpSpPr/>
          <p:nvPr/>
        </p:nvGrpSpPr>
        <p:grpSpPr>
          <a:xfrm>
            <a:off x="5409400" y="1086137"/>
            <a:ext cx="2030860" cy="2156402"/>
            <a:chOff x="5409400" y="1086137"/>
            <a:chExt cx="2030860" cy="2156402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E9FA15FA-32FB-85CB-62DF-EACB2819CF7E}"/>
                </a:ext>
              </a:extLst>
            </p:cNvPr>
            <p:cNvSpPr/>
            <p:nvPr/>
          </p:nvSpPr>
          <p:spPr>
            <a:xfrm rot="5400000">
              <a:off x="5348059" y="1150339"/>
              <a:ext cx="2153541" cy="2030860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190500" dist="127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8F3852F-5CC6-3F11-6C3F-C48F09B293F9}"/>
                </a:ext>
              </a:extLst>
            </p:cNvPr>
            <p:cNvSpPr txBox="1"/>
            <p:nvPr/>
          </p:nvSpPr>
          <p:spPr>
            <a:xfrm>
              <a:off x="5634800" y="1086137"/>
              <a:ext cx="17022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Firebase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4A4A364-F7F0-CAE5-7E9D-4341E9BAB9A5}"/>
              </a:ext>
            </a:extLst>
          </p:cNvPr>
          <p:cNvGrpSpPr/>
          <p:nvPr/>
        </p:nvGrpSpPr>
        <p:grpSpPr>
          <a:xfrm>
            <a:off x="6321659" y="1629986"/>
            <a:ext cx="2378952" cy="2153541"/>
            <a:chOff x="6321659" y="1629986"/>
            <a:chExt cx="2378952" cy="2153541"/>
          </a:xfrm>
        </p:grpSpPr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A5073935-231A-79E3-D0EF-BD481313A62B}"/>
                </a:ext>
              </a:extLst>
            </p:cNvPr>
            <p:cNvSpPr/>
            <p:nvPr/>
          </p:nvSpPr>
          <p:spPr>
            <a:xfrm rot="8097979">
              <a:off x="6260318" y="1691327"/>
              <a:ext cx="2153541" cy="2030860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90500" dist="1270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4D3BC5-78E1-38EF-AE51-AFD936B9ECDF}"/>
                </a:ext>
              </a:extLst>
            </p:cNvPr>
            <p:cNvSpPr txBox="1"/>
            <p:nvPr/>
          </p:nvSpPr>
          <p:spPr>
            <a:xfrm>
              <a:off x="7270940" y="2369798"/>
              <a:ext cx="142967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Typescript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463A6E-8C10-BB79-3AF4-6440B84B3A9A}"/>
              </a:ext>
            </a:extLst>
          </p:cNvPr>
          <p:cNvGrpSpPr/>
          <p:nvPr/>
        </p:nvGrpSpPr>
        <p:grpSpPr>
          <a:xfrm>
            <a:off x="6603140" y="2706757"/>
            <a:ext cx="2103314" cy="2153541"/>
            <a:chOff x="6603140" y="2706757"/>
            <a:chExt cx="2103314" cy="2153541"/>
          </a:xfrm>
        </p:grpSpPr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E24ED02E-9CFD-B7C6-6AA0-0F5D68F464CC}"/>
                </a:ext>
              </a:extLst>
            </p:cNvPr>
            <p:cNvSpPr/>
            <p:nvPr/>
          </p:nvSpPr>
          <p:spPr>
            <a:xfrm rot="10800000">
              <a:off x="6603140" y="2706757"/>
              <a:ext cx="2030860" cy="2153541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0056A0"/>
            </a:solidFill>
            <a:ln>
              <a:noFill/>
            </a:ln>
            <a:effectLst>
              <a:outerShdw blurRad="190500" dist="1270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D20535B-61A4-C504-E359-18AB7EEAED28}"/>
                </a:ext>
              </a:extLst>
            </p:cNvPr>
            <p:cNvSpPr txBox="1"/>
            <p:nvPr/>
          </p:nvSpPr>
          <p:spPr>
            <a:xfrm>
              <a:off x="7004166" y="4337078"/>
              <a:ext cx="17022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Tailwind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85BCF8F-1F90-7B94-78D2-60E8A1705CAA}"/>
              </a:ext>
            </a:extLst>
          </p:cNvPr>
          <p:cNvGrpSpPr/>
          <p:nvPr/>
        </p:nvGrpSpPr>
        <p:grpSpPr>
          <a:xfrm>
            <a:off x="5902810" y="3845088"/>
            <a:ext cx="2797801" cy="2030860"/>
            <a:chOff x="5902810" y="3845088"/>
            <a:chExt cx="2797801" cy="2030860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11C1DCC-8AD0-7A50-90EC-E2A565CCA631}"/>
                </a:ext>
              </a:extLst>
            </p:cNvPr>
            <p:cNvSpPr/>
            <p:nvPr/>
          </p:nvSpPr>
          <p:spPr>
            <a:xfrm rot="13603579">
              <a:off x="5964151" y="3783747"/>
              <a:ext cx="2030860" cy="2153541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C46700"/>
            </a:solidFill>
            <a:ln>
              <a:noFill/>
            </a:ln>
            <a:effectLst>
              <a:outerShdw blurRad="190500" dist="1270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450C556-6D6E-F061-2917-E4CE94D8B430}"/>
                </a:ext>
              </a:extLst>
            </p:cNvPr>
            <p:cNvSpPr txBox="1"/>
            <p:nvPr/>
          </p:nvSpPr>
          <p:spPr>
            <a:xfrm>
              <a:off x="6669751" y="4814293"/>
              <a:ext cx="20308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ReactJS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C4A4300-2725-1D13-B1E9-D2E0A1E00C38}"/>
              </a:ext>
            </a:extLst>
          </p:cNvPr>
          <p:cNvSpPr txBox="1"/>
          <p:nvPr/>
        </p:nvSpPr>
        <p:spPr>
          <a:xfrm>
            <a:off x="960471" y="245220"/>
            <a:ext cx="102710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rPr>
              <a:t>Programming languages used to implement the application</a:t>
            </a:r>
            <a:endParaRPr lang="ro-RO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 Black" panose="02000503040000020004" pitchFamily="2" charset="0"/>
              <a:cs typeface="Aharoni" panose="02010803020104030203" pitchFamily="2" charset="-79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0D93F833-20D7-7044-054D-C9CDBA9DCA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16" r="16873"/>
          <a:stretch/>
        </p:blipFill>
        <p:spPr bwMode="auto">
          <a:xfrm>
            <a:off x="2374368" y="1512099"/>
            <a:ext cx="1091934" cy="162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59E5290E-CB42-4104-864F-AAF999A56F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4" t="7296" r="20086" b="9279"/>
          <a:stretch/>
        </p:blipFill>
        <p:spPr bwMode="auto">
          <a:xfrm>
            <a:off x="2341069" y="3316064"/>
            <a:ext cx="1137663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3ABD189-10B7-E9D6-7C5A-018C8662A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368" y="5358890"/>
            <a:ext cx="1175675" cy="13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C80A9194-4F22-C13E-C645-A4CEC1EC478A}"/>
              </a:ext>
            </a:extLst>
          </p:cNvPr>
          <p:cNvGrpSpPr/>
          <p:nvPr/>
        </p:nvGrpSpPr>
        <p:grpSpPr>
          <a:xfrm>
            <a:off x="4885625" y="4083457"/>
            <a:ext cx="2038514" cy="2235974"/>
            <a:chOff x="4885625" y="4083457"/>
            <a:chExt cx="2038514" cy="2235974"/>
          </a:xfrm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8020464F-5437-A5C0-A5E2-943D011CC473}"/>
                </a:ext>
              </a:extLst>
            </p:cNvPr>
            <p:cNvSpPr/>
            <p:nvPr/>
          </p:nvSpPr>
          <p:spPr>
            <a:xfrm rot="16200000">
              <a:off x="4824284" y="4144798"/>
              <a:ext cx="2153541" cy="2030860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FF8C00"/>
            </a:solidFill>
            <a:ln>
              <a:noFill/>
            </a:ln>
            <a:effectLst>
              <a:outerShdw blurRad="190500" dist="127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0E45835-1336-525E-8DD3-DF466979ED4B}"/>
                </a:ext>
              </a:extLst>
            </p:cNvPr>
            <p:cNvSpPr txBox="1"/>
            <p:nvPr/>
          </p:nvSpPr>
          <p:spPr>
            <a:xfrm>
              <a:off x="4893279" y="5796211"/>
              <a:ext cx="203086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7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JavaScript</a:t>
              </a:r>
              <a:r>
                <a:rPr lang="ro-RO" sz="27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endParaRPr lang="en-US" sz="2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FC52EE-B47D-4469-5AA6-C7ADDACDF3FC}"/>
              </a:ext>
            </a:extLst>
          </p:cNvPr>
          <p:cNvGrpSpPr/>
          <p:nvPr/>
        </p:nvGrpSpPr>
        <p:grpSpPr>
          <a:xfrm>
            <a:off x="3870195" y="3468152"/>
            <a:ext cx="2030860" cy="2153541"/>
            <a:chOff x="3870195" y="3468152"/>
            <a:chExt cx="2030860" cy="2153541"/>
          </a:xfrm>
        </p:grpSpPr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BE3D3FB6-2079-A7D0-5CD5-24B48BCB27B5}"/>
                </a:ext>
              </a:extLst>
            </p:cNvPr>
            <p:cNvSpPr/>
            <p:nvPr/>
          </p:nvSpPr>
          <p:spPr>
            <a:xfrm rot="18763789">
              <a:off x="3808854" y="3529493"/>
              <a:ext cx="2153541" cy="2030860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FFA83F"/>
            </a:solidFill>
            <a:ln>
              <a:noFill/>
            </a:ln>
            <a:effectLst>
              <a:outerShdw blurRad="190500" dist="1270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5FB0C1D-E00D-1565-4BF1-C978C2C1A572}"/>
                </a:ext>
              </a:extLst>
            </p:cNvPr>
            <p:cNvSpPr txBox="1"/>
            <p:nvPr/>
          </p:nvSpPr>
          <p:spPr>
            <a:xfrm>
              <a:off x="3905280" y="4412844"/>
              <a:ext cx="89266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CSS</a:t>
              </a:r>
              <a:r>
                <a:rPr lang="ro-RO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 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7A1BF3-582B-6489-A353-EA4026AE1ABF}"/>
              </a:ext>
            </a:extLst>
          </p:cNvPr>
          <p:cNvGrpSpPr/>
          <p:nvPr/>
        </p:nvGrpSpPr>
        <p:grpSpPr>
          <a:xfrm>
            <a:off x="3558000" y="2391381"/>
            <a:ext cx="2030860" cy="2153541"/>
            <a:chOff x="3558000" y="2391381"/>
            <a:chExt cx="2030860" cy="2153541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238839D3-68C9-9B85-72D7-BCC8A55DB086}"/>
                </a:ext>
              </a:extLst>
            </p:cNvPr>
            <p:cNvSpPr/>
            <p:nvPr/>
          </p:nvSpPr>
          <p:spPr>
            <a:xfrm>
              <a:off x="3558000" y="2391381"/>
              <a:ext cx="2030860" cy="2153541"/>
            </a:xfrm>
            <a:custGeom>
              <a:avLst/>
              <a:gdLst>
                <a:gd name="connsiteX0" fmla="*/ 180004 w 1080000"/>
                <a:gd name="connsiteY0" fmla="*/ 0 h 1080000"/>
                <a:gd name="connsiteX1" fmla="*/ 1080000 w 1080000"/>
                <a:gd name="connsiteY1" fmla="*/ 0 h 1080000"/>
                <a:gd name="connsiteX2" fmla="*/ 1080000 w 1080000"/>
                <a:gd name="connsiteY2" fmla="*/ 22070 h 1080000"/>
                <a:gd name="connsiteX3" fmla="*/ 20261 w 1080000"/>
                <a:gd name="connsiteY3" fmla="*/ 1080000 h 1080000"/>
                <a:gd name="connsiteX4" fmla="*/ 0 w 1080000"/>
                <a:gd name="connsiteY4" fmla="*/ 1080000 h 1080000"/>
                <a:gd name="connsiteX5" fmla="*/ 0 w 1080000"/>
                <a:gd name="connsiteY5" fmla="*/ 180004 h 1080000"/>
                <a:gd name="connsiteX6" fmla="*/ 180004 w 1080000"/>
                <a:gd name="connsiteY6" fmla="*/ 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0000" h="1080000">
                  <a:moveTo>
                    <a:pt x="180004" y="0"/>
                  </a:moveTo>
                  <a:lnTo>
                    <a:pt x="1080000" y="0"/>
                  </a:lnTo>
                  <a:lnTo>
                    <a:pt x="1080000" y="22070"/>
                  </a:lnTo>
                  <a:lnTo>
                    <a:pt x="20261" y="1080000"/>
                  </a:lnTo>
                  <a:lnTo>
                    <a:pt x="0" y="1080000"/>
                  </a:lnTo>
                  <a:lnTo>
                    <a:pt x="0" y="180004"/>
                  </a:lnTo>
                  <a:cubicBezTo>
                    <a:pt x="0" y="80591"/>
                    <a:pt x="80591" y="0"/>
                    <a:pt x="180004" y="0"/>
                  </a:cubicBezTo>
                  <a:close/>
                </a:path>
              </a:pathLst>
            </a:custGeom>
            <a:solidFill>
              <a:srgbClr val="FFCF37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o-RO" sz="2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2B0771C-B38A-4C6A-F9B7-218E273E9E6A}"/>
                </a:ext>
              </a:extLst>
            </p:cNvPr>
            <p:cNvSpPr txBox="1"/>
            <p:nvPr/>
          </p:nvSpPr>
          <p:spPr>
            <a:xfrm>
              <a:off x="3654684" y="2705038"/>
              <a:ext cx="114859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o-RO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HTML </a:t>
              </a:r>
              <a:endPara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pic>
        <p:nvPicPr>
          <p:cNvPr id="28" name="Picture 8">
            <a:extLst>
              <a:ext uri="{FF2B5EF4-FFF2-40B4-BE49-F238E27FC236}">
                <a16:creationId xmlns:a16="http://schemas.microsoft.com/office/drawing/2014/main" id="{BA0AB729-82E4-A1B8-EA60-F01445C6B6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8" r="14895"/>
          <a:stretch/>
        </p:blipFill>
        <p:spPr bwMode="auto">
          <a:xfrm>
            <a:off x="9521635" y="5266398"/>
            <a:ext cx="1482571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>
            <a:extLst>
              <a:ext uri="{FF2B5EF4-FFF2-40B4-BE49-F238E27FC236}">
                <a16:creationId xmlns:a16="http://schemas.microsoft.com/office/drawing/2014/main" id="{BF1087E1-3F0E-9675-84BF-49123C591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534" y="4232896"/>
            <a:ext cx="1380771" cy="8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>
            <a:extLst>
              <a:ext uri="{FF2B5EF4-FFF2-40B4-BE49-F238E27FC236}">
                <a16:creationId xmlns:a16="http://schemas.microsoft.com/office/drawing/2014/main" id="{ADD84218-7C02-0867-F89C-602DDAD170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3538"/>
          <a:stretch/>
        </p:blipFill>
        <p:spPr bwMode="auto">
          <a:xfrm>
            <a:off x="9572534" y="2482136"/>
            <a:ext cx="1395562" cy="149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4">
            <a:extLst>
              <a:ext uri="{FF2B5EF4-FFF2-40B4-BE49-F238E27FC236}">
                <a16:creationId xmlns:a16="http://schemas.microsoft.com/office/drawing/2014/main" id="{DA7059CF-2728-7EC1-A8DD-2DB82CA9E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0288" y="775794"/>
            <a:ext cx="1145262" cy="157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BFF14F1E-49A8-BDD2-45AB-76C64B2AD22E}"/>
              </a:ext>
            </a:extLst>
          </p:cNvPr>
          <p:cNvGrpSpPr/>
          <p:nvPr/>
        </p:nvGrpSpPr>
        <p:grpSpPr>
          <a:xfrm>
            <a:off x="5415174" y="3170211"/>
            <a:ext cx="1300914" cy="1008208"/>
            <a:chOff x="5415174" y="3170211"/>
            <a:chExt cx="1300914" cy="1008208"/>
          </a:xfrm>
        </p:grpSpPr>
        <p:sp>
          <p:nvSpPr>
            <p:cNvPr id="44" name="Free-form: Shape 43">
              <a:extLst>
                <a:ext uri="{FF2B5EF4-FFF2-40B4-BE49-F238E27FC236}">
                  <a16:creationId xmlns:a16="http://schemas.microsoft.com/office/drawing/2014/main" id="{63AEB0C6-519A-E2FD-E646-44C106D3AFDC}"/>
                </a:ext>
              </a:extLst>
            </p:cNvPr>
            <p:cNvSpPr/>
            <p:nvPr/>
          </p:nvSpPr>
          <p:spPr>
            <a:xfrm>
              <a:off x="5644460" y="3545850"/>
              <a:ext cx="230912" cy="370760"/>
            </a:xfrm>
            <a:custGeom>
              <a:avLst/>
              <a:gdLst>
                <a:gd name="connsiteX0" fmla="*/ 45532 w 230912"/>
                <a:gd name="connsiteY0" fmla="*/ 370761 h 370760"/>
                <a:gd name="connsiteX1" fmla="*/ 0 w 230912"/>
                <a:gd name="connsiteY1" fmla="*/ 325229 h 370760"/>
                <a:gd name="connsiteX2" fmla="*/ 139848 w 230912"/>
                <a:gd name="connsiteY2" fmla="*/ 185380 h 370760"/>
                <a:gd name="connsiteX3" fmla="*/ 0 w 230912"/>
                <a:gd name="connsiteY3" fmla="*/ 45532 h 370760"/>
                <a:gd name="connsiteX4" fmla="*/ 45532 w 230912"/>
                <a:gd name="connsiteY4" fmla="*/ 0 h 370760"/>
                <a:gd name="connsiteX5" fmla="*/ 230912 w 230912"/>
                <a:gd name="connsiteY5" fmla="*/ 185380 h 37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0912" h="370760">
                  <a:moveTo>
                    <a:pt x="45532" y="370761"/>
                  </a:moveTo>
                  <a:lnTo>
                    <a:pt x="0" y="325229"/>
                  </a:lnTo>
                  <a:lnTo>
                    <a:pt x="139848" y="185380"/>
                  </a:lnTo>
                  <a:lnTo>
                    <a:pt x="0" y="45532"/>
                  </a:lnTo>
                  <a:lnTo>
                    <a:pt x="45532" y="0"/>
                  </a:lnTo>
                  <a:lnTo>
                    <a:pt x="230912" y="185380"/>
                  </a:lnTo>
                  <a:close/>
                </a:path>
              </a:pathLst>
            </a:custGeom>
            <a:solidFill>
              <a:srgbClr val="FF8C00"/>
            </a:solidFill>
            <a:ln w="16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45" name="Free-form: Shape 44">
              <a:extLst>
                <a:ext uri="{FF2B5EF4-FFF2-40B4-BE49-F238E27FC236}">
                  <a16:creationId xmlns:a16="http://schemas.microsoft.com/office/drawing/2014/main" id="{09817E9F-D0A4-5BC8-03CA-E5D85BA68E0F}"/>
                </a:ext>
              </a:extLst>
            </p:cNvPr>
            <p:cNvSpPr/>
            <p:nvPr/>
          </p:nvSpPr>
          <p:spPr>
            <a:xfrm>
              <a:off x="5415174" y="3170211"/>
              <a:ext cx="1300914" cy="1008208"/>
            </a:xfrm>
            <a:custGeom>
              <a:avLst/>
              <a:gdLst>
                <a:gd name="connsiteX0" fmla="*/ 0 w 1300914"/>
                <a:gd name="connsiteY0" fmla="*/ 0 h 1008208"/>
                <a:gd name="connsiteX1" fmla="*/ 0 w 1300914"/>
                <a:gd name="connsiteY1" fmla="*/ 1008209 h 1008208"/>
                <a:gd name="connsiteX2" fmla="*/ 1300914 w 1300914"/>
                <a:gd name="connsiteY2" fmla="*/ 1008209 h 1008208"/>
                <a:gd name="connsiteX3" fmla="*/ 1300914 w 1300914"/>
                <a:gd name="connsiteY3" fmla="*/ 0 h 1008208"/>
                <a:gd name="connsiteX4" fmla="*/ 0 w 1300914"/>
                <a:gd name="connsiteY4" fmla="*/ 0 h 1008208"/>
                <a:gd name="connsiteX5" fmla="*/ 1122039 w 1300914"/>
                <a:gd name="connsiteY5" fmla="*/ 97569 h 1008208"/>
                <a:gd name="connsiteX6" fmla="*/ 1154561 w 1300914"/>
                <a:gd name="connsiteY6" fmla="*/ 130091 h 1008208"/>
                <a:gd name="connsiteX7" fmla="*/ 1122039 w 1300914"/>
                <a:gd name="connsiteY7" fmla="*/ 162614 h 1008208"/>
                <a:gd name="connsiteX8" fmla="*/ 1089516 w 1300914"/>
                <a:gd name="connsiteY8" fmla="*/ 130091 h 1008208"/>
                <a:gd name="connsiteX9" fmla="*/ 1122039 w 1300914"/>
                <a:gd name="connsiteY9" fmla="*/ 97569 h 1008208"/>
                <a:gd name="connsiteX10" fmla="*/ 1008209 w 1300914"/>
                <a:gd name="connsiteY10" fmla="*/ 97569 h 1008208"/>
                <a:gd name="connsiteX11" fmla="*/ 1040731 w 1300914"/>
                <a:gd name="connsiteY11" fmla="*/ 130091 h 1008208"/>
                <a:gd name="connsiteX12" fmla="*/ 1008209 w 1300914"/>
                <a:gd name="connsiteY12" fmla="*/ 162614 h 1008208"/>
                <a:gd name="connsiteX13" fmla="*/ 975686 w 1300914"/>
                <a:gd name="connsiteY13" fmla="*/ 130091 h 1008208"/>
                <a:gd name="connsiteX14" fmla="*/ 1008209 w 1300914"/>
                <a:gd name="connsiteY14" fmla="*/ 97569 h 1008208"/>
                <a:gd name="connsiteX15" fmla="*/ 894379 w 1300914"/>
                <a:gd name="connsiteY15" fmla="*/ 97569 h 1008208"/>
                <a:gd name="connsiteX16" fmla="*/ 926901 w 1300914"/>
                <a:gd name="connsiteY16" fmla="*/ 130091 h 1008208"/>
                <a:gd name="connsiteX17" fmla="*/ 894379 w 1300914"/>
                <a:gd name="connsiteY17" fmla="*/ 162614 h 1008208"/>
                <a:gd name="connsiteX18" fmla="*/ 861856 w 1300914"/>
                <a:gd name="connsiteY18" fmla="*/ 130091 h 1008208"/>
                <a:gd name="connsiteX19" fmla="*/ 894379 w 1300914"/>
                <a:gd name="connsiteY19" fmla="*/ 97569 h 1008208"/>
                <a:gd name="connsiteX20" fmla="*/ 1203346 w 1300914"/>
                <a:gd name="connsiteY20" fmla="*/ 910640 h 1008208"/>
                <a:gd name="connsiteX21" fmla="*/ 97569 w 1300914"/>
                <a:gd name="connsiteY21" fmla="*/ 910640 h 1008208"/>
                <a:gd name="connsiteX22" fmla="*/ 97569 w 1300914"/>
                <a:gd name="connsiteY22" fmla="*/ 260183 h 1008208"/>
                <a:gd name="connsiteX23" fmla="*/ 1203346 w 1300914"/>
                <a:gd name="connsiteY23" fmla="*/ 260183 h 1008208"/>
                <a:gd name="connsiteX24" fmla="*/ 1203346 w 1300914"/>
                <a:gd name="connsiteY24" fmla="*/ 910640 h 100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00914" h="1008208">
                  <a:moveTo>
                    <a:pt x="0" y="0"/>
                  </a:moveTo>
                  <a:lnTo>
                    <a:pt x="0" y="1008209"/>
                  </a:lnTo>
                  <a:lnTo>
                    <a:pt x="1300914" y="1008209"/>
                  </a:lnTo>
                  <a:lnTo>
                    <a:pt x="1300914" y="0"/>
                  </a:lnTo>
                  <a:lnTo>
                    <a:pt x="0" y="0"/>
                  </a:lnTo>
                  <a:close/>
                  <a:moveTo>
                    <a:pt x="1122039" y="97569"/>
                  </a:moveTo>
                  <a:cubicBezTo>
                    <a:pt x="1139926" y="97569"/>
                    <a:pt x="1154561" y="112204"/>
                    <a:pt x="1154561" y="130091"/>
                  </a:cubicBezTo>
                  <a:cubicBezTo>
                    <a:pt x="1154561" y="147979"/>
                    <a:pt x="1139926" y="162614"/>
                    <a:pt x="1122039" y="162614"/>
                  </a:cubicBezTo>
                  <a:cubicBezTo>
                    <a:pt x="1104151" y="162614"/>
                    <a:pt x="1089516" y="147979"/>
                    <a:pt x="1089516" y="130091"/>
                  </a:cubicBezTo>
                  <a:cubicBezTo>
                    <a:pt x="1089516" y="112204"/>
                    <a:pt x="1104151" y="97569"/>
                    <a:pt x="1122039" y="97569"/>
                  </a:cubicBezTo>
                  <a:close/>
                  <a:moveTo>
                    <a:pt x="1008209" y="97569"/>
                  </a:moveTo>
                  <a:cubicBezTo>
                    <a:pt x="1026096" y="97569"/>
                    <a:pt x="1040731" y="112204"/>
                    <a:pt x="1040731" y="130091"/>
                  </a:cubicBezTo>
                  <a:cubicBezTo>
                    <a:pt x="1040731" y="147979"/>
                    <a:pt x="1026096" y="162614"/>
                    <a:pt x="1008209" y="162614"/>
                  </a:cubicBezTo>
                  <a:cubicBezTo>
                    <a:pt x="990321" y="162614"/>
                    <a:pt x="975686" y="147979"/>
                    <a:pt x="975686" y="130091"/>
                  </a:cubicBezTo>
                  <a:cubicBezTo>
                    <a:pt x="975686" y="112204"/>
                    <a:pt x="990321" y="97569"/>
                    <a:pt x="1008209" y="97569"/>
                  </a:cubicBezTo>
                  <a:close/>
                  <a:moveTo>
                    <a:pt x="894379" y="97569"/>
                  </a:moveTo>
                  <a:cubicBezTo>
                    <a:pt x="912266" y="97569"/>
                    <a:pt x="926901" y="112204"/>
                    <a:pt x="926901" y="130091"/>
                  </a:cubicBezTo>
                  <a:cubicBezTo>
                    <a:pt x="926901" y="147979"/>
                    <a:pt x="912266" y="162614"/>
                    <a:pt x="894379" y="162614"/>
                  </a:cubicBezTo>
                  <a:cubicBezTo>
                    <a:pt x="876491" y="162614"/>
                    <a:pt x="861856" y="147979"/>
                    <a:pt x="861856" y="130091"/>
                  </a:cubicBezTo>
                  <a:cubicBezTo>
                    <a:pt x="861856" y="112204"/>
                    <a:pt x="876491" y="97569"/>
                    <a:pt x="894379" y="97569"/>
                  </a:cubicBezTo>
                  <a:close/>
                  <a:moveTo>
                    <a:pt x="1203346" y="910640"/>
                  </a:moveTo>
                  <a:lnTo>
                    <a:pt x="97569" y="910640"/>
                  </a:lnTo>
                  <a:lnTo>
                    <a:pt x="97569" y="260183"/>
                  </a:lnTo>
                  <a:lnTo>
                    <a:pt x="1203346" y="260183"/>
                  </a:lnTo>
                  <a:lnTo>
                    <a:pt x="1203346" y="910640"/>
                  </a:lnTo>
                  <a:close/>
                </a:path>
              </a:pathLst>
            </a:custGeom>
            <a:solidFill>
              <a:srgbClr val="0056A0"/>
            </a:solidFill>
            <a:ln w="16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46" name="Free-form: Shape 45">
              <a:extLst>
                <a:ext uri="{FF2B5EF4-FFF2-40B4-BE49-F238E27FC236}">
                  <a16:creationId xmlns:a16="http://schemas.microsoft.com/office/drawing/2014/main" id="{E6A16602-B62C-614E-2810-6532D8B6F0B7}"/>
                </a:ext>
              </a:extLst>
            </p:cNvPr>
            <p:cNvSpPr/>
            <p:nvPr/>
          </p:nvSpPr>
          <p:spPr>
            <a:xfrm>
              <a:off x="5903017" y="3853191"/>
              <a:ext cx="260182" cy="65045"/>
            </a:xfrm>
            <a:custGeom>
              <a:avLst/>
              <a:gdLst>
                <a:gd name="connsiteX0" fmla="*/ 0 w 260182"/>
                <a:gd name="connsiteY0" fmla="*/ 0 h 65045"/>
                <a:gd name="connsiteX1" fmla="*/ 260183 w 260182"/>
                <a:gd name="connsiteY1" fmla="*/ 0 h 65045"/>
                <a:gd name="connsiteX2" fmla="*/ 260183 w 260182"/>
                <a:gd name="connsiteY2" fmla="*/ 65046 h 65045"/>
                <a:gd name="connsiteX3" fmla="*/ 0 w 260182"/>
                <a:gd name="connsiteY3" fmla="*/ 65046 h 6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0182" h="65045">
                  <a:moveTo>
                    <a:pt x="0" y="0"/>
                  </a:moveTo>
                  <a:lnTo>
                    <a:pt x="260183" y="0"/>
                  </a:lnTo>
                  <a:lnTo>
                    <a:pt x="260183" y="65046"/>
                  </a:lnTo>
                  <a:lnTo>
                    <a:pt x="0" y="6504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61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</p:grpSp>
    </p:spTree>
    <p:extLst>
      <p:ext uri="{BB962C8B-B14F-4D97-AF65-F5344CB8AC3E}">
        <p14:creationId xmlns:p14="http://schemas.microsoft.com/office/powerpoint/2010/main" val="2470769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DA7596-F951-A4A4-E404-DC629AD0D7D6}"/>
              </a:ext>
            </a:extLst>
          </p:cNvPr>
          <p:cNvSpPr txBox="1"/>
          <p:nvPr/>
        </p:nvSpPr>
        <p:spPr>
          <a:xfrm>
            <a:off x="2259724" y="367126"/>
            <a:ext cx="7672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Comparison with other similar applications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62B7EB-E4CF-2A23-BE0C-6194D3E5ED06}"/>
              </a:ext>
            </a:extLst>
          </p:cNvPr>
          <p:cNvSpPr/>
          <p:nvPr/>
        </p:nvSpPr>
        <p:spPr>
          <a:xfrm>
            <a:off x="-4567547" y="1740669"/>
            <a:ext cx="3190009" cy="7377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C00">
                  <a:lumMod val="100000"/>
                </a:srgbClr>
              </a:gs>
              <a:gs pos="100000">
                <a:srgbClr val="0056A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2FB69F-CAA3-1D1E-5837-6E381723FB37}"/>
              </a:ext>
            </a:extLst>
          </p:cNvPr>
          <p:cNvSpPr txBox="1"/>
          <p:nvPr/>
        </p:nvSpPr>
        <p:spPr>
          <a:xfrm>
            <a:off x="-4253671" y="1890526"/>
            <a:ext cx="2562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stagiipebune.ro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AAAC9D-61C2-D771-1043-9922F42B3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3869" y="1019658"/>
            <a:ext cx="7388772" cy="3911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aphic 8" descr="Internet outline">
            <a:extLst>
              <a:ext uri="{FF2B5EF4-FFF2-40B4-BE49-F238E27FC236}">
                <a16:creationId xmlns:a16="http://schemas.microsoft.com/office/drawing/2014/main" id="{4082D845-06C4-5B1C-A3D6-E20A0BF3C6D8}"/>
              </a:ext>
            </a:extLst>
          </p:cNvPr>
          <p:cNvGrpSpPr/>
          <p:nvPr/>
        </p:nvGrpSpPr>
        <p:grpSpPr>
          <a:xfrm>
            <a:off x="505521" y="329936"/>
            <a:ext cx="1409755" cy="842658"/>
            <a:chOff x="505521" y="329936"/>
            <a:chExt cx="1409755" cy="842658"/>
          </a:xfrm>
          <a:solidFill>
            <a:srgbClr val="00206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252D57C4-E0C1-62E3-8283-69C9A0570089}"/>
                </a:ext>
              </a:extLst>
            </p:cNvPr>
            <p:cNvSpPr/>
            <p:nvPr/>
          </p:nvSpPr>
          <p:spPr>
            <a:xfrm>
              <a:off x="766020" y="406575"/>
              <a:ext cx="888756" cy="551767"/>
            </a:xfrm>
            <a:custGeom>
              <a:avLst/>
              <a:gdLst>
                <a:gd name="connsiteX0" fmla="*/ 888696 w 888756"/>
                <a:gd name="connsiteY0" fmla="*/ 551498 h 551767"/>
                <a:gd name="connsiteX1" fmla="*/ 888756 w 888756"/>
                <a:gd name="connsiteY1" fmla="*/ 0 h 551767"/>
                <a:gd name="connsiteX2" fmla="*/ 0 w 888756"/>
                <a:gd name="connsiteY2" fmla="*/ 0 h 551767"/>
                <a:gd name="connsiteX3" fmla="*/ 0 w 888756"/>
                <a:gd name="connsiteY3" fmla="*/ 551767 h 551767"/>
                <a:gd name="connsiteX4" fmla="*/ 30645 w 888756"/>
                <a:gd name="connsiteY4" fmla="*/ 30645 h 551767"/>
                <a:gd name="connsiteX5" fmla="*/ 858111 w 888756"/>
                <a:gd name="connsiteY5" fmla="*/ 30645 h 551767"/>
                <a:gd name="connsiteX6" fmla="*/ 858051 w 888756"/>
                <a:gd name="connsiteY6" fmla="*/ 520860 h 551767"/>
                <a:gd name="connsiteX7" fmla="*/ 30645 w 888756"/>
                <a:gd name="connsiteY7" fmla="*/ 521111 h 55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8756" h="551767">
                  <a:moveTo>
                    <a:pt x="888696" y="551498"/>
                  </a:moveTo>
                  <a:lnTo>
                    <a:pt x="888756" y="0"/>
                  </a:lnTo>
                  <a:lnTo>
                    <a:pt x="0" y="0"/>
                  </a:lnTo>
                  <a:lnTo>
                    <a:pt x="0" y="551767"/>
                  </a:lnTo>
                  <a:close/>
                  <a:moveTo>
                    <a:pt x="30645" y="30645"/>
                  </a:moveTo>
                  <a:lnTo>
                    <a:pt x="858111" y="30645"/>
                  </a:lnTo>
                  <a:lnTo>
                    <a:pt x="858051" y="520860"/>
                  </a:lnTo>
                  <a:lnTo>
                    <a:pt x="30645" y="521111"/>
                  </a:ln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6E81B827-F3C4-A987-8573-620B66ED5C3B}"/>
                </a:ext>
              </a:extLst>
            </p:cNvPr>
            <p:cNvSpPr/>
            <p:nvPr/>
          </p:nvSpPr>
          <p:spPr>
            <a:xfrm>
              <a:off x="689407" y="329936"/>
              <a:ext cx="1041982" cy="689722"/>
            </a:xfrm>
            <a:custGeom>
              <a:avLst/>
              <a:gdLst>
                <a:gd name="connsiteX0" fmla="*/ 30645 w 1041982"/>
                <a:gd name="connsiteY0" fmla="*/ 61290 h 689722"/>
                <a:gd name="connsiteX1" fmla="*/ 61290 w 1041982"/>
                <a:gd name="connsiteY1" fmla="*/ 30645 h 689722"/>
                <a:gd name="connsiteX2" fmla="*/ 980692 w 1041982"/>
                <a:gd name="connsiteY2" fmla="*/ 30645 h 689722"/>
                <a:gd name="connsiteX3" fmla="*/ 1011337 w 1041982"/>
                <a:gd name="connsiteY3" fmla="*/ 61290 h 689722"/>
                <a:gd name="connsiteX4" fmla="*/ 1011337 w 1041982"/>
                <a:gd name="connsiteY4" fmla="*/ 689723 h 689722"/>
                <a:gd name="connsiteX5" fmla="*/ 1041982 w 1041982"/>
                <a:gd name="connsiteY5" fmla="*/ 689723 h 689722"/>
                <a:gd name="connsiteX6" fmla="*/ 1041982 w 1041982"/>
                <a:gd name="connsiteY6" fmla="*/ 61290 h 689722"/>
                <a:gd name="connsiteX7" fmla="*/ 980692 w 1041982"/>
                <a:gd name="connsiteY7" fmla="*/ 0 h 689722"/>
                <a:gd name="connsiteX8" fmla="*/ 61290 w 1041982"/>
                <a:gd name="connsiteY8" fmla="*/ 0 h 689722"/>
                <a:gd name="connsiteX9" fmla="*/ 0 w 1041982"/>
                <a:gd name="connsiteY9" fmla="*/ 61290 h 689722"/>
                <a:gd name="connsiteX10" fmla="*/ 0 w 1041982"/>
                <a:gd name="connsiteY10" fmla="*/ 689723 h 689722"/>
                <a:gd name="connsiteX11" fmla="*/ 30645 w 1041982"/>
                <a:gd name="connsiteY11" fmla="*/ 689723 h 68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1982" h="689722">
                  <a:moveTo>
                    <a:pt x="30645" y="61290"/>
                  </a:moveTo>
                  <a:cubicBezTo>
                    <a:pt x="30665" y="44374"/>
                    <a:pt x="44374" y="30665"/>
                    <a:pt x="61290" y="30645"/>
                  </a:cubicBezTo>
                  <a:lnTo>
                    <a:pt x="980692" y="30645"/>
                  </a:lnTo>
                  <a:cubicBezTo>
                    <a:pt x="997608" y="30667"/>
                    <a:pt x="1011316" y="44374"/>
                    <a:pt x="1011337" y="61290"/>
                  </a:cubicBezTo>
                  <a:lnTo>
                    <a:pt x="1011337" y="689723"/>
                  </a:lnTo>
                  <a:lnTo>
                    <a:pt x="1041982" y="689723"/>
                  </a:lnTo>
                  <a:lnTo>
                    <a:pt x="1041982" y="61290"/>
                  </a:lnTo>
                  <a:cubicBezTo>
                    <a:pt x="1041947" y="27455"/>
                    <a:pt x="1014527" y="35"/>
                    <a:pt x="980692" y="0"/>
                  </a:cubicBezTo>
                  <a:lnTo>
                    <a:pt x="61290" y="0"/>
                  </a:lnTo>
                  <a:cubicBezTo>
                    <a:pt x="27455" y="35"/>
                    <a:pt x="35" y="27455"/>
                    <a:pt x="0" y="61290"/>
                  </a:cubicBezTo>
                  <a:lnTo>
                    <a:pt x="0" y="689723"/>
                  </a:lnTo>
                  <a:lnTo>
                    <a:pt x="30645" y="689723"/>
                  </a:ln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1EB8381C-05EC-21AE-CEF0-958986F8F71D}"/>
                </a:ext>
              </a:extLst>
            </p:cNvPr>
            <p:cNvSpPr/>
            <p:nvPr/>
          </p:nvSpPr>
          <p:spPr>
            <a:xfrm>
              <a:off x="505521" y="1065336"/>
              <a:ext cx="1409755" cy="107258"/>
            </a:xfrm>
            <a:custGeom>
              <a:avLst/>
              <a:gdLst>
                <a:gd name="connsiteX0" fmla="*/ 781498 w 1409755"/>
                <a:gd name="connsiteY0" fmla="*/ 0 h 107258"/>
                <a:gd name="connsiteX1" fmla="*/ 781498 w 1409755"/>
                <a:gd name="connsiteY1" fmla="*/ 30645 h 107258"/>
                <a:gd name="connsiteX2" fmla="*/ 628258 w 1409755"/>
                <a:gd name="connsiteY2" fmla="*/ 30645 h 107258"/>
                <a:gd name="connsiteX3" fmla="*/ 628258 w 1409755"/>
                <a:gd name="connsiteY3" fmla="*/ 0 h 107258"/>
                <a:gd name="connsiteX4" fmla="*/ 0 w 1409755"/>
                <a:gd name="connsiteY4" fmla="*/ 0 h 107258"/>
                <a:gd name="connsiteX5" fmla="*/ 0 w 1409755"/>
                <a:gd name="connsiteY5" fmla="*/ 30630 h 107258"/>
                <a:gd name="connsiteX6" fmla="*/ 76613 w 1409755"/>
                <a:gd name="connsiteY6" fmla="*/ 107258 h 107258"/>
                <a:gd name="connsiteX7" fmla="*/ 1333127 w 1409755"/>
                <a:gd name="connsiteY7" fmla="*/ 107258 h 107258"/>
                <a:gd name="connsiteX8" fmla="*/ 1409756 w 1409755"/>
                <a:gd name="connsiteY8" fmla="*/ 30630 h 107258"/>
                <a:gd name="connsiteX9" fmla="*/ 1409756 w 1409755"/>
                <a:gd name="connsiteY9" fmla="*/ 0 h 107258"/>
                <a:gd name="connsiteX10" fmla="*/ 1333127 w 1409755"/>
                <a:gd name="connsiteY10" fmla="*/ 76613 h 107258"/>
                <a:gd name="connsiteX11" fmla="*/ 76613 w 1409755"/>
                <a:gd name="connsiteY11" fmla="*/ 76613 h 107258"/>
                <a:gd name="connsiteX12" fmla="*/ 30645 w 1409755"/>
                <a:gd name="connsiteY12" fmla="*/ 30645 h 107258"/>
                <a:gd name="connsiteX13" fmla="*/ 597613 w 1409755"/>
                <a:gd name="connsiteY13" fmla="*/ 30645 h 107258"/>
                <a:gd name="connsiteX14" fmla="*/ 626212 w 1409755"/>
                <a:gd name="connsiteY14" fmla="*/ 61290 h 107258"/>
                <a:gd name="connsiteX15" fmla="*/ 628258 w 1409755"/>
                <a:gd name="connsiteY15" fmla="*/ 61290 h 107258"/>
                <a:gd name="connsiteX16" fmla="*/ 781498 w 1409755"/>
                <a:gd name="connsiteY16" fmla="*/ 61290 h 107258"/>
                <a:gd name="connsiteX17" fmla="*/ 812143 w 1409755"/>
                <a:gd name="connsiteY17" fmla="*/ 32691 h 107258"/>
                <a:gd name="connsiteX18" fmla="*/ 812143 w 1409755"/>
                <a:gd name="connsiteY18" fmla="*/ 30645 h 107258"/>
                <a:gd name="connsiteX19" fmla="*/ 1379110 w 1409755"/>
                <a:gd name="connsiteY19" fmla="*/ 30645 h 107258"/>
                <a:gd name="connsiteX20" fmla="*/ 1333127 w 1409755"/>
                <a:gd name="connsiteY20" fmla="*/ 76613 h 10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09755" h="107258">
                  <a:moveTo>
                    <a:pt x="781498" y="0"/>
                  </a:moveTo>
                  <a:lnTo>
                    <a:pt x="781498" y="30645"/>
                  </a:lnTo>
                  <a:lnTo>
                    <a:pt x="628258" y="30645"/>
                  </a:lnTo>
                  <a:lnTo>
                    <a:pt x="628258" y="0"/>
                  </a:lnTo>
                  <a:lnTo>
                    <a:pt x="0" y="0"/>
                  </a:lnTo>
                  <a:lnTo>
                    <a:pt x="0" y="30630"/>
                  </a:lnTo>
                  <a:cubicBezTo>
                    <a:pt x="45" y="72926"/>
                    <a:pt x="34317" y="107205"/>
                    <a:pt x="76613" y="107258"/>
                  </a:cubicBezTo>
                  <a:lnTo>
                    <a:pt x="1333127" y="107258"/>
                  </a:lnTo>
                  <a:cubicBezTo>
                    <a:pt x="1375428" y="107212"/>
                    <a:pt x="1409710" y="72931"/>
                    <a:pt x="1409756" y="30630"/>
                  </a:cubicBezTo>
                  <a:lnTo>
                    <a:pt x="1409756" y="0"/>
                  </a:lnTo>
                  <a:close/>
                  <a:moveTo>
                    <a:pt x="1333127" y="76613"/>
                  </a:moveTo>
                  <a:lnTo>
                    <a:pt x="76613" y="76613"/>
                  </a:lnTo>
                  <a:cubicBezTo>
                    <a:pt x="51239" y="76581"/>
                    <a:pt x="30678" y="56019"/>
                    <a:pt x="30645" y="30645"/>
                  </a:cubicBezTo>
                  <a:lnTo>
                    <a:pt x="597613" y="30645"/>
                  </a:lnTo>
                  <a:cubicBezTo>
                    <a:pt x="597047" y="47005"/>
                    <a:pt x="609852" y="60725"/>
                    <a:pt x="626212" y="61290"/>
                  </a:cubicBezTo>
                  <a:cubicBezTo>
                    <a:pt x="626894" y="61313"/>
                    <a:pt x="627576" y="61313"/>
                    <a:pt x="628258" y="61290"/>
                  </a:cubicBezTo>
                  <a:lnTo>
                    <a:pt x="781498" y="61290"/>
                  </a:lnTo>
                  <a:cubicBezTo>
                    <a:pt x="797858" y="61856"/>
                    <a:pt x="811578" y="49051"/>
                    <a:pt x="812143" y="32691"/>
                  </a:cubicBezTo>
                  <a:cubicBezTo>
                    <a:pt x="812166" y="32009"/>
                    <a:pt x="812166" y="31327"/>
                    <a:pt x="812143" y="30645"/>
                  </a:cubicBezTo>
                  <a:lnTo>
                    <a:pt x="1379110" y="30645"/>
                  </a:lnTo>
                  <a:cubicBezTo>
                    <a:pt x="1379071" y="56022"/>
                    <a:pt x="1358503" y="76581"/>
                    <a:pt x="1333127" y="76613"/>
                  </a:cubicBez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CD187E24-23DC-855D-9AA6-50DD07C4407B}"/>
                </a:ext>
              </a:extLst>
            </p:cNvPr>
            <p:cNvSpPr/>
            <p:nvPr/>
          </p:nvSpPr>
          <p:spPr>
            <a:xfrm>
              <a:off x="1011167" y="483368"/>
              <a:ext cx="398387" cy="398387"/>
            </a:xfrm>
            <a:custGeom>
              <a:avLst/>
              <a:gdLst>
                <a:gd name="connsiteX0" fmla="*/ 199194 w 398387"/>
                <a:gd name="connsiteY0" fmla="*/ 0 h 398387"/>
                <a:gd name="connsiteX1" fmla="*/ 0 w 398387"/>
                <a:gd name="connsiteY1" fmla="*/ 199194 h 398387"/>
                <a:gd name="connsiteX2" fmla="*/ 199194 w 398387"/>
                <a:gd name="connsiteY2" fmla="*/ 398388 h 398387"/>
                <a:gd name="connsiteX3" fmla="*/ 398388 w 398387"/>
                <a:gd name="connsiteY3" fmla="*/ 199194 h 398387"/>
                <a:gd name="connsiteX4" fmla="*/ 199194 w 398387"/>
                <a:gd name="connsiteY4" fmla="*/ 0 h 398387"/>
                <a:gd name="connsiteX5" fmla="*/ 366966 w 398387"/>
                <a:gd name="connsiteY5" fmla="*/ 183871 h 398387"/>
                <a:gd name="connsiteX6" fmla="*/ 313055 w 398387"/>
                <a:gd name="connsiteY6" fmla="*/ 183871 h 398387"/>
                <a:gd name="connsiteX7" fmla="*/ 249068 w 398387"/>
                <a:gd name="connsiteY7" fmla="*/ 38187 h 398387"/>
                <a:gd name="connsiteX8" fmla="*/ 366966 w 398387"/>
                <a:gd name="connsiteY8" fmla="*/ 183871 h 398387"/>
                <a:gd name="connsiteX9" fmla="*/ 183871 w 398387"/>
                <a:gd name="connsiteY9" fmla="*/ 49425 h 398387"/>
                <a:gd name="connsiteX10" fmla="*/ 183871 w 398387"/>
                <a:gd name="connsiteY10" fmla="*/ 183871 h 398387"/>
                <a:gd name="connsiteX11" fmla="*/ 116057 w 398387"/>
                <a:gd name="connsiteY11" fmla="*/ 183871 h 398387"/>
                <a:gd name="connsiteX12" fmla="*/ 183871 w 398387"/>
                <a:gd name="connsiteY12" fmla="*/ 49425 h 398387"/>
                <a:gd name="connsiteX13" fmla="*/ 183871 w 398387"/>
                <a:gd name="connsiteY13" fmla="*/ 214517 h 398387"/>
                <a:gd name="connsiteX14" fmla="*/ 183871 w 398387"/>
                <a:gd name="connsiteY14" fmla="*/ 348979 h 398387"/>
                <a:gd name="connsiteX15" fmla="*/ 116069 w 398387"/>
                <a:gd name="connsiteY15" fmla="*/ 214517 h 398387"/>
                <a:gd name="connsiteX16" fmla="*/ 214517 w 398387"/>
                <a:gd name="connsiteY16" fmla="*/ 348953 h 398387"/>
                <a:gd name="connsiteX17" fmla="*/ 214517 w 398387"/>
                <a:gd name="connsiteY17" fmla="*/ 214517 h 398387"/>
                <a:gd name="connsiteX18" fmla="*/ 282319 w 398387"/>
                <a:gd name="connsiteY18" fmla="*/ 214517 h 398387"/>
                <a:gd name="connsiteX19" fmla="*/ 214517 w 398387"/>
                <a:gd name="connsiteY19" fmla="*/ 348953 h 398387"/>
                <a:gd name="connsiteX20" fmla="*/ 214517 w 398387"/>
                <a:gd name="connsiteY20" fmla="*/ 183871 h 398387"/>
                <a:gd name="connsiteX21" fmla="*/ 214517 w 398387"/>
                <a:gd name="connsiteY21" fmla="*/ 49448 h 398387"/>
                <a:gd name="connsiteX22" fmla="*/ 282319 w 398387"/>
                <a:gd name="connsiteY22" fmla="*/ 183871 h 398387"/>
                <a:gd name="connsiteX23" fmla="*/ 149038 w 398387"/>
                <a:gd name="connsiteY23" fmla="*/ 38270 h 398387"/>
                <a:gd name="connsiteX24" fmla="*/ 85336 w 398387"/>
                <a:gd name="connsiteY24" fmla="*/ 183871 h 398387"/>
                <a:gd name="connsiteX25" fmla="*/ 31422 w 398387"/>
                <a:gd name="connsiteY25" fmla="*/ 183871 h 398387"/>
                <a:gd name="connsiteX26" fmla="*/ 149038 w 398387"/>
                <a:gd name="connsiteY26" fmla="*/ 38270 h 398387"/>
                <a:gd name="connsiteX27" fmla="*/ 31422 w 398387"/>
                <a:gd name="connsiteY27" fmla="*/ 214517 h 398387"/>
                <a:gd name="connsiteX28" fmla="*/ 85333 w 398387"/>
                <a:gd name="connsiteY28" fmla="*/ 214517 h 398387"/>
                <a:gd name="connsiteX29" fmla="*/ 149265 w 398387"/>
                <a:gd name="connsiteY29" fmla="*/ 360186 h 398387"/>
                <a:gd name="connsiteX30" fmla="*/ 31422 w 398387"/>
                <a:gd name="connsiteY30" fmla="*/ 214517 h 398387"/>
                <a:gd name="connsiteX31" fmla="*/ 249083 w 398387"/>
                <a:gd name="connsiteY31" fmla="*/ 360198 h 398387"/>
                <a:gd name="connsiteX32" fmla="*/ 313055 w 398387"/>
                <a:gd name="connsiteY32" fmla="*/ 214517 h 398387"/>
                <a:gd name="connsiteX33" fmla="*/ 366966 w 398387"/>
                <a:gd name="connsiteY33" fmla="*/ 214517 h 398387"/>
                <a:gd name="connsiteX34" fmla="*/ 249083 w 398387"/>
                <a:gd name="connsiteY34" fmla="*/ 360198 h 39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98387" h="398387">
                  <a:moveTo>
                    <a:pt x="199194" y="0"/>
                  </a:moveTo>
                  <a:cubicBezTo>
                    <a:pt x="89182" y="0"/>
                    <a:pt x="0" y="89182"/>
                    <a:pt x="0" y="199194"/>
                  </a:cubicBezTo>
                  <a:cubicBezTo>
                    <a:pt x="0" y="309206"/>
                    <a:pt x="89182" y="398388"/>
                    <a:pt x="199194" y="398388"/>
                  </a:cubicBezTo>
                  <a:cubicBezTo>
                    <a:pt x="309206" y="398388"/>
                    <a:pt x="398388" y="309206"/>
                    <a:pt x="398388" y="199194"/>
                  </a:cubicBezTo>
                  <a:cubicBezTo>
                    <a:pt x="398262" y="89234"/>
                    <a:pt x="309154" y="126"/>
                    <a:pt x="199194" y="0"/>
                  </a:cubicBezTo>
                  <a:close/>
                  <a:moveTo>
                    <a:pt x="366966" y="183871"/>
                  </a:moveTo>
                  <a:lnTo>
                    <a:pt x="313055" y="183871"/>
                  </a:lnTo>
                  <a:cubicBezTo>
                    <a:pt x="310936" y="128961"/>
                    <a:pt x="288068" y="76898"/>
                    <a:pt x="249068" y="38187"/>
                  </a:cubicBezTo>
                  <a:cubicBezTo>
                    <a:pt x="314176" y="58491"/>
                    <a:pt x="360684" y="115960"/>
                    <a:pt x="366966" y="183871"/>
                  </a:cubicBezTo>
                  <a:close/>
                  <a:moveTo>
                    <a:pt x="183871" y="49425"/>
                  </a:moveTo>
                  <a:lnTo>
                    <a:pt x="183871" y="183871"/>
                  </a:lnTo>
                  <a:lnTo>
                    <a:pt x="116057" y="183871"/>
                  </a:lnTo>
                  <a:cubicBezTo>
                    <a:pt x="119947" y="126087"/>
                    <a:pt x="145615" y="75694"/>
                    <a:pt x="183871" y="49425"/>
                  </a:cubicBezTo>
                  <a:close/>
                  <a:moveTo>
                    <a:pt x="183871" y="214517"/>
                  </a:moveTo>
                  <a:lnTo>
                    <a:pt x="183871" y="348979"/>
                  </a:lnTo>
                  <a:cubicBezTo>
                    <a:pt x="145658" y="322668"/>
                    <a:pt x="119976" y="272107"/>
                    <a:pt x="116069" y="214517"/>
                  </a:cubicBezTo>
                  <a:close/>
                  <a:moveTo>
                    <a:pt x="214517" y="348953"/>
                  </a:moveTo>
                  <a:lnTo>
                    <a:pt x="214517" y="214517"/>
                  </a:lnTo>
                  <a:lnTo>
                    <a:pt x="282319" y="214517"/>
                  </a:lnTo>
                  <a:cubicBezTo>
                    <a:pt x="278412" y="272044"/>
                    <a:pt x="252711" y="322628"/>
                    <a:pt x="214517" y="348953"/>
                  </a:cubicBezTo>
                  <a:close/>
                  <a:moveTo>
                    <a:pt x="214517" y="183871"/>
                  </a:moveTo>
                  <a:lnTo>
                    <a:pt x="214517" y="49448"/>
                  </a:lnTo>
                  <a:cubicBezTo>
                    <a:pt x="252707" y="75772"/>
                    <a:pt x="278412" y="126347"/>
                    <a:pt x="282319" y="183871"/>
                  </a:cubicBezTo>
                  <a:close/>
                  <a:moveTo>
                    <a:pt x="149038" y="38270"/>
                  </a:moveTo>
                  <a:cubicBezTo>
                    <a:pt x="110108" y="76969"/>
                    <a:pt x="87337" y="129015"/>
                    <a:pt x="85336" y="183871"/>
                  </a:cubicBezTo>
                  <a:lnTo>
                    <a:pt x="31422" y="183871"/>
                  </a:lnTo>
                  <a:cubicBezTo>
                    <a:pt x="37694" y="116066"/>
                    <a:pt x="84068" y="58658"/>
                    <a:pt x="149038" y="38270"/>
                  </a:cubicBezTo>
                  <a:close/>
                  <a:moveTo>
                    <a:pt x="31422" y="214517"/>
                  </a:moveTo>
                  <a:lnTo>
                    <a:pt x="85333" y="214517"/>
                  </a:lnTo>
                  <a:cubicBezTo>
                    <a:pt x="87426" y="269418"/>
                    <a:pt x="110275" y="321478"/>
                    <a:pt x="149265" y="360186"/>
                  </a:cubicBezTo>
                  <a:cubicBezTo>
                    <a:pt x="84184" y="339863"/>
                    <a:pt x="37703" y="282407"/>
                    <a:pt x="31422" y="214517"/>
                  </a:cubicBezTo>
                  <a:close/>
                  <a:moveTo>
                    <a:pt x="249083" y="360198"/>
                  </a:moveTo>
                  <a:cubicBezTo>
                    <a:pt x="288076" y="321484"/>
                    <a:pt x="310937" y="269424"/>
                    <a:pt x="313055" y="214517"/>
                  </a:cubicBezTo>
                  <a:lnTo>
                    <a:pt x="366966" y="214517"/>
                  </a:lnTo>
                  <a:cubicBezTo>
                    <a:pt x="360684" y="282422"/>
                    <a:pt x="314184" y="339888"/>
                    <a:pt x="249083" y="360198"/>
                  </a:cubicBezTo>
                  <a:close/>
                </a:path>
              </a:pathLst>
            </a:custGeom>
            <a:solidFill>
              <a:srgbClr val="FF8C0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2F2BDFA-D270-BFC7-4DD9-75C86B40B78A}"/>
              </a:ext>
            </a:extLst>
          </p:cNvPr>
          <p:cNvSpPr txBox="1"/>
          <p:nvPr/>
        </p:nvSpPr>
        <p:spPr>
          <a:xfrm>
            <a:off x="-5133279" y="3070124"/>
            <a:ext cx="3955714" cy="272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website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Stagii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pe Bune" serves as an internship platform designed to bridge the gap between academic requirements and the professional world, offering significant benefits to students. It provides a dedicated space for students to explore and apply for internship opportunities.</a:t>
            </a:r>
            <a:endParaRPr lang="ro-R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34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80BF4-874E-3865-02AC-CD202C08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098745-2DAB-CF76-5107-B3EE7F5E4AC4}"/>
              </a:ext>
            </a:extLst>
          </p:cNvPr>
          <p:cNvSpPr txBox="1"/>
          <p:nvPr/>
        </p:nvSpPr>
        <p:spPr>
          <a:xfrm>
            <a:off x="2259724" y="367126"/>
            <a:ext cx="7672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Comparison with other similar applications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52CF9D-F18F-5722-9921-7EC3E3DA1B0D}"/>
              </a:ext>
            </a:extLst>
          </p:cNvPr>
          <p:cNvSpPr/>
          <p:nvPr/>
        </p:nvSpPr>
        <p:spPr>
          <a:xfrm>
            <a:off x="888373" y="1740669"/>
            <a:ext cx="3190009" cy="7377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C00">
                  <a:lumMod val="100000"/>
                </a:srgbClr>
              </a:gs>
              <a:gs pos="100000">
                <a:srgbClr val="0056A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31234-FFD7-F41E-A44C-109B4DD6FF33}"/>
              </a:ext>
            </a:extLst>
          </p:cNvPr>
          <p:cNvSpPr txBox="1"/>
          <p:nvPr/>
        </p:nvSpPr>
        <p:spPr>
          <a:xfrm>
            <a:off x="1202249" y="1890526"/>
            <a:ext cx="2562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stagiipebune.ro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2E22E2-E612-8FED-ECE7-7E89541FE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469" y="1019658"/>
            <a:ext cx="7388772" cy="3911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aphic 8" descr="Internet outline">
            <a:extLst>
              <a:ext uri="{FF2B5EF4-FFF2-40B4-BE49-F238E27FC236}">
                <a16:creationId xmlns:a16="http://schemas.microsoft.com/office/drawing/2014/main" id="{CFB3AA24-2DD8-29F1-A602-4279B88615D7}"/>
              </a:ext>
            </a:extLst>
          </p:cNvPr>
          <p:cNvGrpSpPr/>
          <p:nvPr/>
        </p:nvGrpSpPr>
        <p:grpSpPr>
          <a:xfrm>
            <a:off x="505521" y="329936"/>
            <a:ext cx="1409755" cy="842658"/>
            <a:chOff x="505521" y="329936"/>
            <a:chExt cx="1409755" cy="842658"/>
          </a:xfrm>
          <a:solidFill>
            <a:srgbClr val="00206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B5FAE704-1EB3-D716-F416-CB903AA21223}"/>
                </a:ext>
              </a:extLst>
            </p:cNvPr>
            <p:cNvSpPr/>
            <p:nvPr/>
          </p:nvSpPr>
          <p:spPr>
            <a:xfrm>
              <a:off x="766020" y="406575"/>
              <a:ext cx="888756" cy="551767"/>
            </a:xfrm>
            <a:custGeom>
              <a:avLst/>
              <a:gdLst>
                <a:gd name="connsiteX0" fmla="*/ 888696 w 888756"/>
                <a:gd name="connsiteY0" fmla="*/ 551498 h 551767"/>
                <a:gd name="connsiteX1" fmla="*/ 888756 w 888756"/>
                <a:gd name="connsiteY1" fmla="*/ 0 h 551767"/>
                <a:gd name="connsiteX2" fmla="*/ 0 w 888756"/>
                <a:gd name="connsiteY2" fmla="*/ 0 h 551767"/>
                <a:gd name="connsiteX3" fmla="*/ 0 w 888756"/>
                <a:gd name="connsiteY3" fmla="*/ 551767 h 551767"/>
                <a:gd name="connsiteX4" fmla="*/ 30645 w 888756"/>
                <a:gd name="connsiteY4" fmla="*/ 30645 h 551767"/>
                <a:gd name="connsiteX5" fmla="*/ 858111 w 888756"/>
                <a:gd name="connsiteY5" fmla="*/ 30645 h 551767"/>
                <a:gd name="connsiteX6" fmla="*/ 858051 w 888756"/>
                <a:gd name="connsiteY6" fmla="*/ 520860 h 551767"/>
                <a:gd name="connsiteX7" fmla="*/ 30645 w 888756"/>
                <a:gd name="connsiteY7" fmla="*/ 521111 h 55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8756" h="551767">
                  <a:moveTo>
                    <a:pt x="888696" y="551498"/>
                  </a:moveTo>
                  <a:lnTo>
                    <a:pt x="888756" y="0"/>
                  </a:lnTo>
                  <a:lnTo>
                    <a:pt x="0" y="0"/>
                  </a:lnTo>
                  <a:lnTo>
                    <a:pt x="0" y="551767"/>
                  </a:lnTo>
                  <a:close/>
                  <a:moveTo>
                    <a:pt x="30645" y="30645"/>
                  </a:moveTo>
                  <a:lnTo>
                    <a:pt x="858111" y="30645"/>
                  </a:lnTo>
                  <a:lnTo>
                    <a:pt x="858051" y="520860"/>
                  </a:lnTo>
                  <a:lnTo>
                    <a:pt x="30645" y="521111"/>
                  </a:ln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DE743BAC-3C60-AA11-4C3D-ABF517E46814}"/>
                </a:ext>
              </a:extLst>
            </p:cNvPr>
            <p:cNvSpPr/>
            <p:nvPr/>
          </p:nvSpPr>
          <p:spPr>
            <a:xfrm>
              <a:off x="689407" y="329936"/>
              <a:ext cx="1041982" cy="689722"/>
            </a:xfrm>
            <a:custGeom>
              <a:avLst/>
              <a:gdLst>
                <a:gd name="connsiteX0" fmla="*/ 30645 w 1041982"/>
                <a:gd name="connsiteY0" fmla="*/ 61290 h 689722"/>
                <a:gd name="connsiteX1" fmla="*/ 61290 w 1041982"/>
                <a:gd name="connsiteY1" fmla="*/ 30645 h 689722"/>
                <a:gd name="connsiteX2" fmla="*/ 980692 w 1041982"/>
                <a:gd name="connsiteY2" fmla="*/ 30645 h 689722"/>
                <a:gd name="connsiteX3" fmla="*/ 1011337 w 1041982"/>
                <a:gd name="connsiteY3" fmla="*/ 61290 h 689722"/>
                <a:gd name="connsiteX4" fmla="*/ 1011337 w 1041982"/>
                <a:gd name="connsiteY4" fmla="*/ 689723 h 689722"/>
                <a:gd name="connsiteX5" fmla="*/ 1041982 w 1041982"/>
                <a:gd name="connsiteY5" fmla="*/ 689723 h 689722"/>
                <a:gd name="connsiteX6" fmla="*/ 1041982 w 1041982"/>
                <a:gd name="connsiteY6" fmla="*/ 61290 h 689722"/>
                <a:gd name="connsiteX7" fmla="*/ 980692 w 1041982"/>
                <a:gd name="connsiteY7" fmla="*/ 0 h 689722"/>
                <a:gd name="connsiteX8" fmla="*/ 61290 w 1041982"/>
                <a:gd name="connsiteY8" fmla="*/ 0 h 689722"/>
                <a:gd name="connsiteX9" fmla="*/ 0 w 1041982"/>
                <a:gd name="connsiteY9" fmla="*/ 61290 h 689722"/>
                <a:gd name="connsiteX10" fmla="*/ 0 w 1041982"/>
                <a:gd name="connsiteY10" fmla="*/ 689723 h 689722"/>
                <a:gd name="connsiteX11" fmla="*/ 30645 w 1041982"/>
                <a:gd name="connsiteY11" fmla="*/ 689723 h 68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1982" h="689722">
                  <a:moveTo>
                    <a:pt x="30645" y="61290"/>
                  </a:moveTo>
                  <a:cubicBezTo>
                    <a:pt x="30665" y="44374"/>
                    <a:pt x="44374" y="30665"/>
                    <a:pt x="61290" y="30645"/>
                  </a:cubicBezTo>
                  <a:lnTo>
                    <a:pt x="980692" y="30645"/>
                  </a:lnTo>
                  <a:cubicBezTo>
                    <a:pt x="997608" y="30667"/>
                    <a:pt x="1011316" y="44374"/>
                    <a:pt x="1011337" y="61290"/>
                  </a:cubicBezTo>
                  <a:lnTo>
                    <a:pt x="1011337" y="689723"/>
                  </a:lnTo>
                  <a:lnTo>
                    <a:pt x="1041982" y="689723"/>
                  </a:lnTo>
                  <a:lnTo>
                    <a:pt x="1041982" y="61290"/>
                  </a:lnTo>
                  <a:cubicBezTo>
                    <a:pt x="1041947" y="27455"/>
                    <a:pt x="1014527" y="35"/>
                    <a:pt x="980692" y="0"/>
                  </a:cubicBezTo>
                  <a:lnTo>
                    <a:pt x="61290" y="0"/>
                  </a:lnTo>
                  <a:cubicBezTo>
                    <a:pt x="27455" y="35"/>
                    <a:pt x="35" y="27455"/>
                    <a:pt x="0" y="61290"/>
                  </a:cubicBezTo>
                  <a:lnTo>
                    <a:pt x="0" y="689723"/>
                  </a:lnTo>
                  <a:lnTo>
                    <a:pt x="30645" y="689723"/>
                  </a:ln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3275431B-8820-E4AB-447F-8CEBB92701CA}"/>
                </a:ext>
              </a:extLst>
            </p:cNvPr>
            <p:cNvSpPr/>
            <p:nvPr/>
          </p:nvSpPr>
          <p:spPr>
            <a:xfrm>
              <a:off x="505521" y="1065336"/>
              <a:ext cx="1409755" cy="107258"/>
            </a:xfrm>
            <a:custGeom>
              <a:avLst/>
              <a:gdLst>
                <a:gd name="connsiteX0" fmla="*/ 781498 w 1409755"/>
                <a:gd name="connsiteY0" fmla="*/ 0 h 107258"/>
                <a:gd name="connsiteX1" fmla="*/ 781498 w 1409755"/>
                <a:gd name="connsiteY1" fmla="*/ 30645 h 107258"/>
                <a:gd name="connsiteX2" fmla="*/ 628258 w 1409755"/>
                <a:gd name="connsiteY2" fmla="*/ 30645 h 107258"/>
                <a:gd name="connsiteX3" fmla="*/ 628258 w 1409755"/>
                <a:gd name="connsiteY3" fmla="*/ 0 h 107258"/>
                <a:gd name="connsiteX4" fmla="*/ 0 w 1409755"/>
                <a:gd name="connsiteY4" fmla="*/ 0 h 107258"/>
                <a:gd name="connsiteX5" fmla="*/ 0 w 1409755"/>
                <a:gd name="connsiteY5" fmla="*/ 30630 h 107258"/>
                <a:gd name="connsiteX6" fmla="*/ 76613 w 1409755"/>
                <a:gd name="connsiteY6" fmla="*/ 107258 h 107258"/>
                <a:gd name="connsiteX7" fmla="*/ 1333127 w 1409755"/>
                <a:gd name="connsiteY7" fmla="*/ 107258 h 107258"/>
                <a:gd name="connsiteX8" fmla="*/ 1409756 w 1409755"/>
                <a:gd name="connsiteY8" fmla="*/ 30630 h 107258"/>
                <a:gd name="connsiteX9" fmla="*/ 1409756 w 1409755"/>
                <a:gd name="connsiteY9" fmla="*/ 0 h 107258"/>
                <a:gd name="connsiteX10" fmla="*/ 1333127 w 1409755"/>
                <a:gd name="connsiteY10" fmla="*/ 76613 h 107258"/>
                <a:gd name="connsiteX11" fmla="*/ 76613 w 1409755"/>
                <a:gd name="connsiteY11" fmla="*/ 76613 h 107258"/>
                <a:gd name="connsiteX12" fmla="*/ 30645 w 1409755"/>
                <a:gd name="connsiteY12" fmla="*/ 30645 h 107258"/>
                <a:gd name="connsiteX13" fmla="*/ 597613 w 1409755"/>
                <a:gd name="connsiteY13" fmla="*/ 30645 h 107258"/>
                <a:gd name="connsiteX14" fmla="*/ 626212 w 1409755"/>
                <a:gd name="connsiteY14" fmla="*/ 61290 h 107258"/>
                <a:gd name="connsiteX15" fmla="*/ 628258 w 1409755"/>
                <a:gd name="connsiteY15" fmla="*/ 61290 h 107258"/>
                <a:gd name="connsiteX16" fmla="*/ 781498 w 1409755"/>
                <a:gd name="connsiteY16" fmla="*/ 61290 h 107258"/>
                <a:gd name="connsiteX17" fmla="*/ 812143 w 1409755"/>
                <a:gd name="connsiteY17" fmla="*/ 32691 h 107258"/>
                <a:gd name="connsiteX18" fmla="*/ 812143 w 1409755"/>
                <a:gd name="connsiteY18" fmla="*/ 30645 h 107258"/>
                <a:gd name="connsiteX19" fmla="*/ 1379110 w 1409755"/>
                <a:gd name="connsiteY19" fmla="*/ 30645 h 107258"/>
                <a:gd name="connsiteX20" fmla="*/ 1333127 w 1409755"/>
                <a:gd name="connsiteY20" fmla="*/ 76613 h 10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09755" h="107258">
                  <a:moveTo>
                    <a:pt x="781498" y="0"/>
                  </a:moveTo>
                  <a:lnTo>
                    <a:pt x="781498" y="30645"/>
                  </a:lnTo>
                  <a:lnTo>
                    <a:pt x="628258" y="30645"/>
                  </a:lnTo>
                  <a:lnTo>
                    <a:pt x="628258" y="0"/>
                  </a:lnTo>
                  <a:lnTo>
                    <a:pt x="0" y="0"/>
                  </a:lnTo>
                  <a:lnTo>
                    <a:pt x="0" y="30630"/>
                  </a:lnTo>
                  <a:cubicBezTo>
                    <a:pt x="45" y="72926"/>
                    <a:pt x="34317" y="107205"/>
                    <a:pt x="76613" y="107258"/>
                  </a:cubicBezTo>
                  <a:lnTo>
                    <a:pt x="1333127" y="107258"/>
                  </a:lnTo>
                  <a:cubicBezTo>
                    <a:pt x="1375428" y="107212"/>
                    <a:pt x="1409710" y="72931"/>
                    <a:pt x="1409756" y="30630"/>
                  </a:cubicBezTo>
                  <a:lnTo>
                    <a:pt x="1409756" y="0"/>
                  </a:lnTo>
                  <a:close/>
                  <a:moveTo>
                    <a:pt x="1333127" y="76613"/>
                  </a:moveTo>
                  <a:lnTo>
                    <a:pt x="76613" y="76613"/>
                  </a:lnTo>
                  <a:cubicBezTo>
                    <a:pt x="51239" y="76581"/>
                    <a:pt x="30678" y="56019"/>
                    <a:pt x="30645" y="30645"/>
                  </a:cubicBezTo>
                  <a:lnTo>
                    <a:pt x="597613" y="30645"/>
                  </a:lnTo>
                  <a:cubicBezTo>
                    <a:pt x="597047" y="47005"/>
                    <a:pt x="609852" y="60725"/>
                    <a:pt x="626212" y="61290"/>
                  </a:cubicBezTo>
                  <a:cubicBezTo>
                    <a:pt x="626894" y="61313"/>
                    <a:pt x="627576" y="61313"/>
                    <a:pt x="628258" y="61290"/>
                  </a:cubicBezTo>
                  <a:lnTo>
                    <a:pt x="781498" y="61290"/>
                  </a:lnTo>
                  <a:cubicBezTo>
                    <a:pt x="797858" y="61856"/>
                    <a:pt x="811578" y="49051"/>
                    <a:pt x="812143" y="32691"/>
                  </a:cubicBezTo>
                  <a:cubicBezTo>
                    <a:pt x="812166" y="32009"/>
                    <a:pt x="812166" y="31327"/>
                    <a:pt x="812143" y="30645"/>
                  </a:cubicBezTo>
                  <a:lnTo>
                    <a:pt x="1379110" y="30645"/>
                  </a:lnTo>
                  <a:cubicBezTo>
                    <a:pt x="1379071" y="56022"/>
                    <a:pt x="1358503" y="76581"/>
                    <a:pt x="1333127" y="76613"/>
                  </a:cubicBez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ED3FBD40-A15C-71BD-170C-A97C48856EB4}"/>
                </a:ext>
              </a:extLst>
            </p:cNvPr>
            <p:cNvSpPr/>
            <p:nvPr/>
          </p:nvSpPr>
          <p:spPr>
            <a:xfrm>
              <a:off x="1011167" y="483368"/>
              <a:ext cx="398387" cy="398387"/>
            </a:xfrm>
            <a:custGeom>
              <a:avLst/>
              <a:gdLst>
                <a:gd name="connsiteX0" fmla="*/ 199194 w 398387"/>
                <a:gd name="connsiteY0" fmla="*/ 0 h 398387"/>
                <a:gd name="connsiteX1" fmla="*/ 0 w 398387"/>
                <a:gd name="connsiteY1" fmla="*/ 199194 h 398387"/>
                <a:gd name="connsiteX2" fmla="*/ 199194 w 398387"/>
                <a:gd name="connsiteY2" fmla="*/ 398388 h 398387"/>
                <a:gd name="connsiteX3" fmla="*/ 398388 w 398387"/>
                <a:gd name="connsiteY3" fmla="*/ 199194 h 398387"/>
                <a:gd name="connsiteX4" fmla="*/ 199194 w 398387"/>
                <a:gd name="connsiteY4" fmla="*/ 0 h 398387"/>
                <a:gd name="connsiteX5" fmla="*/ 366966 w 398387"/>
                <a:gd name="connsiteY5" fmla="*/ 183871 h 398387"/>
                <a:gd name="connsiteX6" fmla="*/ 313055 w 398387"/>
                <a:gd name="connsiteY6" fmla="*/ 183871 h 398387"/>
                <a:gd name="connsiteX7" fmla="*/ 249068 w 398387"/>
                <a:gd name="connsiteY7" fmla="*/ 38187 h 398387"/>
                <a:gd name="connsiteX8" fmla="*/ 366966 w 398387"/>
                <a:gd name="connsiteY8" fmla="*/ 183871 h 398387"/>
                <a:gd name="connsiteX9" fmla="*/ 183871 w 398387"/>
                <a:gd name="connsiteY9" fmla="*/ 49425 h 398387"/>
                <a:gd name="connsiteX10" fmla="*/ 183871 w 398387"/>
                <a:gd name="connsiteY10" fmla="*/ 183871 h 398387"/>
                <a:gd name="connsiteX11" fmla="*/ 116057 w 398387"/>
                <a:gd name="connsiteY11" fmla="*/ 183871 h 398387"/>
                <a:gd name="connsiteX12" fmla="*/ 183871 w 398387"/>
                <a:gd name="connsiteY12" fmla="*/ 49425 h 398387"/>
                <a:gd name="connsiteX13" fmla="*/ 183871 w 398387"/>
                <a:gd name="connsiteY13" fmla="*/ 214517 h 398387"/>
                <a:gd name="connsiteX14" fmla="*/ 183871 w 398387"/>
                <a:gd name="connsiteY14" fmla="*/ 348979 h 398387"/>
                <a:gd name="connsiteX15" fmla="*/ 116069 w 398387"/>
                <a:gd name="connsiteY15" fmla="*/ 214517 h 398387"/>
                <a:gd name="connsiteX16" fmla="*/ 214517 w 398387"/>
                <a:gd name="connsiteY16" fmla="*/ 348953 h 398387"/>
                <a:gd name="connsiteX17" fmla="*/ 214517 w 398387"/>
                <a:gd name="connsiteY17" fmla="*/ 214517 h 398387"/>
                <a:gd name="connsiteX18" fmla="*/ 282319 w 398387"/>
                <a:gd name="connsiteY18" fmla="*/ 214517 h 398387"/>
                <a:gd name="connsiteX19" fmla="*/ 214517 w 398387"/>
                <a:gd name="connsiteY19" fmla="*/ 348953 h 398387"/>
                <a:gd name="connsiteX20" fmla="*/ 214517 w 398387"/>
                <a:gd name="connsiteY20" fmla="*/ 183871 h 398387"/>
                <a:gd name="connsiteX21" fmla="*/ 214517 w 398387"/>
                <a:gd name="connsiteY21" fmla="*/ 49448 h 398387"/>
                <a:gd name="connsiteX22" fmla="*/ 282319 w 398387"/>
                <a:gd name="connsiteY22" fmla="*/ 183871 h 398387"/>
                <a:gd name="connsiteX23" fmla="*/ 149038 w 398387"/>
                <a:gd name="connsiteY23" fmla="*/ 38270 h 398387"/>
                <a:gd name="connsiteX24" fmla="*/ 85336 w 398387"/>
                <a:gd name="connsiteY24" fmla="*/ 183871 h 398387"/>
                <a:gd name="connsiteX25" fmla="*/ 31422 w 398387"/>
                <a:gd name="connsiteY25" fmla="*/ 183871 h 398387"/>
                <a:gd name="connsiteX26" fmla="*/ 149038 w 398387"/>
                <a:gd name="connsiteY26" fmla="*/ 38270 h 398387"/>
                <a:gd name="connsiteX27" fmla="*/ 31422 w 398387"/>
                <a:gd name="connsiteY27" fmla="*/ 214517 h 398387"/>
                <a:gd name="connsiteX28" fmla="*/ 85333 w 398387"/>
                <a:gd name="connsiteY28" fmla="*/ 214517 h 398387"/>
                <a:gd name="connsiteX29" fmla="*/ 149265 w 398387"/>
                <a:gd name="connsiteY29" fmla="*/ 360186 h 398387"/>
                <a:gd name="connsiteX30" fmla="*/ 31422 w 398387"/>
                <a:gd name="connsiteY30" fmla="*/ 214517 h 398387"/>
                <a:gd name="connsiteX31" fmla="*/ 249083 w 398387"/>
                <a:gd name="connsiteY31" fmla="*/ 360198 h 398387"/>
                <a:gd name="connsiteX32" fmla="*/ 313055 w 398387"/>
                <a:gd name="connsiteY32" fmla="*/ 214517 h 398387"/>
                <a:gd name="connsiteX33" fmla="*/ 366966 w 398387"/>
                <a:gd name="connsiteY33" fmla="*/ 214517 h 398387"/>
                <a:gd name="connsiteX34" fmla="*/ 249083 w 398387"/>
                <a:gd name="connsiteY34" fmla="*/ 360198 h 39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98387" h="398387">
                  <a:moveTo>
                    <a:pt x="199194" y="0"/>
                  </a:moveTo>
                  <a:cubicBezTo>
                    <a:pt x="89182" y="0"/>
                    <a:pt x="0" y="89182"/>
                    <a:pt x="0" y="199194"/>
                  </a:cubicBezTo>
                  <a:cubicBezTo>
                    <a:pt x="0" y="309206"/>
                    <a:pt x="89182" y="398388"/>
                    <a:pt x="199194" y="398388"/>
                  </a:cubicBezTo>
                  <a:cubicBezTo>
                    <a:pt x="309206" y="398388"/>
                    <a:pt x="398388" y="309206"/>
                    <a:pt x="398388" y="199194"/>
                  </a:cubicBezTo>
                  <a:cubicBezTo>
                    <a:pt x="398262" y="89234"/>
                    <a:pt x="309154" y="126"/>
                    <a:pt x="199194" y="0"/>
                  </a:cubicBezTo>
                  <a:close/>
                  <a:moveTo>
                    <a:pt x="366966" y="183871"/>
                  </a:moveTo>
                  <a:lnTo>
                    <a:pt x="313055" y="183871"/>
                  </a:lnTo>
                  <a:cubicBezTo>
                    <a:pt x="310936" y="128961"/>
                    <a:pt x="288068" y="76898"/>
                    <a:pt x="249068" y="38187"/>
                  </a:cubicBezTo>
                  <a:cubicBezTo>
                    <a:pt x="314176" y="58491"/>
                    <a:pt x="360684" y="115960"/>
                    <a:pt x="366966" y="183871"/>
                  </a:cubicBezTo>
                  <a:close/>
                  <a:moveTo>
                    <a:pt x="183871" y="49425"/>
                  </a:moveTo>
                  <a:lnTo>
                    <a:pt x="183871" y="183871"/>
                  </a:lnTo>
                  <a:lnTo>
                    <a:pt x="116057" y="183871"/>
                  </a:lnTo>
                  <a:cubicBezTo>
                    <a:pt x="119947" y="126087"/>
                    <a:pt x="145615" y="75694"/>
                    <a:pt x="183871" y="49425"/>
                  </a:cubicBezTo>
                  <a:close/>
                  <a:moveTo>
                    <a:pt x="183871" y="214517"/>
                  </a:moveTo>
                  <a:lnTo>
                    <a:pt x="183871" y="348979"/>
                  </a:lnTo>
                  <a:cubicBezTo>
                    <a:pt x="145658" y="322668"/>
                    <a:pt x="119976" y="272107"/>
                    <a:pt x="116069" y="214517"/>
                  </a:cubicBezTo>
                  <a:close/>
                  <a:moveTo>
                    <a:pt x="214517" y="348953"/>
                  </a:moveTo>
                  <a:lnTo>
                    <a:pt x="214517" y="214517"/>
                  </a:lnTo>
                  <a:lnTo>
                    <a:pt x="282319" y="214517"/>
                  </a:lnTo>
                  <a:cubicBezTo>
                    <a:pt x="278412" y="272044"/>
                    <a:pt x="252711" y="322628"/>
                    <a:pt x="214517" y="348953"/>
                  </a:cubicBezTo>
                  <a:close/>
                  <a:moveTo>
                    <a:pt x="214517" y="183871"/>
                  </a:moveTo>
                  <a:lnTo>
                    <a:pt x="214517" y="49448"/>
                  </a:lnTo>
                  <a:cubicBezTo>
                    <a:pt x="252707" y="75772"/>
                    <a:pt x="278412" y="126347"/>
                    <a:pt x="282319" y="183871"/>
                  </a:cubicBezTo>
                  <a:close/>
                  <a:moveTo>
                    <a:pt x="149038" y="38270"/>
                  </a:moveTo>
                  <a:cubicBezTo>
                    <a:pt x="110108" y="76969"/>
                    <a:pt x="87337" y="129015"/>
                    <a:pt x="85336" y="183871"/>
                  </a:cubicBezTo>
                  <a:lnTo>
                    <a:pt x="31422" y="183871"/>
                  </a:lnTo>
                  <a:cubicBezTo>
                    <a:pt x="37694" y="116066"/>
                    <a:pt x="84068" y="58658"/>
                    <a:pt x="149038" y="38270"/>
                  </a:cubicBezTo>
                  <a:close/>
                  <a:moveTo>
                    <a:pt x="31422" y="214517"/>
                  </a:moveTo>
                  <a:lnTo>
                    <a:pt x="85333" y="214517"/>
                  </a:lnTo>
                  <a:cubicBezTo>
                    <a:pt x="87426" y="269418"/>
                    <a:pt x="110275" y="321478"/>
                    <a:pt x="149265" y="360186"/>
                  </a:cubicBezTo>
                  <a:cubicBezTo>
                    <a:pt x="84184" y="339863"/>
                    <a:pt x="37703" y="282407"/>
                    <a:pt x="31422" y="214517"/>
                  </a:cubicBezTo>
                  <a:close/>
                  <a:moveTo>
                    <a:pt x="249083" y="360198"/>
                  </a:moveTo>
                  <a:cubicBezTo>
                    <a:pt x="288076" y="321484"/>
                    <a:pt x="310937" y="269424"/>
                    <a:pt x="313055" y="214517"/>
                  </a:cubicBezTo>
                  <a:lnTo>
                    <a:pt x="366966" y="214517"/>
                  </a:lnTo>
                  <a:cubicBezTo>
                    <a:pt x="360684" y="282422"/>
                    <a:pt x="314184" y="339888"/>
                    <a:pt x="249083" y="360198"/>
                  </a:cubicBezTo>
                  <a:close/>
                </a:path>
              </a:pathLst>
            </a:custGeom>
            <a:solidFill>
              <a:srgbClr val="FF8C0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733FCE3-4B76-98E9-AEF1-DF016CCE2865}"/>
              </a:ext>
            </a:extLst>
          </p:cNvPr>
          <p:cNvSpPr txBox="1"/>
          <p:nvPr/>
        </p:nvSpPr>
        <p:spPr>
          <a:xfrm>
            <a:off x="505521" y="3070124"/>
            <a:ext cx="3955714" cy="272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website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Stagii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pe Bune" serves as an internship platform designed to bridge the gap between academic requirements and the professional world, offering significant benefits to students. It provides a dedicated space for students to explore and apply for internship opportunities.</a:t>
            </a:r>
            <a:endParaRPr lang="ro-R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CDBFEF-66FD-AC8C-31F0-8540FBA817E7}"/>
              </a:ext>
            </a:extLst>
          </p:cNvPr>
          <p:cNvSpPr txBox="1"/>
          <p:nvPr/>
        </p:nvSpPr>
        <p:spPr>
          <a:xfrm>
            <a:off x="13035601" y="1878713"/>
            <a:ext cx="2241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linkedin.c</a:t>
            </a:r>
            <a:r>
              <a:rPr lang="en-US" dirty="0"/>
              <a:t>om</a:t>
            </a:r>
            <a:endParaRPr lang="ro-RO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D6474F64-5544-18ED-80B2-216F44BB5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89611" y="1461360"/>
            <a:ext cx="7388772" cy="36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B161D14-7FD7-ECEB-A081-A737CF703B37}"/>
              </a:ext>
            </a:extLst>
          </p:cNvPr>
          <p:cNvSpPr txBox="1"/>
          <p:nvPr/>
        </p:nvSpPr>
        <p:spPr>
          <a:xfrm>
            <a:off x="15923551" y="2975342"/>
            <a:ext cx="3960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20000"/>
              </a:lnSpc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o-RO" dirty="0"/>
              <a:t>LinkedIn is a professional networking platform designed primarily for career and business-oriented individuals. It allows users to create professional profiles, connect with colleagues, employers, and industry peers, and expand their professional network.</a:t>
            </a:r>
          </a:p>
        </p:txBody>
      </p:sp>
    </p:spTree>
    <p:extLst>
      <p:ext uri="{BB962C8B-B14F-4D97-AF65-F5344CB8AC3E}">
        <p14:creationId xmlns:p14="http://schemas.microsoft.com/office/powerpoint/2010/main" val="4201542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12208-6544-C72D-CA65-EEA5A855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D047AA-2D40-A868-F16F-EFDE67925C8F}"/>
              </a:ext>
            </a:extLst>
          </p:cNvPr>
          <p:cNvSpPr txBox="1"/>
          <p:nvPr/>
        </p:nvSpPr>
        <p:spPr>
          <a:xfrm>
            <a:off x="2259724" y="367126"/>
            <a:ext cx="7672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Comparison with other similar applications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D20A7A7-0E76-DBF8-C3D0-DF6342B4A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9109" y="1019658"/>
            <a:ext cx="7388772" cy="39113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aphic 8" descr="Internet outline">
            <a:extLst>
              <a:ext uri="{FF2B5EF4-FFF2-40B4-BE49-F238E27FC236}">
                <a16:creationId xmlns:a16="http://schemas.microsoft.com/office/drawing/2014/main" id="{D748702B-E33B-9CB4-4629-DF522D3AE926}"/>
              </a:ext>
            </a:extLst>
          </p:cNvPr>
          <p:cNvGrpSpPr/>
          <p:nvPr/>
        </p:nvGrpSpPr>
        <p:grpSpPr>
          <a:xfrm>
            <a:off x="505521" y="329936"/>
            <a:ext cx="1409755" cy="842658"/>
            <a:chOff x="505521" y="329936"/>
            <a:chExt cx="1409755" cy="842658"/>
          </a:xfrm>
          <a:solidFill>
            <a:srgbClr val="00206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4002892C-BC62-F193-AEFD-CDBB0FC7EF18}"/>
                </a:ext>
              </a:extLst>
            </p:cNvPr>
            <p:cNvSpPr/>
            <p:nvPr/>
          </p:nvSpPr>
          <p:spPr>
            <a:xfrm>
              <a:off x="766020" y="406575"/>
              <a:ext cx="888756" cy="551767"/>
            </a:xfrm>
            <a:custGeom>
              <a:avLst/>
              <a:gdLst>
                <a:gd name="connsiteX0" fmla="*/ 888696 w 888756"/>
                <a:gd name="connsiteY0" fmla="*/ 551498 h 551767"/>
                <a:gd name="connsiteX1" fmla="*/ 888756 w 888756"/>
                <a:gd name="connsiteY1" fmla="*/ 0 h 551767"/>
                <a:gd name="connsiteX2" fmla="*/ 0 w 888756"/>
                <a:gd name="connsiteY2" fmla="*/ 0 h 551767"/>
                <a:gd name="connsiteX3" fmla="*/ 0 w 888756"/>
                <a:gd name="connsiteY3" fmla="*/ 551767 h 551767"/>
                <a:gd name="connsiteX4" fmla="*/ 30645 w 888756"/>
                <a:gd name="connsiteY4" fmla="*/ 30645 h 551767"/>
                <a:gd name="connsiteX5" fmla="*/ 858111 w 888756"/>
                <a:gd name="connsiteY5" fmla="*/ 30645 h 551767"/>
                <a:gd name="connsiteX6" fmla="*/ 858051 w 888756"/>
                <a:gd name="connsiteY6" fmla="*/ 520860 h 551767"/>
                <a:gd name="connsiteX7" fmla="*/ 30645 w 888756"/>
                <a:gd name="connsiteY7" fmla="*/ 521111 h 55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8756" h="551767">
                  <a:moveTo>
                    <a:pt x="888696" y="551498"/>
                  </a:moveTo>
                  <a:lnTo>
                    <a:pt x="888756" y="0"/>
                  </a:lnTo>
                  <a:lnTo>
                    <a:pt x="0" y="0"/>
                  </a:lnTo>
                  <a:lnTo>
                    <a:pt x="0" y="551767"/>
                  </a:lnTo>
                  <a:close/>
                  <a:moveTo>
                    <a:pt x="30645" y="30645"/>
                  </a:moveTo>
                  <a:lnTo>
                    <a:pt x="858111" y="30645"/>
                  </a:lnTo>
                  <a:lnTo>
                    <a:pt x="858051" y="520860"/>
                  </a:lnTo>
                  <a:lnTo>
                    <a:pt x="30645" y="521111"/>
                  </a:ln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3794FD63-2322-09F8-8DC0-9CB2AE050D30}"/>
                </a:ext>
              </a:extLst>
            </p:cNvPr>
            <p:cNvSpPr/>
            <p:nvPr/>
          </p:nvSpPr>
          <p:spPr>
            <a:xfrm>
              <a:off x="689407" y="329936"/>
              <a:ext cx="1041982" cy="689722"/>
            </a:xfrm>
            <a:custGeom>
              <a:avLst/>
              <a:gdLst>
                <a:gd name="connsiteX0" fmla="*/ 30645 w 1041982"/>
                <a:gd name="connsiteY0" fmla="*/ 61290 h 689722"/>
                <a:gd name="connsiteX1" fmla="*/ 61290 w 1041982"/>
                <a:gd name="connsiteY1" fmla="*/ 30645 h 689722"/>
                <a:gd name="connsiteX2" fmla="*/ 980692 w 1041982"/>
                <a:gd name="connsiteY2" fmla="*/ 30645 h 689722"/>
                <a:gd name="connsiteX3" fmla="*/ 1011337 w 1041982"/>
                <a:gd name="connsiteY3" fmla="*/ 61290 h 689722"/>
                <a:gd name="connsiteX4" fmla="*/ 1011337 w 1041982"/>
                <a:gd name="connsiteY4" fmla="*/ 689723 h 689722"/>
                <a:gd name="connsiteX5" fmla="*/ 1041982 w 1041982"/>
                <a:gd name="connsiteY5" fmla="*/ 689723 h 689722"/>
                <a:gd name="connsiteX6" fmla="*/ 1041982 w 1041982"/>
                <a:gd name="connsiteY6" fmla="*/ 61290 h 689722"/>
                <a:gd name="connsiteX7" fmla="*/ 980692 w 1041982"/>
                <a:gd name="connsiteY7" fmla="*/ 0 h 689722"/>
                <a:gd name="connsiteX8" fmla="*/ 61290 w 1041982"/>
                <a:gd name="connsiteY8" fmla="*/ 0 h 689722"/>
                <a:gd name="connsiteX9" fmla="*/ 0 w 1041982"/>
                <a:gd name="connsiteY9" fmla="*/ 61290 h 689722"/>
                <a:gd name="connsiteX10" fmla="*/ 0 w 1041982"/>
                <a:gd name="connsiteY10" fmla="*/ 689723 h 689722"/>
                <a:gd name="connsiteX11" fmla="*/ 30645 w 1041982"/>
                <a:gd name="connsiteY11" fmla="*/ 689723 h 68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1982" h="689722">
                  <a:moveTo>
                    <a:pt x="30645" y="61290"/>
                  </a:moveTo>
                  <a:cubicBezTo>
                    <a:pt x="30665" y="44374"/>
                    <a:pt x="44374" y="30665"/>
                    <a:pt x="61290" y="30645"/>
                  </a:cubicBezTo>
                  <a:lnTo>
                    <a:pt x="980692" y="30645"/>
                  </a:lnTo>
                  <a:cubicBezTo>
                    <a:pt x="997608" y="30667"/>
                    <a:pt x="1011316" y="44374"/>
                    <a:pt x="1011337" y="61290"/>
                  </a:cubicBezTo>
                  <a:lnTo>
                    <a:pt x="1011337" y="689723"/>
                  </a:lnTo>
                  <a:lnTo>
                    <a:pt x="1041982" y="689723"/>
                  </a:lnTo>
                  <a:lnTo>
                    <a:pt x="1041982" y="61290"/>
                  </a:lnTo>
                  <a:cubicBezTo>
                    <a:pt x="1041947" y="27455"/>
                    <a:pt x="1014527" y="35"/>
                    <a:pt x="980692" y="0"/>
                  </a:cubicBezTo>
                  <a:lnTo>
                    <a:pt x="61290" y="0"/>
                  </a:lnTo>
                  <a:cubicBezTo>
                    <a:pt x="27455" y="35"/>
                    <a:pt x="35" y="27455"/>
                    <a:pt x="0" y="61290"/>
                  </a:cubicBezTo>
                  <a:lnTo>
                    <a:pt x="0" y="689723"/>
                  </a:lnTo>
                  <a:lnTo>
                    <a:pt x="30645" y="689723"/>
                  </a:ln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849860D7-608D-F6AE-2141-D42125BFA208}"/>
                </a:ext>
              </a:extLst>
            </p:cNvPr>
            <p:cNvSpPr/>
            <p:nvPr/>
          </p:nvSpPr>
          <p:spPr>
            <a:xfrm>
              <a:off x="505521" y="1065336"/>
              <a:ext cx="1409755" cy="107258"/>
            </a:xfrm>
            <a:custGeom>
              <a:avLst/>
              <a:gdLst>
                <a:gd name="connsiteX0" fmla="*/ 781498 w 1409755"/>
                <a:gd name="connsiteY0" fmla="*/ 0 h 107258"/>
                <a:gd name="connsiteX1" fmla="*/ 781498 w 1409755"/>
                <a:gd name="connsiteY1" fmla="*/ 30645 h 107258"/>
                <a:gd name="connsiteX2" fmla="*/ 628258 w 1409755"/>
                <a:gd name="connsiteY2" fmla="*/ 30645 h 107258"/>
                <a:gd name="connsiteX3" fmla="*/ 628258 w 1409755"/>
                <a:gd name="connsiteY3" fmla="*/ 0 h 107258"/>
                <a:gd name="connsiteX4" fmla="*/ 0 w 1409755"/>
                <a:gd name="connsiteY4" fmla="*/ 0 h 107258"/>
                <a:gd name="connsiteX5" fmla="*/ 0 w 1409755"/>
                <a:gd name="connsiteY5" fmla="*/ 30630 h 107258"/>
                <a:gd name="connsiteX6" fmla="*/ 76613 w 1409755"/>
                <a:gd name="connsiteY6" fmla="*/ 107258 h 107258"/>
                <a:gd name="connsiteX7" fmla="*/ 1333127 w 1409755"/>
                <a:gd name="connsiteY7" fmla="*/ 107258 h 107258"/>
                <a:gd name="connsiteX8" fmla="*/ 1409756 w 1409755"/>
                <a:gd name="connsiteY8" fmla="*/ 30630 h 107258"/>
                <a:gd name="connsiteX9" fmla="*/ 1409756 w 1409755"/>
                <a:gd name="connsiteY9" fmla="*/ 0 h 107258"/>
                <a:gd name="connsiteX10" fmla="*/ 1333127 w 1409755"/>
                <a:gd name="connsiteY10" fmla="*/ 76613 h 107258"/>
                <a:gd name="connsiteX11" fmla="*/ 76613 w 1409755"/>
                <a:gd name="connsiteY11" fmla="*/ 76613 h 107258"/>
                <a:gd name="connsiteX12" fmla="*/ 30645 w 1409755"/>
                <a:gd name="connsiteY12" fmla="*/ 30645 h 107258"/>
                <a:gd name="connsiteX13" fmla="*/ 597613 w 1409755"/>
                <a:gd name="connsiteY13" fmla="*/ 30645 h 107258"/>
                <a:gd name="connsiteX14" fmla="*/ 626212 w 1409755"/>
                <a:gd name="connsiteY14" fmla="*/ 61290 h 107258"/>
                <a:gd name="connsiteX15" fmla="*/ 628258 w 1409755"/>
                <a:gd name="connsiteY15" fmla="*/ 61290 h 107258"/>
                <a:gd name="connsiteX16" fmla="*/ 781498 w 1409755"/>
                <a:gd name="connsiteY16" fmla="*/ 61290 h 107258"/>
                <a:gd name="connsiteX17" fmla="*/ 812143 w 1409755"/>
                <a:gd name="connsiteY17" fmla="*/ 32691 h 107258"/>
                <a:gd name="connsiteX18" fmla="*/ 812143 w 1409755"/>
                <a:gd name="connsiteY18" fmla="*/ 30645 h 107258"/>
                <a:gd name="connsiteX19" fmla="*/ 1379110 w 1409755"/>
                <a:gd name="connsiteY19" fmla="*/ 30645 h 107258"/>
                <a:gd name="connsiteX20" fmla="*/ 1333127 w 1409755"/>
                <a:gd name="connsiteY20" fmla="*/ 76613 h 10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09755" h="107258">
                  <a:moveTo>
                    <a:pt x="781498" y="0"/>
                  </a:moveTo>
                  <a:lnTo>
                    <a:pt x="781498" y="30645"/>
                  </a:lnTo>
                  <a:lnTo>
                    <a:pt x="628258" y="30645"/>
                  </a:lnTo>
                  <a:lnTo>
                    <a:pt x="628258" y="0"/>
                  </a:lnTo>
                  <a:lnTo>
                    <a:pt x="0" y="0"/>
                  </a:lnTo>
                  <a:lnTo>
                    <a:pt x="0" y="30630"/>
                  </a:lnTo>
                  <a:cubicBezTo>
                    <a:pt x="45" y="72926"/>
                    <a:pt x="34317" y="107205"/>
                    <a:pt x="76613" y="107258"/>
                  </a:cubicBezTo>
                  <a:lnTo>
                    <a:pt x="1333127" y="107258"/>
                  </a:lnTo>
                  <a:cubicBezTo>
                    <a:pt x="1375428" y="107212"/>
                    <a:pt x="1409710" y="72931"/>
                    <a:pt x="1409756" y="30630"/>
                  </a:cubicBezTo>
                  <a:lnTo>
                    <a:pt x="1409756" y="0"/>
                  </a:lnTo>
                  <a:close/>
                  <a:moveTo>
                    <a:pt x="1333127" y="76613"/>
                  </a:moveTo>
                  <a:lnTo>
                    <a:pt x="76613" y="76613"/>
                  </a:lnTo>
                  <a:cubicBezTo>
                    <a:pt x="51239" y="76581"/>
                    <a:pt x="30678" y="56019"/>
                    <a:pt x="30645" y="30645"/>
                  </a:cubicBezTo>
                  <a:lnTo>
                    <a:pt x="597613" y="30645"/>
                  </a:lnTo>
                  <a:cubicBezTo>
                    <a:pt x="597047" y="47005"/>
                    <a:pt x="609852" y="60725"/>
                    <a:pt x="626212" y="61290"/>
                  </a:cubicBezTo>
                  <a:cubicBezTo>
                    <a:pt x="626894" y="61313"/>
                    <a:pt x="627576" y="61313"/>
                    <a:pt x="628258" y="61290"/>
                  </a:cubicBezTo>
                  <a:lnTo>
                    <a:pt x="781498" y="61290"/>
                  </a:lnTo>
                  <a:cubicBezTo>
                    <a:pt x="797858" y="61856"/>
                    <a:pt x="811578" y="49051"/>
                    <a:pt x="812143" y="32691"/>
                  </a:cubicBezTo>
                  <a:cubicBezTo>
                    <a:pt x="812166" y="32009"/>
                    <a:pt x="812166" y="31327"/>
                    <a:pt x="812143" y="30645"/>
                  </a:cubicBezTo>
                  <a:lnTo>
                    <a:pt x="1379110" y="30645"/>
                  </a:lnTo>
                  <a:cubicBezTo>
                    <a:pt x="1379071" y="56022"/>
                    <a:pt x="1358503" y="76581"/>
                    <a:pt x="1333127" y="76613"/>
                  </a:cubicBez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CA0D9B4D-030A-A69A-6B68-EC6A240A80B6}"/>
                </a:ext>
              </a:extLst>
            </p:cNvPr>
            <p:cNvSpPr/>
            <p:nvPr/>
          </p:nvSpPr>
          <p:spPr>
            <a:xfrm>
              <a:off x="1011167" y="483368"/>
              <a:ext cx="398387" cy="398387"/>
            </a:xfrm>
            <a:custGeom>
              <a:avLst/>
              <a:gdLst>
                <a:gd name="connsiteX0" fmla="*/ 199194 w 398387"/>
                <a:gd name="connsiteY0" fmla="*/ 0 h 398387"/>
                <a:gd name="connsiteX1" fmla="*/ 0 w 398387"/>
                <a:gd name="connsiteY1" fmla="*/ 199194 h 398387"/>
                <a:gd name="connsiteX2" fmla="*/ 199194 w 398387"/>
                <a:gd name="connsiteY2" fmla="*/ 398388 h 398387"/>
                <a:gd name="connsiteX3" fmla="*/ 398388 w 398387"/>
                <a:gd name="connsiteY3" fmla="*/ 199194 h 398387"/>
                <a:gd name="connsiteX4" fmla="*/ 199194 w 398387"/>
                <a:gd name="connsiteY4" fmla="*/ 0 h 398387"/>
                <a:gd name="connsiteX5" fmla="*/ 366966 w 398387"/>
                <a:gd name="connsiteY5" fmla="*/ 183871 h 398387"/>
                <a:gd name="connsiteX6" fmla="*/ 313055 w 398387"/>
                <a:gd name="connsiteY6" fmla="*/ 183871 h 398387"/>
                <a:gd name="connsiteX7" fmla="*/ 249068 w 398387"/>
                <a:gd name="connsiteY7" fmla="*/ 38187 h 398387"/>
                <a:gd name="connsiteX8" fmla="*/ 366966 w 398387"/>
                <a:gd name="connsiteY8" fmla="*/ 183871 h 398387"/>
                <a:gd name="connsiteX9" fmla="*/ 183871 w 398387"/>
                <a:gd name="connsiteY9" fmla="*/ 49425 h 398387"/>
                <a:gd name="connsiteX10" fmla="*/ 183871 w 398387"/>
                <a:gd name="connsiteY10" fmla="*/ 183871 h 398387"/>
                <a:gd name="connsiteX11" fmla="*/ 116057 w 398387"/>
                <a:gd name="connsiteY11" fmla="*/ 183871 h 398387"/>
                <a:gd name="connsiteX12" fmla="*/ 183871 w 398387"/>
                <a:gd name="connsiteY12" fmla="*/ 49425 h 398387"/>
                <a:gd name="connsiteX13" fmla="*/ 183871 w 398387"/>
                <a:gd name="connsiteY13" fmla="*/ 214517 h 398387"/>
                <a:gd name="connsiteX14" fmla="*/ 183871 w 398387"/>
                <a:gd name="connsiteY14" fmla="*/ 348979 h 398387"/>
                <a:gd name="connsiteX15" fmla="*/ 116069 w 398387"/>
                <a:gd name="connsiteY15" fmla="*/ 214517 h 398387"/>
                <a:gd name="connsiteX16" fmla="*/ 214517 w 398387"/>
                <a:gd name="connsiteY16" fmla="*/ 348953 h 398387"/>
                <a:gd name="connsiteX17" fmla="*/ 214517 w 398387"/>
                <a:gd name="connsiteY17" fmla="*/ 214517 h 398387"/>
                <a:gd name="connsiteX18" fmla="*/ 282319 w 398387"/>
                <a:gd name="connsiteY18" fmla="*/ 214517 h 398387"/>
                <a:gd name="connsiteX19" fmla="*/ 214517 w 398387"/>
                <a:gd name="connsiteY19" fmla="*/ 348953 h 398387"/>
                <a:gd name="connsiteX20" fmla="*/ 214517 w 398387"/>
                <a:gd name="connsiteY20" fmla="*/ 183871 h 398387"/>
                <a:gd name="connsiteX21" fmla="*/ 214517 w 398387"/>
                <a:gd name="connsiteY21" fmla="*/ 49448 h 398387"/>
                <a:gd name="connsiteX22" fmla="*/ 282319 w 398387"/>
                <a:gd name="connsiteY22" fmla="*/ 183871 h 398387"/>
                <a:gd name="connsiteX23" fmla="*/ 149038 w 398387"/>
                <a:gd name="connsiteY23" fmla="*/ 38270 h 398387"/>
                <a:gd name="connsiteX24" fmla="*/ 85336 w 398387"/>
                <a:gd name="connsiteY24" fmla="*/ 183871 h 398387"/>
                <a:gd name="connsiteX25" fmla="*/ 31422 w 398387"/>
                <a:gd name="connsiteY25" fmla="*/ 183871 h 398387"/>
                <a:gd name="connsiteX26" fmla="*/ 149038 w 398387"/>
                <a:gd name="connsiteY26" fmla="*/ 38270 h 398387"/>
                <a:gd name="connsiteX27" fmla="*/ 31422 w 398387"/>
                <a:gd name="connsiteY27" fmla="*/ 214517 h 398387"/>
                <a:gd name="connsiteX28" fmla="*/ 85333 w 398387"/>
                <a:gd name="connsiteY28" fmla="*/ 214517 h 398387"/>
                <a:gd name="connsiteX29" fmla="*/ 149265 w 398387"/>
                <a:gd name="connsiteY29" fmla="*/ 360186 h 398387"/>
                <a:gd name="connsiteX30" fmla="*/ 31422 w 398387"/>
                <a:gd name="connsiteY30" fmla="*/ 214517 h 398387"/>
                <a:gd name="connsiteX31" fmla="*/ 249083 w 398387"/>
                <a:gd name="connsiteY31" fmla="*/ 360198 h 398387"/>
                <a:gd name="connsiteX32" fmla="*/ 313055 w 398387"/>
                <a:gd name="connsiteY32" fmla="*/ 214517 h 398387"/>
                <a:gd name="connsiteX33" fmla="*/ 366966 w 398387"/>
                <a:gd name="connsiteY33" fmla="*/ 214517 h 398387"/>
                <a:gd name="connsiteX34" fmla="*/ 249083 w 398387"/>
                <a:gd name="connsiteY34" fmla="*/ 360198 h 39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98387" h="398387">
                  <a:moveTo>
                    <a:pt x="199194" y="0"/>
                  </a:moveTo>
                  <a:cubicBezTo>
                    <a:pt x="89182" y="0"/>
                    <a:pt x="0" y="89182"/>
                    <a:pt x="0" y="199194"/>
                  </a:cubicBezTo>
                  <a:cubicBezTo>
                    <a:pt x="0" y="309206"/>
                    <a:pt x="89182" y="398388"/>
                    <a:pt x="199194" y="398388"/>
                  </a:cubicBezTo>
                  <a:cubicBezTo>
                    <a:pt x="309206" y="398388"/>
                    <a:pt x="398388" y="309206"/>
                    <a:pt x="398388" y="199194"/>
                  </a:cubicBezTo>
                  <a:cubicBezTo>
                    <a:pt x="398262" y="89234"/>
                    <a:pt x="309154" y="126"/>
                    <a:pt x="199194" y="0"/>
                  </a:cubicBezTo>
                  <a:close/>
                  <a:moveTo>
                    <a:pt x="366966" y="183871"/>
                  </a:moveTo>
                  <a:lnTo>
                    <a:pt x="313055" y="183871"/>
                  </a:lnTo>
                  <a:cubicBezTo>
                    <a:pt x="310936" y="128961"/>
                    <a:pt x="288068" y="76898"/>
                    <a:pt x="249068" y="38187"/>
                  </a:cubicBezTo>
                  <a:cubicBezTo>
                    <a:pt x="314176" y="58491"/>
                    <a:pt x="360684" y="115960"/>
                    <a:pt x="366966" y="183871"/>
                  </a:cubicBezTo>
                  <a:close/>
                  <a:moveTo>
                    <a:pt x="183871" y="49425"/>
                  </a:moveTo>
                  <a:lnTo>
                    <a:pt x="183871" y="183871"/>
                  </a:lnTo>
                  <a:lnTo>
                    <a:pt x="116057" y="183871"/>
                  </a:lnTo>
                  <a:cubicBezTo>
                    <a:pt x="119947" y="126087"/>
                    <a:pt x="145615" y="75694"/>
                    <a:pt x="183871" y="49425"/>
                  </a:cubicBezTo>
                  <a:close/>
                  <a:moveTo>
                    <a:pt x="183871" y="214517"/>
                  </a:moveTo>
                  <a:lnTo>
                    <a:pt x="183871" y="348979"/>
                  </a:lnTo>
                  <a:cubicBezTo>
                    <a:pt x="145658" y="322668"/>
                    <a:pt x="119976" y="272107"/>
                    <a:pt x="116069" y="214517"/>
                  </a:cubicBezTo>
                  <a:close/>
                  <a:moveTo>
                    <a:pt x="214517" y="348953"/>
                  </a:moveTo>
                  <a:lnTo>
                    <a:pt x="214517" y="214517"/>
                  </a:lnTo>
                  <a:lnTo>
                    <a:pt x="282319" y="214517"/>
                  </a:lnTo>
                  <a:cubicBezTo>
                    <a:pt x="278412" y="272044"/>
                    <a:pt x="252711" y="322628"/>
                    <a:pt x="214517" y="348953"/>
                  </a:cubicBezTo>
                  <a:close/>
                  <a:moveTo>
                    <a:pt x="214517" y="183871"/>
                  </a:moveTo>
                  <a:lnTo>
                    <a:pt x="214517" y="49448"/>
                  </a:lnTo>
                  <a:cubicBezTo>
                    <a:pt x="252707" y="75772"/>
                    <a:pt x="278412" y="126347"/>
                    <a:pt x="282319" y="183871"/>
                  </a:cubicBezTo>
                  <a:close/>
                  <a:moveTo>
                    <a:pt x="149038" y="38270"/>
                  </a:moveTo>
                  <a:cubicBezTo>
                    <a:pt x="110108" y="76969"/>
                    <a:pt x="87337" y="129015"/>
                    <a:pt x="85336" y="183871"/>
                  </a:cubicBezTo>
                  <a:lnTo>
                    <a:pt x="31422" y="183871"/>
                  </a:lnTo>
                  <a:cubicBezTo>
                    <a:pt x="37694" y="116066"/>
                    <a:pt x="84068" y="58658"/>
                    <a:pt x="149038" y="38270"/>
                  </a:cubicBezTo>
                  <a:close/>
                  <a:moveTo>
                    <a:pt x="31422" y="214517"/>
                  </a:moveTo>
                  <a:lnTo>
                    <a:pt x="85333" y="214517"/>
                  </a:lnTo>
                  <a:cubicBezTo>
                    <a:pt x="87426" y="269418"/>
                    <a:pt x="110275" y="321478"/>
                    <a:pt x="149265" y="360186"/>
                  </a:cubicBezTo>
                  <a:cubicBezTo>
                    <a:pt x="84184" y="339863"/>
                    <a:pt x="37703" y="282407"/>
                    <a:pt x="31422" y="214517"/>
                  </a:cubicBezTo>
                  <a:close/>
                  <a:moveTo>
                    <a:pt x="249083" y="360198"/>
                  </a:moveTo>
                  <a:cubicBezTo>
                    <a:pt x="288076" y="321484"/>
                    <a:pt x="310937" y="269424"/>
                    <a:pt x="313055" y="214517"/>
                  </a:cubicBezTo>
                  <a:lnTo>
                    <a:pt x="366966" y="214517"/>
                  </a:lnTo>
                  <a:cubicBezTo>
                    <a:pt x="360684" y="282422"/>
                    <a:pt x="314184" y="339888"/>
                    <a:pt x="249083" y="360198"/>
                  </a:cubicBezTo>
                  <a:close/>
                </a:path>
              </a:pathLst>
            </a:custGeom>
            <a:solidFill>
              <a:srgbClr val="FF8C0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3BEFFDD-8A71-23F4-2B2C-70531C93DCDD}"/>
              </a:ext>
            </a:extLst>
          </p:cNvPr>
          <p:cNvSpPr txBox="1"/>
          <p:nvPr/>
        </p:nvSpPr>
        <p:spPr>
          <a:xfrm>
            <a:off x="-7922199" y="3070124"/>
            <a:ext cx="3955714" cy="2722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website "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Stagii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pe Bune" serves as an internship platform designed to bridge the gap between academic requirements and the professional world, offering significant benefits to students. It provides a dedicated space for students to explore and apply for internship opportunities.</a:t>
            </a:r>
            <a:endParaRPr lang="ro-R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B5769A-6482-DC68-599F-A052D97F79D0}"/>
              </a:ext>
            </a:extLst>
          </p:cNvPr>
          <p:cNvSpPr/>
          <p:nvPr/>
        </p:nvSpPr>
        <p:spPr>
          <a:xfrm rot="10800000">
            <a:off x="8337272" y="1740669"/>
            <a:ext cx="3190009" cy="7377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C00">
                  <a:lumMod val="100000"/>
                </a:srgbClr>
              </a:gs>
              <a:gs pos="100000">
                <a:srgbClr val="0056A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CC33D-3B9E-E7E2-B87A-A0873B24B8C4}"/>
              </a:ext>
            </a:extLst>
          </p:cNvPr>
          <p:cNvSpPr txBox="1"/>
          <p:nvPr/>
        </p:nvSpPr>
        <p:spPr>
          <a:xfrm>
            <a:off x="-4207950" y="1890526"/>
            <a:ext cx="25622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stagiipebune.ro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6D7D5E-A9EB-219A-1F10-DA8262CE46F2}"/>
              </a:ext>
            </a:extLst>
          </p:cNvPr>
          <p:cNvSpPr txBox="1"/>
          <p:nvPr/>
        </p:nvSpPr>
        <p:spPr>
          <a:xfrm>
            <a:off x="8966521" y="1878713"/>
            <a:ext cx="2241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linkedin.c</a:t>
            </a:r>
            <a:r>
              <a:rPr lang="en-US" dirty="0"/>
              <a:t>om</a:t>
            </a:r>
            <a:endParaRPr lang="ro-RO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E13B0CE-384D-5ECF-217E-8A1E40F5F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79" y="1461360"/>
            <a:ext cx="7388772" cy="36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FD6768-74BA-061C-39D2-34053C538C41}"/>
              </a:ext>
            </a:extLst>
          </p:cNvPr>
          <p:cNvSpPr txBox="1"/>
          <p:nvPr/>
        </p:nvSpPr>
        <p:spPr>
          <a:xfrm>
            <a:off x="7952276" y="2975342"/>
            <a:ext cx="3960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20000"/>
              </a:lnSpc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o-RO" dirty="0"/>
              <a:t>LinkedIn is a professional networking platform designed primarily for career and business-oriented individuals. It allows users to create professional profiles, connect with colleagues, employers, and industry peers, and expand their professional network.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54C5C3-D53E-7826-39C6-86E37580CA19}"/>
              </a:ext>
            </a:extLst>
          </p:cNvPr>
          <p:cNvSpPr txBox="1"/>
          <p:nvPr/>
        </p:nvSpPr>
        <p:spPr>
          <a:xfrm>
            <a:off x="-5220254" y="2737725"/>
            <a:ext cx="4101203" cy="30549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20000"/>
              </a:lnSpc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o-RO" dirty="0"/>
              <a:t>InternStud is a similar application with the same goal as job platforms, but the differences lie in functionalities tailored for students and companies. It has unique features compared to a basic job board, including an integrated Interview Simulator for practice and a community section for sharing company reviews after completing an experience.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710E9D-67F4-D317-E0A5-0459BB66BD1B}"/>
              </a:ext>
            </a:extLst>
          </p:cNvPr>
          <p:cNvSpPr txBox="1"/>
          <p:nvPr/>
        </p:nvSpPr>
        <p:spPr>
          <a:xfrm>
            <a:off x="-3475945" y="1878713"/>
            <a:ext cx="2241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insternstud.ro</a:t>
            </a:r>
            <a:endParaRPr lang="ro-RO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3314018-7181-0D0F-DA7A-78CF9B0D7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6576" y="1175342"/>
            <a:ext cx="7388772" cy="36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006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6455A-4461-228D-B18F-A57DC0D52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7592A7-8E2A-9982-5816-391C976EC97B}"/>
              </a:ext>
            </a:extLst>
          </p:cNvPr>
          <p:cNvSpPr txBox="1"/>
          <p:nvPr/>
        </p:nvSpPr>
        <p:spPr>
          <a:xfrm>
            <a:off x="2259724" y="367126"/>
            <a:ext cx="7672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Comparison with other similar applications</a:t>
            </a:r>
          </a:p>
        </p:txBody>
      </p:sp>
      <p:grpSp>
        <p:nvGrpSpPr>
          <p:cNvPr id="10" name="Graphic 8" descr="Internet outline">
            <a:extLst>
              <a:ext uri="{FF2B5EF4-FFF2-40B4-BE49-F238E27FC236}">
                <a16:creationId xmlns:a16="http://schemas.microsoft.com/office/drawing/2014/main" id="{9430D877-4314-33C5-8F45-396749FF3FFF}"/>
              </a:ext>
            </a:extLst>
          </p:cNvPr>
          <p:cNvGrpSpPr/>
          <p:nvPr/>
        </p:nvGrpSpPr>
        <p:grpSpPr>
          <a:xfrm>
            <a:off x="505521" y="329936"/>
            <a:ext cx="1409755" cy="842658"/>
            <a:chOff x="505521" y="329936"/>
            <a:chExt cx="1409755" cy="842658"/>
          </a:xfrm>
          <a:solidFill>
            <a:srgbClr val="002060"/>
          </a:solidFill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CD71EAE5-CFD2-1BE8-D5AC-363C50820169}"/>
                </a:ext>
              </a:extLst>
            </p:cNvPr>
            <p:cNvSpPr/>
            <p:nvPr/>
          </p:nvSpPr>
          <p:spPr>
            <a:xfrm>
              <a:off x="766020" y="406575"/>
              <a:ext cx="888756" cy="551767"/>
            </a:xfrm>
            <a:custGeom>
              <a:avLst/>
              <a:gdLst>
                <a:gd name="connsiteX0" fmla="*/ 888696 w 888756"/>
                <a:gd name="connsiteY0" fmla="*/ 551498 h 551767"/>
                <a:gd name="connsiteX1" fmla="*/ 888756 w 888756"/>
                <a:gd name="connsiteY1" fmla="*/ 0 h 551767"/>
                <a:gd name="connsiteX2" fmla="*/ 0 w 888756"/>
                <a:gd name="connsiteY2" fmla="*/ 0 h 551767"/>
                <a:gd name="connsiteX3" fmla="*/ 0 w 888756"/>
                <a:gd name="connsiteY3" fmla="*/ 551767 h 551767"/>
                <a:gd name="connsiteX4" fmla="*/ 30645 w 888756"/>
                <a:gd name="connsiteY4" fmla="*/ 30645 h 551767"/>
                <a:gd name="connsiteX5" fmla="*/ 858111 w 888756"/>
                <a:gd name="connsiteY5" fmla="*/ 30645 h 551767"/>
                <a:gd name="connsiteX6" fmla="*/ 858051 w 888756"/>
                <a:gd name="connsiteY6" fmla="*/ 520860 h 551767"/>
                <a:gd name="connsiteX7" fmla="*/ 30645 w 888756"/>
                <a:gd name="connsiteY7" fmla="*/ 521111 h 55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8756" h="551767">
                  <a:moveTo>
                    <a:pt x="888696" y="551498"/>
                  </a:moveTo>
                  <a:lnTo>
                    <a:pt x="888756" y="0"/>
                  </a:lnTo>
                  <a:lnTo>
                    <a:pt x="0" y="0"/>
                  </a:lnTo>
                  <a:lnTo>
                    <a:pt x="0" y="551767"/>
                  </a:lnTo>
                  <a:close/>
                  <a:moveTo>
                    <a:pt x="30645" y="30645"/>
                  </a:moveTo>
                  <a:lnTo>
                    <a:pt x="858111" y="30645"/>
                  </a:lnTo>
                  <a:lnTo>
                    <a:pt x="858051" y="520860"/>
                  </a:lnTo>
                  <a:lnTo>
                    <a:pt x="30645" y="521111"/>
                  </a:ln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02E5F391-433C-84A6-EC52-84208D413E0C}"/>
                </a:ext>
              </a:extLst>
            </p:cNvPr>
            <p:cNvSpPr/>
            <p:nvPr/>
          </p:nvSpPr>
          <p:spPr>
            <a:xfrm>
              <a:off x="689407" y="329936"/>
              <a:ext cx="1041982" cy="689722"/>
            </a:xfrm>
            <a:custGeom>
              <a:avLst/>
              <a:gdLst>
                <a:gd name="connsiteX0" fmla="*/ 30645 w 1041982"/>
                <a:gd name="connsiteY0" fmla="*/ 61290 h 689722"/>
                <a:gd name="connsiteX1" fmla="*/ 61290 w 1041982"/>
                <a:gd name="connsiteY1" fmla="*/ 30645 h 689722"/>
                <a:gd name="connsiteX2" fmla="*/ 980692 w 1041982"/>
                <a:gd name="connsiteY2" fmla="*/ 30645 h 689722"/>
                <a:gd name="connsiteX3" fmla="*/ 1011337 w 1041982"/>
                <a:gd name="connsiteY3" fmla="*/ 61290 h 689722"/>
                <a:gd name="connsiteX4" fmla="*/ 1011337 w 1041982"/>
                <a:gd name="connsiteY4" fmla="*/ 689723 h 689722"/>
                <a:gd name="connsiteX5" fmla="*/ 1041982 w 1041982"/>
                <a:gd name="connsiteY5" fmla="*/ 689723 h 689722"/>
                <a:gd name="connsiteX6" fmla="*/ 1041982 w 1041982"/>
                <a:gd name="connsiteY6" fmla="*/ 61290 h 689722"/>
                <a:gd name="connsiteX7" fmla="*/ 980692 w 1041982"/>
                <a:gd name="connsiteY7" fmla="*/ 0 h 689722"/>
                <a:gd name="connsiteX8" fmla="*/ 61290 w 1041982"/>
                <a:gd name="connsiteY8" fmla="*/ 0 h 689722"/>
                <a:gd name="connsiteX9" fmla="*/ 0 w 1041982"/>
                <a:gd name="connsiteY9" fmla="*/ 61290 h 689722"/>
                <a:gd name="connsiteX10" fmla="*/ 0 w 1041982"/>
                <a:gd name="connsiteY10" fmla="*/ 689723 h 689722"/>
                <a:gd name="connsiteX11" fmla="*/ 30645 w 1041982"/>
                <a:gd name="connsiteY11" fmla="*/ 689723 h 68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1982" h="689722">
                  <a:moveTo>
                    <a:pt x="30645" y="61290"/>
                  </a:moveTo>
                  <a:cubicBezTo>
                    <a:pt x="30665" y="44374"/>
                    <a:pt x="44374" y="30665"/>
                    <a:pt x="61290" y="30645"/>
                  </a:cubicBezTo>
                  <a:lnTo>
                    <a:pt x="980692" y="30645"/>
                  </a:lnTo>
                  <a:cubicBezTo>
                    <a:pt x="997608" y="30667"/>
                    <a:pt x="1011316" y="44374"/>
                    <a:pt x="1011337" y="61290"/>
                  </a:cubicBezTo>
                  <a:lnTo>
                    <a:pt x="1011337" y="689723"/>
                  </a:lnTo>
                  <a:lnTo>
                    <a:pt x="1041982" y="689723"/>
                  </a:lnTo>
                  <a:lnTo>
                    <a:pt x="1041982" y="61290"/>
                  </a:lnTo>
                  <a:cubicBezTo>
                    <a:pt x="1041947" y="27455"/>
                    <a:pt x="1014527" y="35"/>
                    <a:pt x="980692" y="0"/>
                  </a:cubicBezTo>
                  <a:lnTo>
                    <a:pt x="61290" y="0"/>
                  </a:lnTo>
                  <a:cubicBezTo>
                    <a:pt x="27455" y="35"/>
                    <a:pt x="35" y="27455"/>
                    <a:pt x="0" y="61290"/>
                  </a:cubicBezTo>
                  <a:lnTo>
                    <a:pt x="0" y="689723"/>
                  </a:lnTo>
                  <a:lnTo>
                    <a:pt x="30645" y="689723"/>
                  </a:ln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2E953BC0-D543-1B1E-9630-61ABE6348AD3}"/>
                </a:ext>
              </a:extLst>
            </p:cNvPr>
            <p:cNvSpPr/>
            <p:nvPr/>
          </p:nvSpPr>
          <p:spPr>
            <a:xfrm>
              <a:off x="505521" y="1065336"/>
              <a:ext cx="1409755" cy="107258"/>
            </a:xfrm>
            <a:custGeom>
              <a:avLst/>
              <a:gdLst>
                <a:gd name="connsiteX0" fmla="*/ 781498 w 1409755"/>
                <a:gd name="connsiteY0" fmla="*/ 0 h 107258"/>
                <a:gd name="connsiteX1" fmla="*/ 781498 w 1409755"/>
                <a:gd name="connsiteY1" fmla="*/ 30645 h 107258"/>
                <a:gd name="connsiteX2" fmla="*/ 628258 w 1409755"/>
                <a:gd name="connsiteY2" fmla="*/ 30645 h 107258"/>
                <a:gd name="connsiteX3" fmla="*/ 628258 w 1409755"/>
                <a:gd name="connsiteY3" fmla="*/ 0 h 107258"/>
                <a:gd name="connsiteX4" fmla="*/ 0 w 1409755"/>
                <a:gd name="connsiteY4" fmla="*/ 0 h 107258"/>
                <a:gd name="connsiteX5" fmla="*/ 0 w 1409755"/>
                <a:gd name="connsiteY5" fmla="*/ 30630 h 107258"/>
                <a:gd name="connsiteX6" fmla="*/ 76613 w 1409755"/>
                <a:gd name="connsiteY6" fmla="*/ 107258 h 107258"/>
                <a:gd name="connsiteX7" fmla="*/ 1333127 w 1409755"/>
                <a:gd name="connsiteY7" fmla="*/ 107258 h 107258"/>
                <a:gd name="connsiteX8" fmla="*/ 1409756 w 1409755"/>
                <a:gd name="connsiteY8" fmla="*/ 30630 h 107258"/>
                <a:gd name="connsiteX9" fmla="*/ 1409756 w 1409755"/>
                <a:gd name="connsiteY9" fmla="*/ 0 h 107258"/>
                <a:gd name="connsiteX10" fmla="*/ 1333127 w 1409755"/>
                <a:gd name="connsiteY10" fmla="*/ 76613 h 107258"/>
                <a:gd name="connsiteX11" fmla="*/ 76613 w 1409755"/>
                <a:gd name="connsiteY11" fmla="*/ 76613 h 107258"/>
                <a:gd name="connsiteX12" fmla="*/ 30645 w 1409755"/>
                <a:gd name="connsiteY12" fmla="*/ 30645 h 107258"/>
                <a:gd name="connsiteX13" fmla="*/ 597613 w 1409755"/>
                <a:gd name="connsiteY13" fmla="*/ 30645 h 107258"/>
                <a:gd name="connsiteX14" fmla="*/ 626212 w 1409755"/>
                <a:gd name="connsiteY14" fmla="*/ 61290 h 107258"/>
                <a:gd name="connsiteX15" fmla="*/ 628258 w 1409755"/>
                <a:gd name="connsiteY15" fmla="*/ 61290 h 107258"/>
                <a:gd name="connsiteX16" fmla="*/ 781498 w 1409755"/>
                <a:gd name="connsiteY16" fmla="*/ 61290 h 107258"/>
                <a:gd name="connsiteX17" fmla="*/ 812143 w 1409755"/>
                <a:gd name="connsiteY17" fmla="*/ 32691 h 107258"/>
                <a:gd name="connsiteX18" fmla="*/ 812143 w 1409755"/>
                <a:gd name="connsiteY18" fmla="*/ 30645 h 107258"/>
                <a:gd name="connsiteX19" fmla="*/ 1379110 w 1409755"/>
                <a:gd name="connsiteY19" fmla="*/ 30645 h 107258"/>
                <a:gd name="connsiteX20" fmla="*/ 1333127 w 1409755"/>
                <a:gd name="connsiteY20" fmla="*/ 76613 h 107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09755" h="107258">
                  <a:moveTo>
                    <a:pt x="781498" y="0"/>
                  </a:moveTo>
                  <a:lnTo>
                    <a:pt x="781498" y="30645"/>
                  </a:lnTo>
                  <a:lnTo>
                    <a:pt x="628258" y="30645"/>
                  </a:lnTo>
                  <a:lnTo>
                    <a:pt x="628258" y="0"/>
                  </a:lnTo>
                  <a:lnTo>
                    <a:pt x="0" y="0"/>
                  </a:lnTo>
                  <a:lnTo>
                    <a:pt x="0" y="30630"/>
                  </a:lnTo>
                  <a:cubicBezTo>
                    <a:pt x="45" y="72926"/>
                    <a:pt x="34317" y="107205"/>
                    <a:pt x="76613" y="107258"/>
                  </a:cubicBezTo>
                  <a:lnTo>
                    <a:pt x="1333127" y="107258"/>
                  </a:lnTo>
                  <a:cubicBezTo>
                    <a:pt x="1375428" y="107212"/>
                    <a:pt x="1409710" y="72931"/>
                    <a:pt x="1409756" y="30630"/>
                  </a:cubicBezTo>
                  <a:lnTo>
                    <a:pt x="1409756" y="0"/>
                  </a:lnTo>
                  <a:close/>
                  <a:moveTo>
                    <a:pt x="1333127" y="76613"/>
                  </a:moveTo>
                  <a:lnTo>
                    <a:pt x="76613" y="76613"/>
                  </a:lnTo>
                  <a:cubicBezTo>
                    <a:pt x="51239" y="76581"/>
                    <a:pt x="30678" y="56019"/>
                    <a:pt x="30645" y="30645"/>
                  </a:cubicBezTo>
                  <a:lnTo>
                    <a:pt x="597613" y="30645"/>
                  </a:lnTo>
                  <a:cubicBezTo>
                    <a:pt x="597047" y="47005"/>
                    <a:pt x="609852" y="60725"/>
                    <a:pt x="626212" y="61290"/>
                  </a:cubicBezTo>
                  <a:cubicBezTo>
                    <a:pt x="626894" y="61313"/>
                    <a:pt x="627576" y="61313"/>
                    <a:pt x="628258" y="61290"/>
                  </a:cubicBezTo>
                  <a:lnTo>
                    <a:pt x="781498" y="61290"/>
                  </a:lnTo>
                  <a:cubicBezTo>
                    <a:pt x="797858" y="61856"/>
                    <a:pt x="811578" y="49051"/>
                    <a:pt x="812143" y="32691"/>
                  </a:cubicBezTo>
                  <a:cubicBezTo>
                    <a:pt x="812166" y="32009"/>
                    <a:pt x="812166" y="31327"/>
                    <a:pt x="812143" y="30645"/>
                  </a:cubicBezTo>
                  <a:lnTo>
                    <a:pt x="1379110" y="30645"/>
                  </a:lnTo>
                  <a:cubicBezTo>
                    <a:pt x="1379071" y="56022"/>
                    <a:pt x="1358503" y="76581"/>
                    <a:pt x="1333127" y="76613"/>
                  </a:cubicBezTo>
                  <a:close/>
                </a:path>
              </a:pathLst>
            </a:custGeom>
            <a:solidFill>
              <a:srgbClr val="00206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D519EE2C-7899-3A13-418F-211C30765126}"/>
                </a:ext>
              </a:extLst>
            </p:cNvPr>
            <p:cNvSpPr/>
            <p:nvPr/>
          </p:nvSpPr>
          <p:spPr>
            <a:xfrm>
              <a:off x="1011167" y="483368"/>
              <a:ext cx="398387" cy="398387"/>
            </a:xfrm>
            <a:custGeom>
              <a:avLst/>
              <a:gdLst>
                <a:gd name="connsiteX0" fmla="*/ 199194 w 398387"/>
                <a:gd name="connsiteY0" fmla="*/ 0 h 398387"/>
                <a:gd name="connsiteX1" fmla="*/ 0 w 398387"/>
                <a:gd name="connsiteY1" fmla="*/ 199194 h 398387"/>
                <a:gd name="connsiteX2" fmla="*/ 199194 w 398387"/>
                <a:gd name="connsiteY2" fmla="*/ 398388 h 398387"/>
                <a:gd name="connsiteX3" fmla="*/ 398388 w 398387"/>
                <a:gd name="connsiteY3" fmla="*/ 199194 h 398387"/>
                <a:gd name="connsiteX4" fmla="*/ 199194 w 398387"/>
                <a:gd name="connsiteY4" fmla="*/ 0 h 398387"/>
                <a:gd name="connsiteX5" fmla="*/ 366966 w 398387"/>
                <a:gd name="connsiteY5" fmla="*/ 183871 h 398387"/>
                <a:gd name="connsiteX6" fmla="*/ 313055 w 398387"/>
                <a:gd name="connsiteY6" fmla="*/ 183871 h 398387"/>
                <a:gd name="connsiteX7" fmla="*/ 249068 w 398387"/>
                <a:gd name="connsiteY7" fmla="*/ 38187 h 398387"/>
                <a:gd name="connsiteX8" fmla="*/ 366966 w 398387"/>
                <a:gd name="connsiteY8" fmla="*/ 183871 h 398387"/>
                <a:gd name="connsiteX9" fmla="*/ 183871 w 398387"/>
                <a:gd name="connsiteY9" fmla="*/ 49425 h 398387"/>
                <a:gd name="connsiteX10" fmla="*/ 183871 w 398387"/>
                <a:gd name="connsiteY10" fmla="*/ 183871 h 398387"/>
                <a:gd name="connsiteX11" fmla="*/ 116057 w 398387"/>
                <a:gd name="connsiteY11" fmla="*/ 183871 h 398387"/>
                <a:gd name="connsiteX12" fmla="*/ 183871 w 398387"/>
                <a:gd name="connsiteY12" fmla="*/ 49425 h 398387"/>
                <a:gd name="connsiteX13" fmla="*/ 183871 w 398387"/>
                <a:gd name="connsiteY13" fmla="*/ 214517 h 398387"/>
                <a:gd name="connsiteX14" fmla="*/ 183871 w 398387"/>
                <a:gd name="connsiteY14" fmla="*/ 348979 h 398387"/>
                <a:gd name="connsiteX15" fmla="*/ 116069 w 398387"/>
                <a:gd name="connsiteY15" fmla="*/ 214517 h 398387"/>
                <a:gd name="connsiteX16" fmla="*/ 214517 w 398387"/>
                <a:gd name="connsiteY16" fmla="*/ 348953 h 398387"/>
                <a:gd name="connsiteX17" fmla="*/ 214517 w 398387"/>
                <a:gd name="connsiteY17" fmla="*/ 214517 h 398387"/>
                <a:gd name="connsiteX18" fmla="*/ 282319 w 398387"/>
                <a:gd name="connsiteY18" fmla="*/ 214517 h 398387"/>
                <a:gd name="connsiteX19" fmla="*/ 214517 w 398387"/>
                <a:gd name="connsiteY19" fmla="*/ 348953 h 398387"/>
                <a:gd name="connsiteX20" fmla="*/ 214517 w 398387"/>
                <a:gd name="connsiteY20" fmla="*/ 183871 h 398387"/>
                <a:gd name="connsiteX21" fmla="*/ 214517 w 398387"/>
                <a:gd name="connsiteY21" fmla="*/ 49448 h 398387"/>
                <a:gd name="connsiteX22" fmla="*/ 282319 w 398387"/>
                <a:gd name="connsiteY22" fmla="*/ 183871 h 398387"/>
                <a:gd name="connsiteX23" fmla="*/ 149038 w 398387"/>
                <a:gd name="connsiteY23" fmla="*/ 38270 h 398387"/>
                <a:gd name="connsiteX24" fmla="*/ 85336 w 398387"/>
                <a:gd name="connsiteY24" fmla="*/ 183871 h 398387"/>
                <a:gd name="connsiteX25" fmla="*/ 31422 w 398387"/>
                <a:gd name="connsiteY25" fmla="*/ 183871 h 398387"/>
                <a:gd name="connsiteX26" fmla="*/ 149038 w 398387"/>
                <a:gd name="connsiteY26" fmla="*/ 38270 h 398387"/>
                <a:gd name="connsiteX27" fmla="*/ 31422 w 398387"/>
                <a:gd name="connsiteY27" fmla="*/ 214517 h 398387"/>
                <a:gd name="connsiteX28" fmla="*/ 85333 w 398387"/>
                <a:gd name="connsiteY28" fmla="*/ 214517 h 398387"/>
                <a:gd name="connsiteX29" fmla="*/ 149265 w 398387"/>
                <a:gd name="connsiteY29" fmla="*/ 360186 h 398387"/>
                <a:gd name="connsiteX30" fmla="*/ 31422 w 398387"/>
                <a:gd name="connsiteY30" fmla="*/ 214517 h 398387"/>
                <a:gd name="connsiteX31" fmla="*/ 249083 w 398387"/>
                <a:gd name="connsiteY31" fmla="*/ 360198 h 398387"/>
                <a:gd name="connsiteX32" fmla="*/ 313055 w 398387"/>
                <a:gd name="connsiteY32" fmla="*/ 214517 h 398387"/>
                <a:gd name="connsiteX33" fmla="*/ 366966 w 398387"/>
                <a:gd name="connsiteY33" fmla="*/ 214517 h 398387"/>
                <a:gd name="connsiteX34" fmla="*/ 249083 w 398387"/>
                <a:gd name="connsiteY34" fmla="*/ 360198 h 39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98387" h="398387">
                  <a:moveTo>
                    <a:pt x="199194" y="0"/>
                  </a:moveTo>
                  <a:cubicBezTo>
                    <a:pt x="89182" y="0"/>
                    <a:pt x="0" y="89182"/>
                    <a:pt x="0" y="199194"/>
                  </a:cubicBezTo>
                  <a:cubicBezTo>
                    <a:pt x="0" y="309206"/>
                    <a:pt x="89182" y="398388"/>
                    <a:pt x="199194" y="398388"/>
                  </a:cubicBezTo>
                  <a:cubicBezTo>
                    <a:pt x="309206" y="398388"/>
                    <a:pt x="398388" y="309206"/>
                    <a:pt x="398388" y="199194"/>
                  </a:cubicBezTo>
                  <a:cubicBezTo>
                    <a:pt x="398262" y="89234"/>
                    <a:pt x="309154" y="126"/>
                    <a:pt x="199194" y="0"/>
                  </a:cubicBezTo>
                  <a:close/>
                  <a:moveTo>
                    <a:pt x="366966" y="183871"/>
                  </a:moveTo>
                  <a:lnTo>
                    <a:pt x="313055" y="183871"/>
                  </a:lnTo>
                  <a:cubicBezTo>
                    <a:pt x="310936" y="128961"/>
                    <a:pt x="288068" y="76898"/>
                    <a:pt x="249068" y="38187"/>
                  </a:cubicBezTo>
                  <a:cubicBezTo>
                    <a:pt x="314176" y="58491"/>
                    <a:pt x="360684" y="115960"/>
                    <a:pt x="366966" y="183871"/>
                  </a:cubicBezTo>
                  <a:close/>
                  <a:moveTo>
                    <a:pt x="183871" y="49425"/>
                  </a:moveTo>
                  <a:lnTo>
                    <a:pt x="183871" y="183871"/>
                  </a:lnTo>
                  <a:lnTo>
                    <a:pt x="116057" y="183871"/>
                  </a:lnTo>
                  <a:cubicBezTo>
                    <a:pt x="119947" y="126087"/>
                    <a:pt x="145615" y="75694"/>
                    <a:pt x="183871" y="49425"/>
                  </a:cubicBezTo>
                  <a:close/>
                  <a:moveTo>
                    <a:pt x="183871" y="214517"/>
                  </a:moveTo>
                  <a:lnTo>
                    <a:pt x="183871" y="348979"/>
                  </a:lnTo>
                  <a:cubicBezTo>
                    <a:pt x="145658" y="322668"/>
                    <a:pt x="119976" y="272107"/>
                    <a:pt x="116069" y="214517"/>
                  </a:cubicBezTo>
                  <a:close/>
                  <a:moveTo>
                    <a:pt x="214517" y="348953"/>
                  </a:moveTo>
                  <a:lnTo>
                    <a:pt x="214517" y="214517"/>
                  </a:lnTo>
                  <a:lnTo>
                    <a:pt x="282319" y="214517"/>
                  </a:lnTo>
                  <a:cubicBezTo>
                    <a:pt x="278412" y="272044"/>
                    <a:pt x="252711" y="322628"/>
                    <a:pt x="214517" y="348953"/>
                  </a:cubicBezTo>
                  <a:close/>
                  <a:moveTo>
                    <a:pt x="214517" y="183871"/>
                  </a:moveTo>
                  <a:lnTo>
                    <a:pt x="214517" y="49448"/>
                  </a:lnTo>
                  <a:cubicBezTo>
                    <a:pt x="252707" y="75772"/>
                    <a:pt x="278412" y="126347"/>
                    <a:pt x="282319" y="183871"/>
                  </a:cubicBezTo>
                  <a:close/>
                  <a:moveTo>
                    <a:pt x="149038" y="38270"/>
                  </a:moveTo>
                  <a:cubicBezTo>
                    <a:pt x="110108" y="76969"/>
                    <a:pt x="87337" y="129015"/>
                    <a:pt x="85336" y="183871"/>
                  </a:cubicBezTo>
                  <a:lnTo>
                    <a:pt x="31422" y="183871"/>
                  </a:lnTo>
                  <a:cubicBezTo>
                    <a:pt x="37694" y="116066"/>
                    <a:pt x="84068" y="58658"/>
                    <a:pt x="149038" y="38270"/>
                  </a:cubicBezTo>
                  <a:close/>
                  <a:moveTo>
                    <a:pt x="31422" y="214517"/>
                  </a:moveTo>
                  <a:lnTo>
                    <a:pt x="85333" y="214517"/>
                  </a:lnTo>
                  <a:cubicBezTo>
                    <a:pt x="87426" y="269418"/>
                    <a:pt x="110275" y="321478"/>
                    <a:pt x="149265" y="360186"/>
                  </a:cubicBezTo>
                  <a:cubicBezTo>
                    <a:pt x="84184" y="339863"/>
                    <a:pt x="37703" y="282407"/>
                    <a:pt x="31422" y="214517"/>
                  </a:cubicBezTo>
                  <a:close/>
                  <a:moveTo>
                    <a:pt x="249083" y="360198"/>
                  </a:moveTo>
                  <a:cubicBezTo>
                    <a:pt x="288076" y="321484"/>
                    <a:pt x="310937" y="269424"/>
                    <a:pt x="313055" y="214517"/>
                  </a:cubicBezTo>
                  <a:lnTo>
                    <a:pt x="366966" y="214517"/>
                  </a:lnTo>
                  <a:cubicBezTo>
                    <a:pt x="360684" y="282422"/>
                    <a:pt x="314184" y="339888"/>
                    <a:pt x="249083" y="360198"/>
                  </a:cubicBezTo>
                  <a:close/>
                </a:path>
              </a:pathLst>
            </a:custGeom>
            <a:solidFill>
              <a:srgbClr val="FF8C00"/>
            </a:solidFill>
            <a:ln w="152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1789D3F-87E8-CD26-9BC2-EA8C8406F035}"/>
              </a:ext>
            </a:extLst>
          </p:cNvPr>
          <p:cNvSpPr/>
          <p:nvPr/>
        </p:nvSpPr>
        <p:spPr>
          <a:xfrm>
            <a:off x="890517" y="1740669"/>
            <a:ext cx="3190009" cy="7377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C00">
                  <a:lumMod val="100000"/>
                </a:srgbClr>
              </a:gs>
              <a:gs pos="100000">
                <a:srgbClr val="0056A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DA1DDE-BEFA-C109-84BE-F453C5C5A3D4}"/>
              </a:ext>
            </a:extLst>
          </p:cNvPr>
          <p:cNvSpPr txBox="1"/>
          <p:nvPr/>
        </p:nvSpPr>
        <p:spPr>
          <a:xfrm>
            <a:off x="15915961" y="1878713"/>
            <a:ext cx="2241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linkedin.com</a:t>
            </a:r>
            <a:endParaRPr lang="ro-RO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F5885C3-4095-3677-4950-0FFD4BD68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89283" y="1461360"/>
            <a:ext cx="7388772" cy="36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90EA0E5-87B3-1689-3680-4502E680CD9D}"/>
              </a:ext>
            </a:extLst>
          </p:cNvPr>
          <p:cNvSpPr txBox="1"/>
          <p:nvPr/>
        </p:nvSpPr>
        <p:spPr>
          <a:xfrm>
            <a:off x="15314369" y="2975342"/>
            <a:ext cx="3960000" cy="2628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20000"/>
              </a:lnSpc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o-RO" dirty="0"/>
              <a:t>LinkedIn is a professional networking platform designed primarily for career and business-oriented individuals. It allows users to create professional profiles, connect with colleagues, employers, and industry peers, and expand their professional network.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3736FE4-D8FB-A130-5826-DC0E847CF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776" y="1175342"/>
            <a:ext cx="7388772" cy="360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F1AB80-F2C9-1E19-1D18-3BFC2368D8F3}"/>
              </a:ext>
            </a:extLst>
          </p:cNvPr>
          <p:cNvSpPr txBox="1"/>
          <p:nvPr/>
        </p:nvSpPr>
        <p:spPr>
          <a:xfrm>
            <a:off x="434919" y="2737725"/>
            <a:ext cx="4101203" cy="30549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20000"/>
              </a:lnSpc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o-RO" dirty="0"/>
              <a:t>InternStud is a similar application with the same goal as job platforms, but the differences lie in functionalities tailored for students and companies. It has unique features compared to a basic job board, including an integrated Interview Simulator for practice and a community section for sharing company reviews after completing an experience.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1414E7-6839-2608-499D-64CD76E1D5F6}"/>
              </a:ext>
            </a:extLst>
          </p:cNvPr>
          <p:cNvSpPr txBox="1"/>
          <p:nvPr/>
        </p:nvSpPr>
        <p:spPr>
          <a:xfrm>
            <a:off x="1519766" y="1878713"/>
            <a:ext cx="2241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insternstud.ro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176797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B556C-41EF-3027-F3EB-BCB98E6D8AFE}"/>
              </a:ext>
            </a:extLst>
          </p:cNvPr>
          <p:cNvSpPr txBox="1"/>
          <p:nvPr/>
        </p:nvSpPr>
        <p:spPr>
          <a:xfrm>
            <a:off x="1066800" y="198065"/>
            <a:ext cx="1112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Uniqueness</a:t>
            </a:r>
            <a:endParaRPr lang="en-US" dirty="0"/>
          </a:p>
          <a:p>
            <a:r>
              <a:rPr lang="ro-RO" dirty="0"/>
              <a:t>What sets InternStud apart from others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684559-F2C7-7E83-F081-83BE7D9DE5FA}"/>
              </a:ext>
            </a:extLst>
          </p:cNvPr>
          <p:cNvSpPr txBox="1"/>
          <p:nvPr/>
        </p:nvSpPr>
        <p:spPr>
          <a:xfrm>
            <a:off x="8625840" y="2233929"/>
            <a:ext cx="3276600" cy="23901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20000"/>
              </a:lnSpc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o-RO" dirty="0"/>
              <a:t>InternStud sets itself apart with an integrated Interview Simulator that helps remove interview anxiety by preparing you for the interview, and a Community Review section for sharing company experiences.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12F1F79-B639-15E5-1D39-4CD4FD556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06" y="1350237"/>
            <a:ext cx="8272304" cy="53096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phic 15" descr="Star with solid fill">
            <a:extLst>
              <a:ext uri="{FF2B5EF4-FFF2-40B4-BE49-F238E27FC236}">
                <a16:creationId xmlns:a16="http://schemas.microsoft.com/office/drawing/2014/main" id="{1EEFBD08-DE9E-3F7E-AEE2-C2607D987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973" y="19806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38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57592ED-2745-D859-1E91-DCF54ED430EB}"/>
              </a:ext>
            </a:extLst>
          </p:cNvPr>
          <p:cNvGrpSpPr/>
          <p:nvPr/>
        </p:nvGrpSpPr>
        <p:grpSpPr>
          <a:xfrm>
            <a:off x="4296000" y="4305783"/>
            <a:ext cx="3600000" cy="2390172"/>
            <a:chOff x="2496000" y="-171000"/>
            <a:chExt cx="7200000" cy="7200000"/>
          </a:xfrm>
          <a:scene3d>
            <a:camera prst="perspectiveRelaxed"/>
            <a:lightRig rig="threePt" dir="t"/>
          </a:scene3d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4677BB0B-3457-11F4-90FE-A9F1D61A7D82}"/>
                </a:ext>
              </a:extLst>
            </p:cNvPr>
            <p:cNvSpPr/>
            <p:nvPr/>
          </p:nvSpPr>
          <p:spPr>
            <a:xfrm>
              <a:off x="2496000" y="-171000"/>
              <a:ext cx="7200000" cy="720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sp3d>
              <a:bevelT h="508000"/>
              <a:bevelB w="127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D3FF972-9396-33BC-7447-72750F761075}"/>
                </a:ext>
              </a:extLst>
            </p:cNvPr>
            <p:cNvSpPr/>
            <p:nvPr/>
          </p:nvSpPr>
          <p:spPr>
            <a:xfrm>
              <a:off x="3396000" y="729000"/>
              <a:ext cx="5400000" cy="540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>
              <a:bevelT h="508000"/>
              <a:bevelB w="127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77EE2BF-7270-80DC-7500-2F8DA35BA334}"/>
                </a:ext>
              </a:extLst>
            </p:cNvPr>
            <p:cNvSpPr/>
            <p:nvPr/>
          </p:nvSpPr>
          <p:spPr>
            <a:xfrm>
              <a:off x="4296000" y="1629000"/>
              <a:ext cx="3600000" cy="360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sp3d>
              <a:bevelT h="508000"/>
              <a:bevelB w="127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37F7E63-22B3-EBB2-3232-FB24ADC2FC29}"/>
                </a:ext>
              </a:extLst>
            </p:cNvPr>
            <p:cNvSpPr/>
            <p:nvPr/>
          </p:nvSpPr>
          <p:spPr>
            <a:xfrm>
              <a:off x="5196000" y="2529000"/>
              <a:ext cx="1800000" cy="180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>
              <a:bevelT h="508000"/>
              <a:bevelB w="127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A2F0D99-483D-6771-F4EF-6ECB386C2002}"/>
                </a:ext>
              </a:extLst>
            </p:cNvPr>
            <p:cNvSpPr/>
            <p:nvPr/>
          </p:nvSpPr>
          <p:spPr>
            <a:xfrm>
              <a:off x="5556000" y="2889000"/>
              <a:ext cx="1080000" cy="10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sp3d>
              <a:bevelT h="508000"/>
              <a:bevelB w="12700" h="127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o-RO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7BC0747-3550-5A5F-12C9-76C1402906C2}"/>
              </a:ext>
            </a:extLst>
          </p:cNvPr>
          <p:cNvSpPr/>
          <p:nvPr/>
        </p:nvSpPr>
        <p:spPr>
          <a:xfrm>
            <a:off x="5772000" y="2367624"/>
            <a:ext cx="98532" cy="3133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9E4C94-43C4-0D75-94B1-5E16C4F31FA9}"/>
              </a:ext>
            </a:extLst>
          </p:cNvPr>
          <p:cNvSpPr/>
          <p:nvPr/>
        </p:nvSpPr>
        <p:spPr>
          <a:xfrm>
            <a:off x="6402000" y="2367624"/>
            <a:ext cx="98532" cy="3133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344DD-38D0-8CEB-C002-72E1FE62A1F6}"/>
              </a:ext>
            </a:extLst>
          </p:cNvPr>
          <p:cNvSpPr/>
          <p:nvPr/>
        </p:nvSpPr>
        <p:spPr>
          <a:xfrm>
            <a:off x="5979000" y="759587"/>
            <a:ext cx="98777" cy="47412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31B712-B95F-E168-6396-1763BC59D15A}"/>
              </a:ext>
            </a:extLst>
          </p:cNvPr>
          <p:cNvSpPr/>
          <p:nvPr/>
        </p:nvSpPr>
        <p:spPr>
          <a:xfrm>
            <a:off x="6213000" y="759587"/>
            <a:ext cx="98777" cy="47412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1D191FD-9FFD-222E-7B72-7EA0BC8313A7}"/>
              </a:ext>
            </a:extLst>
          </p:cNvPr>
          <p:cNvGrpSpPr/>
          <p:nvPr/>
        </p:nvGrpSpPr>
        <p:grpSpPr>
          <a:xfrm>
            <a:off x="3747695" y="2516042"/>
            <a:ext cx="2027537" cy="1228994"/>
            <a:chOff x="3747695" y="1781872"/>
            <a:chExt cx="2027537" cy="122899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A5F0FE0-6ABB-AF4D-6F19-BC3EB137079D}"/>
                </a:ext>
              </a:extLst>
            </p:cNvPr>
            <p:cNvGrpSpPr/>
            <p:nvPr/>
          </p:nvGrpSpPr>
          <p:grpSpPr>
            <a:xfrm>
              <a:off x="3747695" y="1781872"/>
              <a:ext cx="2027537" cy="1228994"/>
              <a:chOff x="604800" y="589415"/>
              <a:chExt cx="2027537" cy="1228994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F5C11EE-AD5E-A050-CA11-E4F5E8CAC00A}"/>
                  </a:ext>
                </a:extLst>
              </p:cNvPr>
              <p:cNvGrpSpPr/>
              <p:nvPr/>
            </p:nvGrpSpPr>
            <p:grpSpPr>
              <a:xfrm>
                <a:off x="604800" y="841664"/>
                <a:ext cx="1330036" cy="976745"/>
                <a:chOff x="604800" y="841664"/>
                <a:chExt cx="1330036" cy="976745"/>
              </a:xfrm>
            </p:grpSpPr>
            <p:sp>
              <p:nvSpPr>
                <p:cNvPr id="15" name="Arrow: Chevron 14">
                  <a:extLst>
                    <a:ext uri="{FF2B5EF4-FFF2-40B4-BE49-F238E27FC236}">
                      <a16:creationId xmlns:a16="http://schemas.microsoft.com/office/drawing/2014/main" id="{D5EB5884-721C-261C-E215-61F22ACCF642}"/>
                    </a:ext>
                  </a:extLst>
                </p:cNvPr>
                <p:cNvSpPr/>
                <p:nvPr/>
              </p:nvSpPr>
              <p:spPr>
                <a:xfrm>
                  <a:off x="604800" y="841664"/>
                  <a:ext cx="1330036" cy="976745"/>
                </a:xfrm>
                <a:prstGeom prst="chevron">
                  <a:avLst/>
                </a:prstGeom>
                <a:solidFill>
                  <a:srgbClr val="004C8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Right Triangle 15">
                  <a:extLst>
                    <a:ext uri="{FF2B5EF4-FFF2-40B4-BE49-F238E27FC236}">
                      <a16:creationId xmlns:a16="http://schemas.microsoft.com/office/drawing/2014/main" id="{863A406E-7C5E-DC6D-54BF-A864E9DA3CE1}"/>
                    </a:ext>
                  </a:extLst>
                </p:cNvPr>
                <p:cNvSpPr/>
                <p:nvPr/>
              </p:nvSpPr>
              <p:spPr>
                <a:xfrm rot="16200000">
                  <a:off x="1345057" y="1384942"/>
                  <a:ext cx="512223" cy="354710"/>
                </a:xfrm>
                <a:prstGeom prst="rtTriangle">
                  <a:avLst/>
                </a:prstGeom>
                <a:solidFill>
                  <a:srgbClr val="004C8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/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37F4F1D-F4FA-B4A5-E3C4-9B6862422787}"/>
                  </a:ext>
                </a:extLst>
              </p:cNvPr>
              <p:cNvSpPr/>
              <p:nvPr/>
            </p:nvSpPr>
            <p:spPr>
              <a:xfrm>
                <a:off x="1395818" y="589415"/>
                <a:ext cx="1236519" cy="976745"/>
              </a:xfrm>
              <a:prstGeom prst="rect">
                <a:avLst/>
              </a:prstGeom>
              <a:solidFill>
                <a:srgbClr val="0056A0"/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</p:grpSp>
        <p:pic>
          <p:nvPicPr>
            <p:cNvPr id="37" name="Graphic 36" descr="Business Growth with solid fill">
              <a:extLst>
                <a:ext uri="{FF2B5EF4-FFF2-40B4-BE49-F238E27FC236}">
                  <a16:creationId xmlns:a16="http://schemas.microsoft.com/office/drawing/2014/main" id="{B6F91478-BF89-AEBC-C199-D2347C1A4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91897" y="1856754"/>
              <a:ext cx="914400" cy="9144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04656DD-DFD7-D9AA-703E-2DF2FC9B82A2}"/>
              </a:ext>
            </a:extLst>
          </p:cNvPr>
          <p:cNvGrpSpPr/>
          <p:nvPr/>
        </p:nvGrpSpPr>
        <p:grpSpPr>
          <a:xfrm>
            <a:off x="6303531" y="822527"/>
            <a:ext cx="2027537" cy="1228994"/>
            <a:chOff x="6309750" y="367445"/>
            <a:chExt cx="2027537" cy="122899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2FA81CA-410A-FE1A-640E-D5BDD598157F}"/>
                </a:ext>
              </a:extLst>
            </p:cNvPr>
            <p:cNvGrpSpPr/>
            <p:nvPr/>
          </p:nvGrpSpPr>
          <p:grpSpPr>
            <a:xfrm flipH="1">
              <a:off x="6309750" y="367445"/>
              <a:ext cx="2027537" cy="1228994"/>
              <a:chOff x="604800" y="589415"/>
              <a:chExt cx="2027537" cy="1228994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3FDB2AEA-FF26-0F62-78B6-BAD6AF798A56}"/>
                  </a:ext>
                </a:extLst>
              </p:cNvPr>
              <p:cNvGrpSpPr/>
              <p:nvPr/>
            </p:nvGrpSpPr>
            <p:grpSpPr>
              <a:xfrm>
                <a:off x="604800" y="841664"/>
                <a:ext cx="1330036" cy="976745"/>
                <a:chOff x="604800" y="841664"/>
                <a:chExt cx="1330036" cy="976745"/>
              </a:xfrm>
            </p:grpSpPr>
            <p:sp>
              <p:nvSpPr>
                <p:cNvPr id="32" name="Arrow: Chevron 31">
                  <a:extLst>
                    <a:ext uri="{FF2B5EF4-FFF2-40B4-BE49-F238E27FC236}">
                      <a16:creationId xmlns:a16="http://schemas.microsoft.com/office/drawing/2014/main" id="{BAF7E25B-CAA2-7DF1-FEF7-2D5FD2BB7C43}"/>
                    </a:ext>
                  </a:extLst>
                </p:cNvPr>
                <p:cNvSpPr/>
                <p:nvPr/>
              </p:nvSpPr>
              <p:spPr>
                <a:xfrm>
                  <a:off x="604800" y="841664"/>
                  <a:ext cx="1330036" cy="976745"/>
                </a:xfrm>
                <a:prstGeom prst="chevron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Right Triangle 32">
                  <a:extLst>
                    <a:ext uri="{FF2B5EF4-FFF2-40B4-BE49-F238E27FC236}">
                      <a16:creationId xmlns:a16="http://schemas.microsoft.com/office/drawing/2014/main" id="{3E3F82AE-C313-C323-9AEA-6F0B9B2EFDC2}"/>
                    </a:ext>
                  </a:extLst>
                </p:cNvPr>
                <p:cNvSpPr/>
                <p:nvPr/>
              </p:nvSpPr>
              <p:spPr>
                <a:xfrm rot="16200000">
                  <a:off x="1345057" y="1384942"/>
                  <a:ext cx="512223" cy="354710"/>
                </a:xfrm>
                <a:prstGeom prst="rtTriangl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 dirty="0"/>
                </a:p>
              </p:txBody>
            </p:sp>
          </p:grp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5800680-3BDF-EE59-7FB6-93D5E7214F1E}"/>
                  </a:ext>
                </a:extLst>
              </p:cNvPr>
              <p:cNvSpPr/>
              <p:nvPr/>
            </p:nvSpPr>
            <p:spPr>
              <a:xfrm>
                <a:off x="1395818" y="589415"/>
                <a:ext cx="1236519" cy="976745"/>
              </a:xfrm>
              <a:prstGeom prst="rect">
                <a:avLst/>
              </a:prstGeom>
              <a:solidFill>
                <a:srgbClr val="FFCA21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 dirty="0"/>
              </a:p>
            </p:txBody>
          </p:sp>
        </p:grpSp>
        <p:pic>
          <p:nvPicPr>
            <p:cNvPr id="39" name="Graphic 38" descr="Programmer male with solid fill">
              <a:extLst>
                <a:ext uri="{FF2B5EF4-FFF2-40B4-BE49-F238E27FC236}">
                  <a16:creationId xmlns:a16="http://schemas.microsoft.com/office/drawing/2014/main" id="{958254E6-B893-A94A-71B3-AE0BC60C2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02000" y="367445"/>
              <a:ext cx="914400" cy="9144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FC0C53D-0AA6-891C-57A5-0192FE40B3AB}"/>
              </a:ext>
            </a:extLst>
          </p:cNvPr>
          <p:cNvGrpSpPr/>
          <p:nvPr/>
        </p:nvGrpSpPr>
        <p:grpSpPr>
          <a:xfrm>
            <a:off x="3951463" y="819521"/>
            <a:ext cx="2027537" cy="1239605"/>
            <a:chOff x="3951463" y="383181"/>
            <a:chExt cx="2027537" cy="123960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DCE487B-9588-B51B-42F2-16BE8DE0E4BB}"/>
                </a:ext>
              </a:extLst>
            </p:cNvPr>
            <p:cNvGrpSpPr/>
            <p:nvPr/>
          </p:nvGrpSpPr>
          <p:grpSpPr>
            <a:xfrm>
              <a:off x="3951463" y="393792"/>
              <a:ext cx="2027537" cy="1228994"/>
              <a:chOff x="604800" y="589415"/>
              <a:chExt cx="2027537" cy="1228994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8E92284-C7CB-14DA-EC1E-1BD9A948AF07}"/>
                  </a:ext>
                </a:extLst>
              </p:cNvPr>
              <p:cNvGrpSpPr/>
              <p:nvPr/>
            </p:nvGrpSpPr>
            <p:grpSpPr>
              <a:xfrm>
                <a:off x="604800" y="841664"/>
                <a:ext cx="1330036" cy="976745"/>
                <a:chOff x="604800" y="841664"/>
                <a:chExt cx="1330036" cy="976745"/>
              </a:xfrm>
            </p:grpSpPr>
            <p:sp>
              <p:nvSpPr>
                <p:cNvPr id="22" name="Arrow: Chevron 21">
                  <a:extLst>
                    <a:ext uri="{FF2B5EF4-FFF2-40B4-BE49-F238E27FC236}">
                      <a16:creationId xmlns:a16="http://schemas.microsoft.com/office/drawing/2014/main" id="{50DACB59-B191-4B45-A40E-EAE1D4F02E66}"/>
                    </a:ext>
                  </a:extLst>
                </p:cNvPr>
                <p:cNvSpPr/>
                <p:nvPr/>
              </p:nvSpPr>
              <p:spPr>
                <a:xfrm>
                  <a:off x="604800" y="841664"/>
                  <a:ext cx="1330036" cy="976745"/>
                </a:xfrm>
                <a:prstGeom prst="chevron">
                  <a:avLst/>
                </a:prstGeom>
                <a:solidFill>
                  <a:srgbClr val="79BC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ight Triangle 22">
                  <a:extLst>
                    <a:ext uri="{FF2B5EF4-FFF2-40B4-BE49-F238E27FC236}">
                      <a16:creationId xmlns:a16="http://schemas.microsoft.com/office/drawing/2014/main" id="{B1B308C1-0A51-4181-0364-E0358B74A31E}"/>
                    </a:ext>
                  </a:extLst>
                </p:cNvPr>
                <p:cNvSpPr/>
                <p:nvPr/>
              </p:nvSpPr>
              <p:spPr>
                <a:xfrm rot="16200000">
                  <a:off x="1345057" y="1384942"/>
                  <a:ext cx="512223" cy="354710"/>
                </a:xfrm>
                <a:prstGeom prst="rtTriangle">
                  <a:avLst/>
                </a:prstGeom>
                <a:solidFill>
                  <a:srgbClr val="79BC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/>
                </a:p>
              </p:txBody>
            </p:sp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0789BA-501F-036C-F05D-265C267C9125}"/>
                  </a:ext>
                </a:extLst>
              </p:cNvPr>
              <p:cNvSpPr/>
              <p:nvPr/>
            </p:nvSpPr>
            <p:spPr>
              <a:xfrm>
                <a:off x="1395818" y="589415"/>
                <a:ext cx="1236519" cy="976745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</p:grpSp>
        <p:pic>
          <p:nvPicPr>
            <p:cNvPr id="42" name="Graphic 41" descr="Briefcase with solid fill">
              <a:extLst>
                <a:ext uri="{FF2B5EF4-FFF2-40B4-BE49-F238E27FC236}">
                  <a16:creationId xmlns:a16="http://schemas.microsoft.com/office/drawing/2014/main" id="{FD3BB1BF-8C8E-F030-4732-90A603093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78299" y="383181"/>
              <a:ext cx="914400" cy="9144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6522B1F-D6C1-B3D4-6862-FE661EDCE856}"/>
              </a:ext>
            </a:extLst>
          </p:cNvPr>
          <p:cNvGrpSpPr/>
          <p:nvPr/>
        </p:nvGrpSpPr>
        <p:grpSpPr>
          <a:xfrm>
            <a:off x="6482441" y="2508437"/>
            <a:ext cx="2027537" cy="1228994"/>
            <a:chOff x="6495551" y="1781872"/>
            <a:chExt cx="2027537" cy="122899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3C67EB0-F4F1-D217-068C-85D3720A01CD}"/>
                </a:ext>
              </a:extLst>
            </p:cNvPr>
            <p:cNvGrpSpPr/>
            <p:nvPr/>
          </p:nvGrpSpPr>
          <p:grpSpPr>
            <a:xfrm flipH="1">
              <a:off x="6495551" y="1781872"/>
              <a:ext cx="2027537" cy="1228994"/>
              <a:chOff x="604800" y="589415"/>
              <a:chExt cx="2027537" cy="1228994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03BC1AF-95E0-26D3-83D1-88368292D203}"/>
                  </a:ext>
                </a:extLst>
              </p:cNvPr>
              <p:cNvGrpSpPr/>
              <p:nvPr/>
            </p:nvGrpSpPr>
            <p:grpSpPr>
              <a:xfrm>
                <a:off x="604800" y="841664"/>
                <a:ext cx="1330036" cy="976745"/>
                <a:chOff x="604800" y="841664"/>
                <a:chExt cx="1330036" cy="976745"/>
              </a:xfrm>
            </p:grpSpPr>
            <p:sp>
              <p:nvSpPr>
                <p:cNvPr id="27" name="Arrow: Chevron 26">
                  <a:extLst>
                    <a:ext uri="{FF2B5EF4-FFF2-40B4-BE49-F238E27FC236}">
                      <a16:creationId xmlns:a16="http://schemas.microsoft.com/office/drawing/2014/main" id="{F48ACD51-0FAD-6132-83F9-063E82247A7F}"/>
                    </a:ext>
                  </a:extLst>
                </p:cNvPr>
                <p:cNvSpPr/>
                <p:nvPr/>
              </p:nvSpPr>
              <p:spPr>
                <a:xfrm>
                  <a:off x="604800" y="841664"/>
                  <a:ext cx="1330036" cy="976745"/>
                </a:xfrm>
                <a:prstGeom prst="chevron">
                  <a:avLst/>
                </a:prstGeom>
                <a:solidFill>
                  <a:srgbClr val="DA77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Right Triangle 27">
                  <a:extLst>
                    <a:ext uri="{FF2B5EF4-FFF2-40B4-BE49-F238E27FC236}">
                      <a16:creationId xmlns:a16="http://schemas.microsoft.com/office/drawing/2014/main" id="{DEDED357-B99E-2406-918F-2D457FF002B0}"/>
                    </a:ext>
                  </a:extLst>
                </p:cNvPr>
                <p:cNvSpPr/>
                <p:nvPr/>
              </p:nvSpPr>
              <p:spPr>
                <a:xfrm rot="16200000">
                  <a:off x="1345057" y="1384942"/>
                  <a:ext cx="512223" cy="354710"/>
                </a:xfrm>
                <a:prstGeom prst="rtTriangle">
                  <a:avLst/>
                </a:prstGeom>
                <a:solidFill>
                  <a:srgbClr val="DA77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 dirty="0"/>
                </a:p>
              </p:txBody>
            </p:sp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17A580F-A8BD-C4CF-2A4A-1BCFC4763FE6}"/>
                  </a:ext>
                </a:extLst>
              </p:cNvPr>
              <p:cNvSpPr/>
              <p:nvPr/>
            </p:nvSpPr>
            <p:spPr>
              <a:xfrm>
                <a:off x="1395818" y="589415"/>
                <a:ext cx="1236519" cy="976745"/>
              </a:xfrm>
              <a:prstGeom prst="rect">
                <a:avLst/>
              </a:prstGeom>
              <a:solidFill>
                <a:srgbClr val="FF8C00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</p:grpSp>
        <p:pic>
          <p:nvPicPr>
            <p:cNvPr id="44" name="Graphic 43" descr="Database with solid fill">
              <a:extLst>
                <a:ext uri="{FF2B5EF4-FFF2-40B4-BE49-F238E27FC236}">
                  <a16:creationId xmlns:a16="http://schemas.microsoft.com/office/drawing/2014/main" id="{B3B3527C-CCA3-5F56-9033-8EF82F520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8800" y="1788652"/>
              <a:ext cx="914400" cy="914400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1DD906C0-9493-FE0F-1895-347AEC5E3767}"/>
              </a:ext>
            </a:extLst>
          </p:cNvPr>
          <p:cNvSpPr txBox="1"/>
          <p:nvPr/>
        </p:nvSpPr>
        <p:spPr>
          <a:xfrm>
            <a:off x="8337287" y="815056"/>
            <a:ext cx="37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sz="2000" dirty="0">
                <a:solidFill>
                  <a:srgbClr val="FFCA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Software: </a:t>
            </a:r>
            <a:r>
              <a:rPr lang="ro-RO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Ensure an intuitive and user-friendly interface for seamless navigation and interaction.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6F8447-B60B-D172-FEBA-C81C1A312DF2}"/>
              </a:ext>
            </a:extLst>
          </p:cNvPr>
          <p:cNvSpPr txBox="1"/>
          <p:nvPr/>
        </p:nvSpPr>
        <p:spPr>
          <a:xfrm>
            <a:off x="199199" y="856839"/>
            <a:ext cx="3744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just"/>
            <a:r>
              <a:rPr lang="ro-RO" dirty="0"/>
              <a:t>Career Advancement: </a:t>
            </a:r>
            <a:r>
              <a:rPr lang="ro-RO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Facilitate student career development and preparation for opportunities through integrated tools.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F18E221-EB9D-7501-6FBF-C2495FF38A0C}"/>
              </a:ext>
            </a:extLst>
          </p:cNvPr>
          <p:cNvSpPr txBox="1"/>
          <p:nvPr/>
        </p:nvSpPr>
        <p:spPr>
          <a:xfrm>
            <a:off x="8296" y="2802771"/>
            <a:ext cx="385120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sz="2000" dirty="0">
                <a:solidFill>
                  <a:srgbClr val="0056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Development: </a:t>
            </a:r>
            <a:r>
              <a:rPr lang="ro-RO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scalable architecture to handle a large number of users, job postings, and applications.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8609DC-6792-7A0D-B3F1-11E8A2F96FA5}"/>
              </a:ext>
            </a:extLst>
          </p:cNvPr>
          <p:cNvSpPr txBox="1"/>
          <p:nvPr/>
        </p:nvSpPr>
        <p:spPr>
          <a:xfrm>
            <a:off x="8448000" y="2802771"/>
            <a:ext cx="37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sz="2000" dirty="0">
                <a:solidFill>
                  <a:srgbClr val="FF8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Data analytics: </a:t>
            </a:r>
            <a:r>
              <a:rPr lang="ro-RO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Create a system for monitoring application statuses, user activity, and other relevant data.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88D16A-CC2B-0D1A-4812-40A6235C9D45}"/>
              </a:ext>
            </a:extLst>
          </p:cNvPr>
          <p:cNvSpPr txBox="1"/>
          <p:nvPr/>
        </p:nvSpPr>
        <p:spPr>
          <a:xfrm>
            <a:off x="5077862" y="168293"/>
            <a:ext cx="2036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Objectives</a:t>
            </a:r>
            <a:endParaRPr lang="ro-RO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A530A9F-B168-E334-662D-9ADA71E8626A}"/>
              </a:ext>
            </a:extLst>
          </p:cNvPr>
          <p:cNvGrpSpPr/>
          <p:nvPr/>
        </p:nvGrpSpPr>
        <p:grpSpPr>
          <a:xfrm>
            <a:off x="587115" y="70052"/>
            <a:ext cx="752475" cy="752475"/>
            <a:chOff x="607435" y="80962"/>
            <a:chExt cx="752475" cy="752475"/>
          </a:xfrm>
        </p:grpSpPr>
        <p:sp>
          <p:nvSpPr>
            <p:cNvPr id="61" name="Free-form: Shape 60">
              <a:extLst>
                <a:ext uri="{FF2B5EF4-FFF2-40B4-BE49-F238E27FC236}">
                  <a16:creationId xmlns:a16="http://schemas.microsoft.com/office/drawing/2014/main" id="{738DBE84-62C5-3BFD-50DE-EB9532AEFB11}"/>
                </a:ext>
              </a:extLst>
            </p:cNvPr>
            <p:cNvSpPr/>
            <p:nvPr/>
          </p:nvSpPr>
          <p:spPr>
            <a:xfrm>
              <a:off x="873183" y="80962"/>
              <a:ext cx="486727" cy="485775"/>
            </a:xfrm>
            <a:custGeom>
              <a:avLst/>
              <a:gdLst>
                <a:gd name="connsiteX0" fmla="*/ 401003 w 486727"/>
                <a:gd name="connsiteY0" fmla="*/ 85725 h 485775"/>
                <a:gd name="connsiteX1" fmla="*/ 391478 w 486727"/>
                <a:gd name="connsiteY1" fmla="*/ 0 h 485775"/>
                <a:gd name="connsiteX2" fmla="*/ 286703 w 486727"/>
                <a:gd name="connsiteY2" fmla="*/ 104775 h 485775"/>
                <a:gd name="connsiteX3" fmla="*/ 292417 w 486727"/>
                <a:gd name="connsiteY3" fmla="*/ 154305 h 485775"/>
                <a:gd name="connsiteX4" fmla="*/ 140017 w 486727"/>
                <a:gd name="connsiteY4" fmla="*/ 306705 h 485775"/>
                <a:gd name="connsiteX5" fmla="*/ 95250 w 486727"/>
                <a:gd name="connsiteY5" fmla="*/ 295275 h 485775"/>
                <a:gd name="connsiteX6" fmla="*/ 0 w 486727"/>
                <a:gd name="connsiteY6" fmla="*/ 390525 h 485775"/>
                <a:gd name="connsiteX7" fmla="*/ 95250 w 486727"/>
                <a:gd name="connsiteY7" fmla="*/ 485775 h 485775"/>
                <a:gd name="connsiteX8" fmla="*/ 190500 w 486727"/>
                <a:gd name="connsiteY8" fmla="*/ 390525 h 485775"/>
                <a:gd name="connsiteX9" fmla="*/ 180022 w 486727"/>
                <a:gd name="connsiteY9" fmla="*/ 346710 h 485775"/>
                <a:gd name="connsiteX10" fmla="*/ 332423 w 486727"/>
                <a:gd name="connsiteY10" fmla="*/ 194310 h 485775"/>
                <a:gd name="connsiteX11" fmla="*/ 381953 w 486727"/>
                <a:gd name="connsiteY11" fmla="*/ 200025 h 485775"/>
                <a:gd name="connsiteX12" fmla="*/ 486728 w 486727"/>
                <a:gd name="connsiteY12" fmla="*/ 95250 h 485775"/>
                <a:gd name="connsiteX13" fmla="*/ 401003 w 486727"/>
                <a:gd name="connsiteY13" fmla="*/ 8572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86727" h="485775">
                  <a:moveTo>
                    <a:pt x="401003" y="85725"/>
                  </a:moveTo>
                  <a:lnTo>
                    <a:pt x="391478" y="0"/>
                  </a:lnTo>
                  <a:lnTo>
                    <a:pt x="286703" y="104775"/>
                  </a:lnTo>
                  <a:lnTo>
                    <a:pt x="292417" y="154305"/>
                  </a:lnTo>
                  <a:lnTo>
                    <a:pt x="140017" y="306705"/>
                  </a:lnTo>
                  <a:cubicBezTo>
                    <a:pt x="126682" y="300038"/>
                    <a:pt x="111442" y="295275"/>
                    <a:pt x="95250" y="295275"/>
                  </a:cubicBezTo>
                  <a:cubicBezTo>
                    <a:pt x="42863" y="295275"/>
                    <a:pt x="0" y="338138"/>
                    <a:pt x="0" y="390525"/>
                  </a:cubicBezTo>
                  <a:cubicBezTo>
                    <a:pt x="0" y="442913"/>
                    <a:pt x="42863" y="485775"/>
                    <a:pt x="95250" y="485775"/>
                  </a:cubicBezTo>
                  <a:cubicBezTo>
                    <a:pt x="147638" y="485775"/>
                    <a:pt x="190500" y="442913"/>
                    <a:pt x="190500" y="390525"/>
                  </a:cubicBezTo>
                  <a:cubicBezTo>
                    <a:pt x="190500" y="374333"/>
                    <a:pt x="186690" y="360045"/>
                    <a:pt x="180022" y="346710"/>
                  </a:cubicBezTo>
                  <a:lnTo>
                    <a:pt x="332423" y="194310"/>
                  </a:lnTo>
                  <a:lnTo>
                    <a:pt x="381953" y="200025"/>
                  </a:lnTo>
                  <a:lnTo>
                    <a:pt x="486728" y="95250"/>
                  </a:lnTo>
                  <a:lnTo>
                    <a:pt x="401003" y="85725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62" name="Free-form: Shape 61">
              <a:extLst>
                <a:ext uri="{FF2B5EF4-FFF2-40B4-BE49-F238E27FC236}">
                  <a16:creationId xmlns:a16="http://schemas.microsoft.com/office/drawing/2014/main" id="{FF01DF51-A1EE-EA8D-5946-16EAB183B16A}"/>
                </a:ext>
              </a:extLst>
            </p:cNvPr>
            <p:cNvSpPr/>
            <p:nvPr/>
          </p:nvSpPr>
          <p:spPr>
            <a:xfrm>
              <a:off x="607435" y="109537"/>
              <a:ext cx="723900" cy="723900"/>
            </a:xfrm>
            <a:custGeom>
              <a:avLst/>
              <a:gdLst>
                <a:gd name="connsiteX0" fmla="*/ 674370 w 723900"/>
                <a:gd name="connsiteY0" fmla="*/ 198120 h 723900"/>
                <a:gd name="connsiteX1" fmla="*/ 661988 w 723900"/>
                <a:gd name="connsiteY1" fmla="*/ 211455 h 723900"/>
                <a:gd name="connsiteX2" fmla="*/ 643890 w 723900"/>
                <a:gd name="connsiteY2" fmla="*/ 209550 h 723900"/>
                <a:gd name="connsiteX3" fmla="*/ 623888 w 723900"/>
                <a:gd name="connsiteY3" fmla="*/ 206693 h 723900"/>
                <a:gd name="connsiteX4" fmla="*/ 666750 w 723900"/>
                <a:gd name="connsiteY4" fmla="*/ 361950 h 723900"/>
                <a:gd name="connsiteX5" fmla="*/ 361950 w 723900"/>
                <a:gd name="connsiteY5" fmla="*/ 666750 h 723900"/>
                <a:gd name="connsiteX6" fmla="*/ 57150 w 723900"/>
                <a:gd name="connsiteY6" fmla="*/ 361950 h 723900"/>
                <a:gd name="connsiteX7" fmla="*/ 361950 w 723900"/>
                <a:gd name="connsiteY7" fmla="*/ 57150 h 723900"/>
                <a:gd name="connsiteX8" fmla="*/ 517208 w 723900"/>
                <a:gd name="connsiteY8" fmla="*/ 100013 h 723900"/>
                <a:gd name="connsiteX9" fmla="*/ 515303 w 723900"/>
                <a:gd name="connsiteY9" fmla="*/ 80963 h 723900"/>
                <a:gd name="connsiteX10" fmla="*/ 512445 w 723900"/>
                <a:gd name="connsiteY10" fmla="*/ 61913 h 723900"/>
                <a:gd name="connsiteX11" fmla="*/ 525780 w 723900"/>
                <a:gd name="connsiteY11" fmla="*/ 48578 h 723900"/>
                <a:gd name="connsiteX12" fmla="*/ 532448 w 723900"/>
                <a:gd name="connsiteY12" fmla="*/ 41910 h 723900"/>
                <a:gd name="connsiteX13" fmla="*/ 361950 w 723900"/>
                <a:gd name="connsiteY13" fmla="*/ 0 h 723900"/>
                <a:gd name="connsiteX14" fmla="*/ 0 w 723900"/>
                <a:gd name="connsiteY14" fmla="*/ 361950 h 723900"/>
                <a:gd name="connsiteX15" fmla="*/ 361950 w 723900"/>
                <a:gd name="connsiteY15" fmla="*/ 723900 h 723900"/>
                <a:gd name="connsiteX16" fmla="*/ 723900 w 723900"/>
                <a:gd name="connsiteY16" fmla="*/ 361950 h 723900"/>
                <a:gd name="connsiteX17" fmla="*/ 681038 w 723900"/>
                <a:gd name="connsiteY17" fmla="*/ 192405 h 723900"/>
                <a:gd name="connsiteX18" fmla="*/ 674370 w 723900"/>
                <a:gd name="connsiteY18" fmla="*/ 19812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900" h="723900">
                  <a:moveTo>
                    <a:pt x="674370" y="198120"/>
                  </a:moveTo>
                  <a:lnTo>
                    <a:pt x="661988" y="211455"/>
                  </a:lnTo>
                  <a:lnTo>
                    <a:pt x="643890" y="209550"/>
                  </a:lnTo>
                  <a:lnTo>
                    <a:pt x="623888" y="206693"/>
                  </a:lnTo>
                  <a:cubicBezTo>
                    <a:pt x="650558" y="252413"/>
                    <a:pt x="666750" y="304800"/>
                    <a:pt x="666750" y="361950"/>
                  </a:cubicBezTo>
                  <a:cubicBezTo>
                    <a:pt x="666750" y="529590"/>
                    <a:pt x="529590" y="666750"/>
                    <a:pt x="361950" y="666750"/>
                  </a:cubicBezTo>
                  <a:cubicBezTo>
                    <a:pt x="194310" y="666750"/>
                    <a:pt x="57150" y="529590"/>
                    <a:pt x="57150" y="361950"/>
                  </a:cubicBezTo>
                  <a:cubicBezTo>
                    <a:pt x="57150" y="194310"/>
                    <a:pt x="194310" y="57150"/>
                    <a:pt x="361950" y="57150"/>
                  </a:cubicBezTo>
                  <a:cubicBezTo>
                    <a:pt x="418148" y="57150"/>
                    <a:pt x="471488" y="72390"/>
                    <a:pt x="517208" y="100013"/>
                  </a:cubicBezTo>
                  <a:lnTo>
                    <a:pt x="515303" y="80963"/>
                  </a:lnTo>
                  <a:lnTo>
                    <a:pt x="512445" y="61913"/>
                  </a:lnTo>
                  <a:lnTo>
                    <a:pt x="525780" y="48578"/>
                  </a:lnTo>
                  <a:lnTo>
                    <a:pt x="532448" y="41910"/>
                  </a:lnTo>
                  <a:cubicBezTo>
                    <a:pt x="481013" y="15240"/>
                    <a:pt x="423863" y="0"/>
                    <a:pt x="361950" y="0"/>
                  </a:cubicBez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300038"/>
                    <a:pt x="708660" y="242888"/>
                    <a:pt x="681038" y="192405"/>
                  </a:cubicBezTo>
                  <a:lnTo>
                    <a:pt x="674370" y="198120"/>
                  </a:lnTo>
                  <a:close/>
                </a:path>
              </a:pathLst>
            </a:custGeom>
            <a:solidFill>
              <a:srgbClr val="C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  <p:sp>
          <p:nvSpPr>
            <p:cNvPr id="63" name="Free-form: Shape 62">
              <a:extLst>
                <a:ext uri="{FF2B5EF4-FFF2-40B4-BE49-F238E27FC236}">
                  <a16:creationId xmlns:a16="http://schemas.microsoft.com/office/drawing/2014/main" id="{E71E395C-8679-7A48-C823-4173D13E215F}"/>
                </a:ext>
              </a:extLst>
            </p:cNvPr>
            <p:cNvSpPr/>
            <p:nvPr/>
          </p:nvSpPr>
          <p:spPr>
            <a:xfrm>
              <a:off x="740785" y="242887"/>
              <a:ext cx="457200" cy="457200"/>
            </a:xfrm>
            <a:custGeom>
              <a:avLst/>
              <a:gdLst>
                <a:gd name="connsiteX0" fmla="*/ 387668 w 457200"/>
                <a:gd name="connsiteY0" fmla="*/ 163830 h 457200"/>
                <a:gd name="connsiteX1" fmla="*/ 400050 w 457200"/>
                <a:gd name="connsiteY1" fmla="*/ 228600 h 457200"/>
                <a:gd name="connsiteX2" fmla="*/ 228600 w 457200"/>
                <a:gd name="connsiteY2" fmla="*/ 400050 h 457200"/>
                <a:gd name="connsiteX3" fmla="*/ 57150 w 457200"/>
                <a:gd name="connsiteY3" fmla="*/ 228600 h 457200"/>
                <a:gd name="connsiteX4" fmla="*/ 228600 w 457200"/>
                <a:gd name="connsiteY4" fmla="*/ 57150 h 457200"/>
                <a:gd name="connsiteX5" fmla="*/ 293370 w 457200"/>
                <a:gd name="connsiteY5" fmla="*/ 69532 h 457200"/>
                <a:gd name="connsiteX6" fmla="*/ 336233 w 457200"/>
                <a:gd name="connsiteY6" fmla="*/ 26670 h 457200"/>
                <a:gd name="connsiteX7" fmla="*/ 228600 w 457200"/>
                <a:gd name="connsiteY7" fmla="*/ 0 h 457200"/>
                <a:gd name="connsiteX8" fmla="*/ 0 w 457200"/>
                <a:gd name="connsiteY8" fmla="*/ 228600 h 457200"/>
                <a:gd name="connsiteX9" fmla="*/ 228600 w 457200"/>
                <a:gd name="connsiteY9" fmla="*/ 457200 h 457200"/>
                <a:gd name="connsiteX10" fmla="*/ 457200 w 457200"/>
                <a:gd name="connsiteY10" fmla="*/ 228600 h 457200"/>
                <a:gd name="connsiteX11" fmla="*/ 430530 w 457200"/>
                <a:gd name="connsiteY11" fmla="*/ 120968 h 457200"/>
                <a:gd name="connsiteX12" fmla="*/ 387668 w 457200"/>
                <a:gd name="connsiteY12" fmla="*/ 16383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387668" y="163830"/>
                  </a:moveTo>
                  <a:cubicBezTo>
                    <a:pt x="396240" y="183833"/>
                    <a:pt x="400050" y="205740"/>
                    <a:pt x="400050" y="228600"/>
                  </a:cubicBezTo>
                  <a:cubicBezTo>
                    <a:pt x="400050" y="322898"/>
                    <a:pt x="322898" y="400050"/>
                    <a:pt x="228600" y="400050"/>
                  </a:cubicBezTo>
                  <a:cubicBezTo>
                    <a:pt x="134302" y="400050"/>
                    <a:pt x="57150" y="322898"/>
                    <a:pt x="57150" y="228600"/>
                  </a:cubicBezTo>
                  <a:cubicBezTo>
                    <a:pt x="57150" y="134302"/>
                    <a:pt x="134302" y="57150"/>
                    <a:pt x="228600" y="57150"/>
                  </a:cubicBezTo>
                  <a:cubicBezTo>
                    <a:pt x="251460" y="57150"/>
                    <a:pt x="273368" y="61913"/>
                    <a:pt x="293370" y="69532"/>
                  </a:cubicBezTo>
                  <a:lnTo>
                    <a:pt x="336233" y="26670"/>
                  </a:lnTo>
                  <a:cubicBezTo>
                    <a:pt x="303848" y="9525"/>
                    <a:pt x="267653" y="0"/>
                    <a:pt x="228600" y="0"/>
                  </a:cubicBezTo>
                  <a:cubicBezTo>
                    <a:pt x="102870" y="0"/>
                    <a:pt x="0" y="102870"/>
                    <a:pt x="0" y="228600"/>
                  </a:cubicBezTo>
                  <a:cubicBezTo>
                    <a:pt x="0" y="354330"/>
                    <a:pt x="102870" y="457200"/>
                    <a:pt x="228600" y="457200"/>
                  </a:cubicBezTo>
                  <a:cubicBezTo>
                    <a:pt x="354330" y="457200"/>
                    <a:pt x="457200" y="354330"/>
                    <a:pt x="457200" y="228600"/>
                  </a:cubicBezTo>
                  <a:cubicBezTo>
                    <a:pt x="457200" y="189548"/>
                    <a:pt x="447675" y="153352"/>
                    <a:pt x="430530" y="120968"/>
                  </a:cubicBezTo>
                  <a:lnTo>
                    <a:pt x="387668" y="16383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o-RO"/>
            </a:p>
          </p:txBody>
        </p:sp>
      </p:grpSp>
    </p:spTree>
    <p:extLst>
      <p:ext uri="{BB962C8B-B14F-4D97-AF65-F5344CB8AC3E}">
        <p14:creationId xmlns:p14="http://schemas.microsoft.com/office/powerpoint/2010/main" val="2091230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25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25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50" grpId="0"/>
      <p:bldP spid="52" grpId="0"/>
      <p:bldP spid="54" grpId="0"/>
      <p:bldP spid="56" grpId="0"/>
      <p:bldP spid="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15801-BD21-A8D4-ABB1-00ECA4B9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CF297D13-9B60-CCCA-12BB-E1FA49E9A3E2}"/>
              </a:ext>
            </a:extLst>
          </p:cNvPr>
          <p:cNvGrpSpPr/>
          <p:nvPr/>
        </p:nvGrpSpPr>
        <p:grpSpPr>
          <a:xfrm>
            <a:off x="7410169" y="1779670"/>
            <a:ext cx="4854977" cy="1019139"/>
            <a:chOff x="7410169" y="2233221"/>
            <a:chExt cx="4854977" cy="101913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7DF26B1-3A05-B0E3-05D5-6C4D5FC8AD69}"/>
                </a:ext>
              </a:extLst>
            </p:cNvPr>
            <p:cNvSpPr txBox="1"/>
            <p:nvPr/>
          </p:nvSpPr>
          <p:spPr>
            <a:xfrm>
              <a:off x="7410169" y="2233221"/>
              <a:ext cx="485497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C467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Community to bring students together</a:t>
              </a:r>
              <a:endParaRPr lang="ro-RO" sz="2000" dirty="0">
                <a:solidFill>
                  <a:srgbClr val="C467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35D8300-98B8-F826-6622-B8393CDA6EE2}"/>
                </a:ext>
              </a:extLst>
            </p:cNvPr>
            <p:cNvSpPr txBox="1"/>
            <p:nvPr/>
          </p:nvSpPr>
          <p:spPr>
            <a:xfrm>
              <a:off x="8130901" y="2606029"/>
              <a:ext cx="391224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Connect, share experiences, and discuss topics with other students.</a:t>
              </a:r>
              <a:endParaRPr lang="ro-RO" noProof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E6026B4-E383-7B74-D614-A7488076C2CB}"/>
              </a:ext>
            </a:extLst>
          </p:cNvPr>
          <p:cNvGrpSpPr/>
          <p:nvPr/>
        </p:nvGrpSpPr>
        <p:grpSpPr>
          <a:xfrm>
            <a:off x="-23762" y="1692432"/>
            <a:ext cx="4090602" cy="1287127"/>
            <a:chOff x="-23762" y="2145983"/>
            <a:chExt cx="4090602" cy="128712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DDCFED-5671-921D-AA36-1837C6AB5DED}"/>
                </a:ext>
              </a:extLst>
            </p:cNvPr>
            <p:cNvSpPr txBox="1"/>
            <p:nvPr/>
          </p:nvSpPr>
          <p:spPr>
            <a:xfrm>
              <a:off x="-23762" y="2145983"/>
              <a:ext cx="40906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99CC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rPr>
                <a:t>In-Browser Interview Simulator</a:t>
              </a:r>
              <a:endParaRPr lang="ro-RO" sz="2000" dirty="0">
                <a:solidFill>
                  <a:srgbClr val="99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6E4B73C-FAF7-2E2E-157A-7E174D7726DF}"/>
                </a:ext>
              </a:extLst>
            </p:cNvPr>
            <p:cNvSpPr txBox="1"/>
            <p:nvPr/>
          </p:nvSpPr>
          <p:spPr>
            <a:xfrm>
              <a:off x="252247" y="2509780"/>
              <a:ext cx="368254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Students can practice interviews directly on the platform with AI-driven feedback</a:t>
              </a:r>
              <a:r>
                <a:rPr lang="en-US" dirty="0">
                  <a:latin typeface="Georgia" panose="02040502050405020303" pitchFamily="18" charset="0"/>
                  <a:cs typeface="Times New Roman" panose="02020603050405020304" pitchFamily="18" charset="0"/>
                </a:rPr>
                <a:t>.</a:t>
              </a:r>
              <a:endParaRPr lang="ro-RO" noProof="0" dirty="0">
                <a:latin typeface="Georgia" panose="02040502050405020303" pitchFamily="18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24DC859-834F-00E4-D3F8-CCB1AB3109CC}"/>
              </a:ext>
            </a:extLst>
          </p:cNvPr>
          <p:cNvGrpSpPr/>
          <p:nvPr/>
        </p:nvGrpSpPr>
        <p:grpSpPr>
          <a:xfrm>
            <a:off x="-23762" y="4466324"/>
            <a:ext cx="4090602" cy="1523608"/>
            <a:chOff x="0" y="4339464"/>
            <a:chExt cx="4090602" cy="152360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E9C3C9-8A73-0533-B3AB-48C086A84424}"/>
                </a:ext>
              </a:extLst>
            </p:cNvPr>
            <p:cNvSpPr txBox="1"/>
            <p:nvPr/>
          </p:nvSpPr>
          <p:spPr>
            <a:xfrm>
              <a:off x="0" y="4339464"/>
              <a:ext cx="409060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000">
                  <a:solidFill>
                    <a:srgbClr val="99CC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defRPr>
              </a:lvl1pPr>
            </a:lstStyle>
            <a:p>
              <a:r>
                <a:rPr lang="en-US" dirty="0">
                  <a:solidFill>
                    <a:srgbClr val="FF8C00"/>
                  </a:solidFill>
                </a:rPr>
                <a:t>Exclusive Platform for Students</a:t>
              </a:r>
              <a:endParaRPr lang="ro-RO" dirty="0">
                <a:solidFill>
                  <a:srgbClr val="FF8C00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6BA4F88-9573-546F-C823-4B367836D549}"/>
                </a:ext>
              </a:extLst>
            </p:cNvPr>
            <p:cNvSpPr txBox="1"/>
            <p:nvPr/>
          </p:nvSpPr>
          <p:spPr>
            <a:xfrm>
              <a:off x="276009" y="4662743"/>
              <a:ext cx="378215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noProof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secure space with controlled access dedicated to student development (institutional email verification is a planned access control method).</a:t>
              </a:r>
              <a:endParaRPr lang="ro-RO" noProof="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BD64E4A-F47C-0D8B-DDE8-3C51C6C036FD}"/>
              </a:ext>
            </a:extLst>
          </p:cNvPr>
          <p:cNvGrpSpPr/>
          <p:nvPr/>
        </p:nvGrpSpPr>
        <p:grpSpPr>
          <a:xfrm>
            <a:off x="8097837" y="4379142"/>
            <a:ext cx="4331895" cy="1300594"/>
            <a:chOff x="8196436" y="4446289"/>
            <a:chExt cx="4331895" cy="13005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5954B6-9E6C-0ACB-3A02-C769DF678522}"/>
                </a:ext>
              </a:extLst>
            </p:cNvPr>
            <p:cNvSpPr txBox="1"/>
            <p:nvPr/>
          </p:nvSpPr>
          <p:spPr>
            <a:xfrm>
              <a:off x="8196436" y="4446289"/>
              <a:ext cx="43318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2000">
                  <a:solidFill>
                    <a:srgbClr val="C467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haroni" panose="02010803020104030203" pitchFamily="2" charset="-79"/>
                  <a:cs typeface="Aharoni" panose="02010803020104030203" pitchFamily="2" charset="-79"/>
                </a:defRPr>
              </a:lvl1pPr>
            </a:lstStyle>
            <a:p>
              <a:r>
                <a:rPr lang="en-US" dirty="0">
                  <a:solidFill>
                    <a:srgbClr val="0056A0"/>
                  </a:solidFill>
                </a:rPr>
                <a:t>Challenges and Testing</a:t>
              </a:r>
              <a:endParaRPr lang="ro-RO" dirty="0">
                <a:solidFill>
                  <a:srgbClr val="0056A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1CA526B-039A-4A99-1879-AF4BB1138935}"/>
                </a:ext>
              </a:extLst>
            </p:cNvPr>
            <p:cNvSpPr txBox="1"/>
            <p:nvPr/>
          </p:nvSpPr>
          <p:spPr>
            <a:xfrm>
              <a:off x="8280326" y="4823553"/>
              <a:ext cx="395599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noProof="0" dirty="0">
                  <a:latin typeface="Georgia" panose="02040502050405020303" pitchFamily="18" charset="0"/>
                </a:rPr>
                <a:t>Companies will be able to create custom tests and challenges for objective student evaluation.</a:t>
              </a:r>
              <a:endParaRPr lang="ro-RO" noProof="0" dirty="0">
                <a:latin typeface="Georgia" panose="02040502050405020303" pitchFamily="18" charset="0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81A8C31-EF7B-4452-590D-870FC47AC949}"/>
              </a:ext>
            </a:extLst>
          </p:cNvPr>
          <p:cNvSpPr txBox="1"/>
          <p:nvPr/>
        </p:nvSpPr>
        <p:spPr>
          <a:xfrm>
            <a:off x="5302469" y="424753"/>
            <a:ext cx="175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sz="2800" dirty="0">
                <a:solidFill>
                  <a:srgbClr val="002060"/>
                </a:solidFill>
                <a:latin typeface="Congenial Black" panose="02000503040000020004" pitchFamily="2" charset="0"/>
              </a:rPr>
              <a:t>Features </a:t>
            </a:r>
            <a:endParaRPr lang="ro-RO" sz="2800" noProof="0" dirty="0">
              <a:solidFill>
                <a:srgbClr val="002060"/>
              </a:solidFill>
              <a:latin typeface="Congenial Black" panose="02000503040000020004" pitchFamily="2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85215A2-81F1-45BB-02C8-668145100F47}"/>
              </a:ext>
            </a:extLst>
          </p:cNvPr>
          <p:cNvGrpSpPr/>
          <p:nvPr/>
        </p:nvGrpSpPr>
        <p:grpSpPr>
          <a:xfrm>
            <a:off x="6574333" y="3509857"/>
            <a:ext cx="1181960" cy="3039163"/>
            <a:chOff x="6574333" y="3509857"/>
            <a:chExt cx="1181960" cy="3039163"/>
          </a:xfrm>
        </p:grpSpPr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58428433-8C71-9343-FE11-FAF22450C284}"/>
                </a:ext>
              </a:extLst>
            </p:cNvPr>
            <p:cNvSpPr/>
            <p:nvPr/>
          </p:nvSpPr>
          <p:spPr>
            <a:xfrm rot="18861279">
              <a:off x="5645731" y="4438459"/>
              <a:ext cx="3039163" cy="1181960"/>
            </a:xfrm>
            <a:custGeom>
              <a:avLst/>
              <a:gdLst>
                <a:gd name="connsiteX0" fmla="*/ 1752239 w 2178283"/>
                <a:gd name="connsiteY0" fmla="*/ 0 h 847156"/>
                <a:gd name="connsiteX1" fmla="*/ 2178283 w 2178283"/>
                <a:gd name="connsiteY1" fmla="*/ 435751 h 847156"/>
                <a:gd name="connsiteX2" fmla="*/ 2110874 w 2178283"/>
                <a:gd name="connsiteY2" fmla="*/ 495314 h 847156"/>
                <a:gd name="connsiteX3" fmla="*/ 66051 w 2178283"/>
                <a:gd name="connsiteY3" fmla="*/ 472281 h 847156"/>
                <a:gd name="connsiteX4" fmla="*/ 0 w 2178283"/>
                <a:gd name="connsiteY4" fmla="*/ 411214 h 847156"/>
                <a:gd name="connsiteX5" fmla="*/ 420584 w 2178283"/>
                <a:gd name="connsiteY5" fmla="*/ 0 h 847156"/>
                <a:gd name="connsiteX6" fmla="*/ 1752239 w 2178283"/>
                <a:gd name="connsiteY6" fmla="*/ 0 h 84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283" h="847156">
                  <a:moveTo>
                    <a:pt x="1752239" y="0"/>
                  </a:moveTo>
                  <a:lnTo>
                    <a:pt x="2178283" y="435751"/>
                  </a:lnTo>
                  <a:lnTo>
                    <a:pt x="2110874" y="495314"/>
                  </a:lnTo>
                  <a:cubicBezTo>
                    <a:pt x="1511582" y="972966"/>
                    <a:pt x="654431" y="963311"/>
                    <a:pt x="66051" y="472281"/>
                  </a:cubicBezTo>
                  <a:lnTo>
                    <a:pt x="0" y="411214"/>
                  </a:lnTo>
                  <a:lnTo>
                    <a:pt x="420584" y="0"/>
                  </a:lnTo>
                  <a:lnTo>
                    <a:pt x="1752239" y="0"/>
                  </a:lnTo>
                  <a:close/>
                </a:path>
              </a:pathLst>
            </a:custGeom>
            <a:solidFill>
              <a:srgbClr val="0056A0"/>
            </a:solidFill>
            <a:ln w="9525" cap="flat">
              <a:noFill/>
              <a:prstDash val="solid"/>
              <a:miter/>
            </a:ln>
            <a:effectLst>
              <a:outerShdw blurRad="330200" dist="127000" dir="5400000" sx="104000" sy="104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l"/>
              <a:endParaRPr lang="ro-RO" noProof="0" dirty="0"/>
            </a:p>
          </p:txBody>
        </p:sp>
        <p:pic>
          <p:nvPicPr>
            <p:cNvPr id="73" name="Graphic 72" descr="Remote learning language with solid fill">
              <a:extLst>
                <a:ext uri="{FF2B5EF4-FFF2-40B4-BE49-F238E27FC236}">
                  <a16:creationId xmlns:a16="http://schemas.microsoft.com/office/drawing/2014/main" id="{E317C03A-C921-29E6-0EE5-8CDF232EA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06326" y="4547604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8E113F-CAEC-C1BA-1A70-47A0A1760A1E}"/>
              </a:ext>
            </a:extLst>
          </p:cNvPr>
          <p:cNvGrpSpPr/>
          <p:nvPr/>
        </p:nvGrpSpPr>
        <p:grpSpPr>
          <a:xfrm>
            <a:off x="3284892" y="4438459"/>
            <a:ext cx="3039163" cy="1181964"/>
            <a:chOff x="3284892" y="4438459"/>
            <a:chExt cx="3039163" cy="1181964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2AC09A95-4866-7187-D0AF-CE834BF749A4}"/>
                </a:ext>
              </a:extLst>
            </p:cNvPr>
            <p:cNvSpPr/>
            <p:nvPr/>
          </p:nvSpPr>
          <p:spPr>
            <a:xfrm rot="18861279">
              <a:off x="4213492" y="3509859"/>
              <a:ext cx="1181964" cy="3039163"/>
            </a:xfrm>
            <a:custGeom>
              <a:avLst/>
              <a:gdLst>
                <a:gd name="connsiteX0" fmla="*/ 435942 w 847158"/>
                <a:gd name="connsiteY0" fmla="*/ 0 h 2178284"/>
                <a:gd name="connsiteX1" fmla="*/ 847158 w 847158"/>
                <a:gd name="connsiteY1" fmla="*/ 420586 h 2178284"/>
                <a:gd name="connsiteX2" fmla="*/ 847157 w 847158"/>
                <a:gd name="connsiteY2" fmla="*/ 1752240 h 2178284"/>
                <a:gd name="connsiteX3" fmla="*/ 411406 w 847158"/>
                <a:gd name="connsiteY3" fmla="*/ 2178284 h 2178284"/>
                <a:gd name="connsiteX4" fmla="*/ 351842 w 847158"/>
                <a:gd name="connsiteY4" fmla="*/ 2110874 h 2178284"/>
                <a:gd name="connsiteX5" fmla="*/ 374875 w 847158"/>
                <a:gd name="connsiteY5" fmla="*/ 66051 h 2178284"/>
                <a:gd name="connsiteX6" fmla="*/ 435942 w 847158"/>
                <a:gd name="connsiteY6" fmla="*/ 0 h 21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7158" h="2178284">
                  <a:moveTo>
                    <a:pt x="435942" y="0"/>
                  </a:moveTo>
                  <a:lnTo>
                    <a:pt x="847158" y="420586"/>
                  </a:lnTo>
                  <a:lnTo>
                    <a:pt x="847157" y="1752240"/>
                  </a:lnTo>
                  <a:lnTo>
                    <a:pt x="411406" y="2178284"/>
                  </a:lnTo>
                  <a:lnTo>
                    <a:pt x="351842" y="2110874"/>
                  </a:lnTo>
                  <a:cubicBezTo>
                    <a:pt x="-125810" y="1511582"/>
                    <a:pt x="-116155" y="654431"/>
                    <a:pt x="374875" y="66051"/>
                  </a:cubicBezTo>
                  <a:lnTo>
                    <a:pt x="435942" y="0"/>
                  </a:lnTo>
                  <a:close/>
                </a:path>
              </a:pathLst>
            </a:custGeom>
            <a:solidFill>
              <a:srgbClr val="FF8C00"/>
            </a:solidFill>
            <a:ln w="9525" cap="flat">
              <a:noFill/>
              <a:prstDash val="solid"/>
              <a:miter/>
            </a:ln>
            <a:effectLst>
              <a:outerShdw blurRad="330200" dist="127000" dir="5400000" sx="104000" sy="104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l"/>
              <a:endParaRPr lang="ro-RO" noProof="0" dirty="0"/>
            </a:p>
          </p:txBody>
        </p:sp>
        <p:pic>
          <p:nvPicPr>
            <p:cNvPr id="5" name="Graphic 4" descr="Graduation cap with solid fill">
              <a:extLst>
                <a:ext uri="{FF2B5EF4-FFF2-40B4-BE49-F238E27FC236}">
                  <a16:creationId xmlns:a16="http://schemas.microsoft.com/office/drawing/2014/main" id="{E9616296-81EF-D1C0-4593-52DE2D7A5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16821" y="4492063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486F7C-A266-029B-364F-96F2DFCE6825}"/>
              </a:ext>
            </a:extLst>
          </p:cNvPr>
          <p:cNvGrpSpPr/>
          <p:nvPr/>
        </p:nvGrpSpPr>
        <p:grpSpPr>
          <a:xfrm>
            <a:off x="4213490" y="1149020"/>
            <a:ext cx="1181962" cy="3039166"/>
            <a:chOff x="4213490" y="1149020"/>
            <a:chExt cx="1181962" cy="3039166"/>
          </a:xfrm>
        </p:grpSpPr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2194D589-B7BE-096D-0136-0E09D741B29F}"/>
                </a:ext>
              </a:extLst>
            </p:cNvPr>
            <p:cNvSpPr/>
            <p:nvPr/>
          </p:nvSpPr>
          <p:spPr>
            <a:xfrm rot="18861279">
              <a:off x="3284888" y="2077622"/>
              <a:ext cx="3039166" cy="1181962"/>
            </a:xfrm>
            <a:custGeom>
              <a:avLst/>
              <a:gdLst>
                <a:gd name="connsiteX0" fmla="*/ 2178285 w 2178285"/>
                <a:gd name="connsiteY0" fmla="*/ 435942 h 847157"/>
                <a:gd name="connsiteX1" fmla="*/ 1757700 w 2178285"/>
                <a:gd name="connsiteY1" fmla="*/ 847157 h 847157"/>
                <a:gd name="connsiteX2" fmla="*/ 426044 w 2178285"/>
                <a:gd name="connsiteY2" fmla="*/ 847157 h 847157"/>
                <a:gd name="connsiteX3" fmla="*/ 0 w 2178285"/>
                <a:gd name="connsiteY3" fmla="*/ 411406 h 847157"/>
                <a:gd name="connsiteX4" fmla="*/ 67410 w 2178285"/>
                <a:gd name="connsiteY4" fmla="*/ 351842 h 847157"/>
                <a:gd name="connsiteX5" fmla="*/ 2112233 w 2178285"/>
                <a:gd name="connsiteY5" fmla="*/ 374875 h 847157"/>
                <a:gd name="connsiteX6" fmla="*/ 2178285 w 2178285"/>
                <a:gd name="connsiteY6" fmla="*/ 435942 h 8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285" h="847157">
                  <a:moveTo>
                    <a:pt x="2178285" y="435942"/>
                  </a:moveTo>
                  <a:lnTo>
                    <a:pt x="1757700" y="847157"/>
                  </a:lnTo>
                  <a:lnTo>
                    <a:pt x="426044" y="847157"/>
                  </a:lnTo>
                  <a:lnTo>
                    <a:pt x="0" y="411406"/>
                  </a:lnTo>
                  <a:lnTo>
                    <a:pt x="67410" y="351842"/>
                  </a:lnTo>
                  <a:cubicBezTo>
                    <a:pt x="666702" y="-125810"/>
                    <a:pt x="1523853" y="-116155"/>
                    <a:pt x="2112233" y="374875"/>
                  </a:cubicBezTo>
                  <a:lnTo>
                    <a:pt x="2178285" y="435942"/>
                  </a:lnTo>
                  <a:close/>
                </a:path>
              </a:pathLst>
            </a:custGeom>
            <a:solidFill>
              <a:srgbClr val="99CCFF"/>
            </a:solidFill>
            <a:ln w="9525" cap="flat">
              <a:noFill/>
              <a:prstDash val="solid"/>
              <a:miter/>
            </a:ln>
            <a:effectLst>
              <a:outerShdw blurRad="330200" dist="127000" dir="5400000" sx="104000" sy="104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l"/>
              <a:endParaRPr lang="ro-RO" noProof="0" dirty="0"/>
            </a:p>
          </p:txBody>
        </p:sp>
        <p:pic>
          <p:nvPicPr>
            <p:cNvPr id="7" name="Graphic 6" descr="Left Brain with solid fill">
              <a:extLst>
                <a:ext uri="{FF2B5EF4-FFF2-40B4-BE49-F238E27FC236}">
                  <a16:creationId xmlns:a16="http://schemas.microsoft.com/office/drawing/2014/main" id="{4F99D9F4-EAAC-6141-3018-0AE1AD443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26416" y="2194140"/>
              <a:ext cx="914400" cy="9144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B2A6CC-C701-DF8D-B774-A08633E6408E}"/>
              </a:ext>
            </a:extLst>
          </p:cNvPr>
          <p:cNvGrpSpPr/>
          <p:nvPr/>
        </p:nvGrpSpPr>
        <p:grpSpPr>
          <a:xfrm>
            <a:off x="5645728" y="2077619"/>
            <a:ext cx="3039163" cy="1181962"/>
            <a:chOff x="5645728" y="2077619"/>
            <a:chExt cx="3039163" cy="1181962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DEF4F078-E541-0422-7DA8-6B5D5B07201C}"/>
                </a:ext>
              </a:extLst>
            </p:cNvPr>
            <p:cNvSpPr/>
            <p:nvPr/>
          </p:nvSpPr>
          <p:spPr>
            <a:xfrm rot="18861279">
              <a:off x="6574329" y="1149018"/>
              <a:ext cx="1181962" cy="3039163"/>
            </a:xfrm>
            <a:custGeom>
              <a:avLst/>
              <a:gdLst>
                <a:gd name="connsiteX0" fmla="*/ 435752 w 847157"/>
                <a:gd name="connsiteY0" fmla="*/ 0 h 2178284"/>
                <a:gd name="connsiteX1" fmla="*/ 495315 w 847157"/>
                <a:gd name="connsiteY1" fmla="*/ 67409 h 2178284"/>
                <a:gd name="connsiteX2" fmla="*/ 472282 w 847157"/>
                <a:gd name="connsiteY2" fmla="*/ 2112232 h 2178284"/>
                <a:gd name="connsiteX3" fmla="*/ 411215 w 847157"/>
                <a:gd name="connsiteY3" fmla="*/ 2178284 h 2178284"/>
                <a:gd name="connsiteX4" fmla="*/ 0 w 847157"/>
                <a:gd name="connsiteY4" fmla="*/ 1757699 h 2178284"/>
                <a:gd name="connsiteX5" fmla="*/ 0 w 847157"/>
                <a:gd name="connsiteY5" fmla="*/ 426044 h 2178284"/>
                <a:gd name="connsiteX6" fmla="*/ 435752 w 847157"/>
                <a:gd name="connsiteY6" fmla="*/ 0 h 21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7157" h="2178284">
                  <a:moveTo>
                    <a:pt x="435752" y="0"/>
                  </a:moveTo>
                  <a:lnTo>
                    <a:pt x="495315" y="67409"/>
                  </a:lnTo>
                  <a:cubicBezTo>
                    <a:pt x="972967" y="666701"/>
                    <a:pt x="963312" y="1523852"/>
                    <a:pt x="472282" y="2112232"/>
                  </a:cubicBezTo>
                  <a:lnTo>
                    <a:pt x="411215" y="2178284"/>
                  </a:lnTo>
                  <a:lnTo>
                    <a:pt x="0" y="1757699"/>
                  </a:lnTo>
                  <a:lnTo>
                    <a:pt x="0" y="426044"/>
                  </a:lnTo>
                  <a:lnTo>
                    <a:pt x="435752" y="0"/>
                  </a:lnTo>
                  <a:close/>
                </a:path>
              </a:pathLst>
            </a:custGeom>
            <a:solidFill>
              <a:srgbClr val="C46700"/>
            </a:solidFill>
            <a:ln w="9525" cap="flat">
              <a:noFill/>
              <a:prstDash val="solid"/>
              <a:miter/>
            </a:ln>
            <a:effectLst>
              <a:outerShdw blurRad="330200" dist="127000" dir="5400000" sx="104000" sy="104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pPr algn="l"/>
              <a:endParaRPr lang="ro-RO" noProof="0" dirty="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F996E82-7C4F-7546-D59A-756BAF5E88DF}"/>
                </a:ext>
              </a:extLst>
            </p:cNvPr>
            <p:cNvGrpSpPr/>
            <p:nvPr/>
          </p:nvGrpSpPr>
          <p:grpSpPr>
            <a:xfrm>
              <a:off x="6497740" y="2237340"/>
              <a:ext cx="1470045" cy="828000"/>
              <a:chOff x="12787745" y="2593226"/>
              <a:chExt cx="1470045" cy="914400"/>
            </a:xfrm>
          </p:grpSpPr>
          <p:pic>
            <p:nvPicPr>
              <p:cNvPr id="17" name="Graphic 16" descr="School girl with solid fill">
                <a:extLst>
                  <a:ext uri="{FF2B5EF4-FFF2-40B4-BE49-F238E27FC236}">
                    <a16:creationId xmlns:a16="http://schemas.microsoft.com/office/drawing/2014/main" id="{DE63FF0A-B112-F7C4-0355-EC5E63AB09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2787745" y="259322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0" name="Graphic 19" descr="School boy with solid fill">
                <a:extLst>
                  <a:ext uri="{FF2B5EF4-FFF2-40B4-BE49-F238E27FC236}">
                    <a16:creationId xmlns:a16="http://schemas.microsoft.com/office/drawing/2014/main" id="{65CF365F-7AC0-4E2C-0741-A55EB90E35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343390" y="2593226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29" name="Free-form: Shape 28">
            <a:extLst>
              <a:ext uri="{FF2B5EF4-FFF2-40B4-BE49-F238E27FC236}">
                <a16:creationId xmlns:a16="http://schemas.microsoft.com/office/drawing/2014/main" id="{45DB6787-6C19-879D-248C-3AAAD0A53DED}"/>
              </a:ext>
            </a:extLst>
          </p:cNvPr>
          <p:cNvSpPr/>
          <p:nvPr/>
        </p:nvSpPr>
        <p:spPr>
          <a:xfrm>
            <a:off x="5652913" y="3767644"/>
            <a:ext cx="405765" cy="404812"/>
          </a:xfrm>
          <a:custGeom>
            <a:avLst/>
            <a:gdLst>
              <a:gd name="connsiteX0" fmla="*/ 202883 w 405765"/>
              <a:gd name="connsiteY0" fmla="*/ 274320 h 404812"/>
              <a:gd name="connsiteX1" fmla="*/ 131445 w 405765"/>
              <a:gd name="connsiteY1" fmla="*/ 202882 h 404812"/>
              <a:gd name="connsiteX2" fmla="*/ 202883 w 405765"/>
              <a:gd name="connsiteY2" fmla="*/ 131445 h 404812"/>
              <a:gd name="connsiteX3" fmla="*/ 274320 w 405765"/>
              <a:gd name="connsiteY3" fmla="*/ 202882 h 404812"/>
              <a:gd name="connsiteX4" fmla="*/ 202883 w 405765"/>
              <a:gd name="connsiteY4" fmla="*/ 274320 h 404812"/>
              <a:gd name="connsiteX5" fmla="*/ 202883 w 405765"/>
              <a:gd name="connsiteY5" fmla="*/ 274320 h 404812"/>
              <a:gd name="connsiteX6" fmla="*/ 348615 w 405765"/>
              <a:gd name="connsiteY6" fmla="*/ 120967 h 404812"/>
              <a:gd name="connsiteX7" fmla="*/ 363855 w 405765"/>
              <a:gd name="connsiteY7" fmla="*/ 76200 h 404812"/>
              <a:gd name="connsiteX8" fmla="*/ 329565 w 405765"/>
              <a:gd name="connsiteY8" fmla="*/ 41910 h 404812"/>
              <a:gd name="connsiteX9" fmla="*/ 284798 w 405765"/>
              <a:gd name="connsiteY9" fmla="*/ 57150 h 404812"/>
              <a:gd name="connsiteX10" fmla="*/ 247650 w 405765"/>
              <a:gd name="connsiteY10" fmla="*/ 41910 h 404812"/>
              <a:gd name="connsiteX11" fmla="*/ 226695 w 405765"/>
              <a:gd name="connsiteY11" fmla="*/ 0 h 404812"/>
              <a:gd name="connsiteX12" fmla="*/ 179070 w 405765"/>
              <a:gd name="connsiteY12" fmla="*/ 0 h 404812"/>
              <a:gd name="connsiteX13" fmla="*/ 158115 w 405765"/>
              <a:gd name="connsiteY13" fmla="*/ 41910 h 404812"/>
              <a:gd name="connsiteX14" fmla="*/ 120968 w 405765"/>
              <a:gd name="connsiteY14" fmla="*/ 57150 h 404812"/>
              <a:gd name="connsiteX15" fmla="*/ 76200 w 405765"/>
              <a:gd name="connsiteY15" fmla="*/ 41910 h 404812"/>
              <a:gd name="connsiteX16" fmla="*/ 42863 w 405765"/>
              <a:gd name="connsiteY16" fmla="*/ 75247 h 404812"/>
              <a:gd name="connsiteX17" fmla="*/ 57150 w 405765"/>
              <a:gd name="connsiteY17" fmla="*/ 120015 h 404812"/>
              <a:gd name="connsiteX18" fmla="*/ 41910 w 405765"/>
              <a:gd name="connsiteY18" fmla="*/ 157163 h 404812"/>
              <a:gd name="connsiteX19" fmla="*/ 0 w 405765"/>
              <a:gd name="connsiteY19" fmla="*/ 178117 h 404812"/>
              <a:gd name="connsiteX20" fmla="*/ 0 w 405765"/>
              <a:gd name="connsiteY20" fmla="*/ 225742 h 404812"/>
              <a:gd name="connsiteX21" fmla="*/ 41910 w 405765"/>
              <a:gd name="connsiteY21" fmla="*/ 246698 h 404812"/>
              <a:gd name="connsiteX22" fmla="*/ 57150 w 405765"/>
              <a:gd name="connsiteY22" fmla="*/ 283845 h 404812"/>
              <a:gd name="connsiteX23" fmla="*/ 42863 w 405765"/>
              <a:gd name="connsiteY23" fmla="*/ 328613 h 404812"/>
              <a:gd name="connsiteX24" fmla="*/ 76200 w 405765"/>
              <a:gd name="connsiteY24" fmla="*/ 361950 h 404812"/>
              <a:gd name="connsiteX25" fmla="*/ 120968 w 405765"/>
              <a:gd name="connsiteY25" fmla="*/ 347663 h 404812"/>
              <a:gd name="connsiteX26" fmla="*/ 158115 w 405765"/>
              <a:gd name="connsiteY26" fmla="*/ 362903 h 404812"/>
              <a:gd name="connsiteX27" fmla="*/ 179070 w 405765"/>
              <a:gd name="connsiteY27" fmla="*/ 404813 h 404812"/>
              <a:gd name="connsiteX28" fmla="*/ 226695 w 405765"/>
              <a:gd name="connsiteY28" fmla="*/ 404813 h 404812"/>
              <a:gd name="connsiteX29" fmla="*/ 247650 w 405765"/>
              <a:gd name="connsiteY29" fmla="*/ 362903 h 404812"/>
              <a:gd name="connsiteX30" fmla="*/ 284798 w 405765"/>
              <a:gd name="connsiteY30" fmla="*/ 347663 h 404812"/>
              <a:gd name="connsiteX31" fmla="*/ 329565 w 405765"/>
              <a:gd name="connsiteY31" fmla="*/ 362903 h 404812"/>
              <a:gd name="connsiteX32" fmla="*/ 362903 w 405765"/>
              <a:gd name="connsiteY32" fmla="*/ 328613 h 404812"/>
              <a:gd name="connsiteX33" fmla="*/ 348615 w 405765"/>
              <a:gd name="connsiteY33" fmla="*/ 284798 h 404812"/>
              <a:gd name="connsiteX34" fmla="*/ 363855 w 405765"/>
              <a:gd name="connsiteY34" fmla="*/ 247650 h 404812"/>
              <a:gd name="connsiteX35" fmla="*/ 405765 w 405765"/>
              <a:gd name="connsiteY35" fmla="*/ 226695 h 404812"/>
              <a:gd name="connsiteX36" fmla="*/ 405765 w 405765"/>
              <a:gd name="connsiteY36" fmla="*/ 179070 h 404812"/>
              <a:gd name="connsiteX37" fmla="*/ 363855 w 405765"/>
              <a:gd name="connsiteY37" fmla="*/ 158115 h 404812"/>
              <a:gd name="connsiteX38" fmla="*/ 348615 w 405765"/>
              <a:gd name="connsiteY38" fmla="*/ 120967 h 404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05765" h="404812">
                <a:moveTo>
                  <a:pt x="202883" y="274320"/>
                </a:moveTo>
                <a:cubicBezTo>
                  <a:pt x="162878" y="274320"/>
                  <a:pt x="131445" y="241935"/>
                  <a:pt x="131445" y="202882"/>
                </a:cubicBezTo>
                <a:cubicBezTo>
                  <a:pt x="131445" y="162877"/>
                  <a:pt x="163830" y="131445"/>
                  <a:pt x="202883" y="131445"/>
                </a:cubicBezTo>
                <a:cubicBezTo>
                  <a:pt x="242888" y="131445"/>
                  <a:pt x="274320" y="163830"/>
                  <a:pt x="274320" y="202882"/>
                </a:cubicBezTo>
                <a:cubicBezTo>
                  <a:pt x="274320" y="241935"/>
                  <a:pt x="242888" y="274320"/>
                  <a:pt x="202883" y="274320"/>
                </a:cubicBezTo>
                <a:lnTo>
                  <a:pt x="202883" y="274320"/>
                </a:lnTo>
                <a:close/>
                <a:moveTo>
                  <a:pt x="348615" y="120967"/>
                </a:moveTo>
                <a:lnTo>
                  <a:pt x="363855" y="76200"/>
                </a:lnTo>
                <a:lnTo>
                  <a:pt x="329565" y="41910"/>
                </a:lnTo>
                <a:lnTo>
                  <a:pt x="284798" y="57150"/>
                </a:lnTo>
                <a:cubicBezTo>
                  <a:pt x="273368" y="50482"/>
                  <a:pt x="260033" y="45720"/>
                  <a:pt x="247650" y="41910"/>
                </a:cubicBezTo>
                <a:lnTo>
                  <a:pt x="226695" y="0"/>
                </a:lnTo>
                <a:lnTo>
                  <a:pt x="179070" y="0"/>
                </a:lnTo>
                <a:lnTo>
                  <a:pt x="158115" y="41910"/>
                </a:lnTo>
                <a:cubicBezTo>
                  <a:pt x="144780" y="45720"/>
                  <a:pt x="132398" y="50482"/>
                  <a:pt x="120968" y="57150"/>
                </a:cubicBezTo>
                <a:lnTo>
                  <a:pt x="76200" y="41910"/>
                </a:lnTo>
                <a:lnTo>
                  <a:pt x="42863" y="75247"/>
                </a:lnTo>
                <a:lnTo>
                  <a:pt x="57150" y="120015"/>
                </a:lnTo>
                <a:cubicBezTo>
                  <a:pt x="50483" y="131445"/>
                  <a:pt x="45720" y="144780"/>
                  <a:pt x="41910" y="157163"/>
                </a:cubicBezTo>
                <a:lnTo>
                  <a:pt x="0" y="178117"/>
                </a:lnTo>
                <a:lnTo>
                  <a:pt x="0" y="225742"/>
                </a:lnTo>
                <a:lnTo>
                  <a:pt x="41910" y="246698"/>
                </a:lnTo>
                <a:cubicBezTo>
                  <a:pt x="45720" y="260032"/>
                  <a:pt x="50483" y="272415"/>
                  <a:pt x="57150" y="283845"/>
                </a:cubicBezTo>
                <a:lnTo>
                  <a:pt x="42863" y="328613"/>
                </a:lnTo>
                <a:lnTo>
                  <a:pt x="76200" y="361950"/>
                </a:lnTo>
                <a:lnTo>
                  <a:pt x="120968" y="347663"/>
                </a:lnTo>
                <a:cubicBezTo>
                  <a:pt x="132398" y="354330"/>
                  <a:pt x="144780" y="359092"/>
                  <a:pt x="158115" y="362903"/>
                </a:cubicBezTo>
                <a:lnTo>
                  <a:pt x="179070" y="404813"/>
                </a:lnTo>
                <a:lnTo>
                  <a:pt x="226695" y="404813"/>
                </a:lnTo>
                <a:lnTo>
                  <a:pt x="247650" y="362903"/>
                </a:lnTo>
                <a:cubicBezTo>
                  <a:pt x="260985" y="359092"/>
                  <a:pt x="273368" y="354330"/>
                  <a:pt x="284798" y="347663"/>
                </a:cubicBezTo>
                <a:lnTo>
                  <a:pt x="329565" y="362903"/>
                </a:lnTo>
                <a:lnTo>
                  <a:pt x="362903" y="328613"/>
                </a:lnTo>
                <a:lnTo>
                  <a:pt x="348615" y="284798"/>
                </a:lnTo>
                <a:cubicBezTo>
                  <a:pt x="355283" y="273367"/>
                  <a:pt x="360045" y="260985"/>
                  <a:pt x="363855" y="247650"/>
                </a:cubicBezTo>
                <a:lnTo>
                  <a:pt x="405765" y="226695"/>
                </a:lnTo>
                <a:lnTo>
                  <a:pt x="405765" y="179070"/>
                </a:lnTo>
                <a:lnTo>
                  <a:pt x="363855" y="158115"/>
                </a:lnTo>
                <a:cubicBezTo>
                  <a:pt x="360045" y="144780"/>
                  <a:pt x="355283" y="132397"/>
                  <a:pt x="348615" y="120967"/>
                </a:cubicBezTo>
                <a:close/>
              </a:path>
            </a:pathLst>
          </a:custGeom>
          <a:solidFill>
            <a:srgbClr val="FF8C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o-RO"/>
          </a:p>
        </p:txBody>
      </p:sp>
      <p:sp>
        <p:nvSpPr>
          <p:cNvPr id="30" name="Free-form: Shape 29">
            <a:extLst>
              <a:ext uri="{FF2B5EF4-FFF2-40B4-BE49-F238E27FC236}">
                <a16:creationId xmlns:a16="http://schemas.microsoft.com/office/drawing/2014/main" id="{754EB960-10B1-6623-C525-ECC2701FF9B8}"/>
              </a:ext>
            </a:extLst>
          </p:cNvPr>
          <p:cNvSpPr/>
          <p:nvPr/>
        </p:nvSpPr>
        <p:spPr>
          <a:xfrm>
            <a:off x="5883293" y="3429000"/>
            <a:ext cx="405764" cy="404812"/>
          </a:xfrm>
          <a:custGeom>
            <a:avLst/>
            <a:gdLst>
              <a:gd name="connsiteX0" fmla="*/ 202883 w 405764"/>
              <a:gd name="connsiteY0" fmla="*/ 274320 h 404812"/>
              <a:gd name="connsiteX1" fmla="*/ 131445 w 405764"/>
              <a:gd name="connsiteY1" fmla="*/ 202883 h 404812"/>
              <a:gd name="connsiteX2" fmla="*/ 202883 w 405764"/>
              <a:gd name="connsiteY2" fmla="*/ 131445 h 404812"/>
              <a:gd name="connsiteX3" fmla="*/ 274320 w 405764"/>
              <a:gd name="connsiteY3" fmla="*/ 202883 h 404812"/>
              <a:gd name="connsiteX4" fmla="*/ 202883 w 405764"/>
              <a:gd name="connsiteY4" fmla="*/ 274320 h 404812"/>
              <a:gd name="connsiteX5" fmla="*/ 363855 w 405764"/>
              <a:gd name="connsiteY5" fmla="*/ 158115 h 404812"/>
              <a:gd name="connsiteX6" fmla="*/ 348615 w 405764"/>
              <a:gd name="connsiteY6" fmla="*/ 120968 h 404812"/>
              <a:gd name="connsiteX7" fmla="*/ 363855 w 405764"/>
              <a:gd name="connsiteY7" fmla="*/ 76200 h 404812"/>
              <a:gd name="connsiteX8" fmla="*/ 329565 w 405764"/>
              <a:gd name="connsiteY8" fmla="*/ 41910 h 404812"/>
              <a:gd name="connsiteX9" fmla="*/ 284798 w 405764"/>
              <a:gd name="connsiteY9" fmla="*/ 57150 h 404812"/>
              <a:gd name="connsiteX10" fmla="*/ 247650 w 405764"/>
              <a:gd name="connsiteY10" fmla="*/ 41910 h 404812"/>
              <a:gd name="connsiteX11" fmla="*/ 226695 w 405764"/>
              <a:gd name="connsiteY11" fmla="*/ 0 h 404812"/>
              <a:gd name="connsiteX12" fmla="*/ 179070 w 405764"/>
              <a:gd name="connsiteY12" fmla="*/ 0 h 404812"/>
              <a:gd name="connsiteX13" fmla="*/ 158115 w 405764"/>
              <a:gd name="connsiteY13" fmla="*/ 41910 h 404812"/>
              <a:gd name="connsiteX14" fmla="*/ 120968 w 405764"/>
              <a:gd name="connsiteY14" fmla="*/ 57150 h 404812"/>
              <a:gd name="connsiteX15" fmla="*/ 76200 w 405764"/>
              <a:gd name="connsiteY15" fmla="*/ 41910 h 404812"/>
              <a:gd name="connsiteX16" fmla="*/ 41910 w 405764"/>
              <a:gd name="connsiteY16" fmla="*/ 76200 h 404812"/>
              <a:gd name="connsiteX17" fmla="*/ 57150 w 405764"/>
              <a:gd name="connsiteY17" fmla="*/ 120968 h 404812"/>
              <a:gd name="connsiteX18" fmla="*/ 41910 w 405764"/>
              <a:gd name="connsiteY18" fmla="*/ 158115 h 404812"/>
              <a:gd name="connsiteX19" fmla="*/ 0 w 405764"/>
              <a:gd name="connsiteY19" fmla="*/ 179070 h 404812"/>
              <a:gd name="connsiteX20" fmla="*/ 0 w 405764"/>
              <a:gd name="connsiteY20" fmla="*/ 226695 h 404812"/>
              <a:gd name="connsiteX21" fmla="*/ 41910 w 405764"/>
              <a:gd name="connsiteY21" fmla="*/ 247650 h 404812"/>
              <a:gd name="connsiteX22" fmla="*/ 57150 w 405764"/>
              <a:gd name="connsiteY22" fmla="*/ 284798 h 404812"/>
              <a:gd name="connsiteX23" fmla="*/ 41910 w 405764"/>
              <a:gd name="connsiteY23" fmla="*/ 329565 h 404812"/>
              <a:gd name="connsiteX24" fmla="*/ 75248 w 405764"/>
              <a:gd name="connsiteY24" fmla="*/ 362903 h 404812"/>
              <a:gd name="connsiteX25" fmla="*/ 120015 w 405764"/>
              <a:gd name="connsiteY25" fmla="*/ 347663 h 404812"/>
              <a:gd name="connsiteX26" fmla="*/ 157163 w 405764"/>
              <a:gd name="connsiteY26" fmla="*/ 362903 h 404812"/>
              <a:gd name="connsiteX27" fmla="*/ 178118 w 405764"/>
              <a:gd name="connsiteY27" fmla="*/ 404813 h 404812"/>
              <a:gd name="connsiteX28" fmla="*/ 225743 w 405764"/>
              <a:gd name="connsiteY28" fmla="*/ 404813 h 404812"/>
              <a:gd name="connsiteX29" fmla="*/ 246698 w 405764"/>
              <a:gd name="connsiteY29" fmla="*/ 362903 h 404812"/>
              <a:gd name="connsiteX30" fmla="*/ 283845 w 405764"/>
              <a:gd name="connsiteY30" fmla="*/ 347663 h 404812"/>
              <a:gd name="connsiteX31" fmla="*/ 328613 w 405764"/>
              <a:gd name="connsiteY31" fmla="*/ 362903 h 404812"/>
              <a:gd name="connsiteX32" fmla="*/ 362903 w 405764"/>
              <a:gd name="connsiteY32" fmla="*/ 329565 h 404812"/>
              <a:gd name="connsiteX33" fmla="*/ 347663 w 405764"/>
              <a:gd name="connsiteY33" fmla="*/ 284798 h 404812"/>
              <a:gd name="connsiteX34" fmla="*/ 363855 w 405764"/>
              <a:gd name="connsiteY34" fmla="*/ 247650 h 404812"/>
              <a:gd name="connsiteX35" fmla="*/ 405765 w 405764"/>
              <a:gd name="connsiteY35" fmla="*/ 226695 h 404812"/>
              <a:gd name="connsiteX36" fmla="*/ 405765 w 405764"/>
              <a:gd name="connsiteY36" fmla="*/ 179070 h 404812"/>
              <a:gd name="connsiteX37" fmla="*/ 363855 w 405764"/>
              <a:gd name="connsiteY37" fmla="*/ 158115 h 404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05764" h="404812">
                <a:moveTo>
                  <a:pt x="202883" y="274320"/>
                </a:moveTo>
                <a:cubicBezTo>
                  <a:pt x="162877" y="274320"/>
                  <a:pt x="131445" y="241935"/>
                  <a:pt x="131445" y="202883"/>
                </a:cubicBezTo>
                <a:cubicBezTo>
                  <a:pt x="131445" y="163830"/>
                  <a:pt x="163830" y="131445"/>
                  <a:pt x="202883" y="131445"/>
                </a:cubicBezTo>
                <a:cubicBezTo>
                  <a:pt x="242888" y="131445"/>
                  <a:pt x="274320" y="163830"/>
                  <a:pt x="274320" y="202883"/>
                </a:cubicBezTo>
                <a:cubicBezTo>
                  <a:pt x="274320" y="241935"/>
                  <a:pt x="241935" y="274320"/>
                  <a:pt x="202883" y="274320"/>
                </a:cubicBezTo>
                <a:close/>
                <a:moveTo>
                  <a:pt x="363855" y="158115"/>
                </a:moveTo>
                <a:cubicBezTo>
                  <a:pt x="360045" y="144780"/>
                  <a:pt x="355283" y="132398"/>
                  <a:pt x="348615" y="120968"/>
                </a:cubicBezTo>
                <a:lnTo>
                  <a:pt x="363855" y="76200"/>
                </a:lnTo>
                <a:lnTo>
                  <a:pt x="329565" y="41910"/>
                </a:lnTo>
                <a:lnTo>
                  <a:pt x="284798" y="57150"/>
                </a:lnTo>
                <a:cubicBezTo>
                  <a:pt x="273367" y="50483"/>
                  <a:pt x="260985" y="45720"/>
                  <a:pt x="247650" y="41910"/>
                </a:cubicBezTo>
                <a:lnTo>
                  <a:pt x="226695" y="0"/>
                </a:lnTo>
                <a:lnTo>
                  <a:pt x="179070" y="0"/>
                </a:lnTo>
                <a:lnTo>
                  <a:pt x="158115" y="41910"/>
                </a:lnTo>
                <a:cubicBezTo>
                  <a:pt x="144780" y="45720"/>
                  <a:pt x="132398" y="50483"/>
                  <a:pt x="120968" y="57150"/>
                </a:cubicBezTo>
                <a:lnTo>
                  <a:pt x="76200" y="41910"/>
                </a:lnTo>
                <a:lnTo>
                  <a:pt x="41910" y="76200"/>
                </a:lnTo>
                <a:lnTo>
                  <a:pt x="57150" y="120968"/>
                </a:lnTo>
                <a:cubicBezTo>
                  <a:pt x="50482" y="132398"/>
                  <a:pt x="45720" y="144780"/>
                  <a:pt x="41910" y="158115"/>
                </a:cubicBezTo>
                <a:lnTo>
                  <a:pt x="0" y="179070"/>
                </a:lnTo>
                <a:lnTo>
                  <a:pt x="0" y="226695"/>
                </a:lnTo>
                <a:lnTo>
                  <a:pt x="41910" y="247650"/>
                </a:lnTo>
                <a:cubicBezTo>
                  <a:pt x="45720" y="260985"/>
                  <a:pt x="50482" y="273368"/>
                  <a:pt x="57150" y="284798"/>
                </a:cubicBezTo>
                <a:lnTo>
                  <a:pt x="41910" y="329565"/>
                </a:lnTo>
                <a:lnTo>
                  <a:pt x="75248" y="362903"/>
                </a:lnTo>
                <a:lnTo>
                  <a:pt x="120015" y="347663"/>
                </a:lnTo>
                <a:cubicBezTo>
                  <a:pt x="131445" y="354330"/>
                  <a:pt x="143827" y="359093"/>
                  <a:pt x="157163" y="362903"/>
                </a:cubicBezTo>
                <a:lnTo>
                  <a:pt x="178118" y="404813"/>
                </a:lnTo>
                <a:lnTo>
                  <a:pt x="225743" y="404813"/>
                </a:lnTo>
                <a:lnTo>
                  <a:pt x="246698" y="362903"/>
                </a:lnTo>
                <a:cubicBezTo>
                  <a:pt x="260033" y="359093"/>
                  <a:pt x="272415" y="354330"/>
                  <a:pt x="283845" y="347663"/>
                </a:cubicBezTo>
                <a:lnTo>
                  <a:pt x="328613" y="362903"/>
                </a:lnTo>
                <a:lnTo>
                  <a:pt x="362903" y="329565"/>
                </a:lnTo>
                <a:lnTo>
                  <a:pt x="347663" y="284798"/>
                </a:lnTo>
                <a:cubicBezTo>
                  <a:pt x="354330" y="273368"/>
                  <a:pt x="360045" y="260033"/>
                  <a:pt x="363855" y="247650"/>
                </a:cubicBezTo>
                <a:lnTo>
                  <a:pt x="405765" y="226695"/>
                </a:lnTo>
                <a:lnTo>
                  <a:pt x="405765" y="179070"/>
                </a:lnTo>
                <a:lnTo>
                  <a:pt x="363855" y="158115"/>
                </a:lnTo>
                <a:close/>
              </a:path>
            </a:pathLst>
          </a:custGeom>
          <a:solidFill>
            <a:srgbClr val="0056A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15511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75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12" fill="hold" nodeType="withEffect" p14:presetBounceEnd="6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0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1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9" fill="hold" nodeType="withEffect" p14:presetBounceEnd="6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4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5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6" fill="hold" nodeType="withEffect" p14:presetBounceEnd="6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8" dur="1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9" dur="1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3" fill="hold" nodeType="withEffect" p14:presetBounceEnd="60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2" dur="1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3" dur="1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25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8" presetID="2" presetClass="entr" presetSubtype="2" fill="hold" nodeType="after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0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1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2" fill="hold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4" dur="1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5" dur="1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8" fill="hold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8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9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8" fill="hold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52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53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0" grpId="0"/>
          <p:bldP spid="29" grpId="0" animBg="1"/>
          <p:bldP spid="3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75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12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9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6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3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25" presetID="3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4500"/>
                                </p:stCondLst>
                                <p:childTnLst>
                                  <p:par>
                                    <p:cTn id="38" presetID="2" presetClass="entr" presetSubtype="2" fill="hold" nodeType="after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1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2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1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1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6" presetID="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8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9" dur="1000" fill="hold"/>
                                            <p:tgtEl>
                                              <p:spTgt spid="8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0" presetID="2" presetClass="entr" presetSubtype="8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2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3" dur="10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0" grpId="0"/>
          <p:bldP spid="29" grpId="0" animBg="1"/>
          <p:bldP spid="30" grpId="0" animBg="1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DE2DE-B08C-C970-0E98-4F4E4AC70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96545F-1A31-5835-13F6-F3CDFC58D4CD}"/>
              </a:ext>
            </a:extLst>
          </p:cNvPr>
          <p:cNvSpPr/>
          <p:nvPr/>
        </p:nvSpPr>
        <p:spPr>
          <a:xfrm>
            <a:off x="1466492" y="5528653"/>
            <a:ext cx="8884304" cy="410095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5148D1-212D-9221-D07C-A63FE00422E9}"/>
              </a:ext>
            </a:extLst>
          </p:cNvPr>
          <p:cNvSpPr/>
          <p:nvPr/>
        </p:nvSpPr>
        <p:spPr>
          <a:xfrm>
            <a:off x="3298876" y="5538790"/>
            <a:ext cx="408882" cy="389819"/>
          </a:xfrm>
          <a:prstGeom prst="ellipse">
            <a:avLst/>
          </a:prstGeom>
          <a:solidFill>
            <a:srgbClr val="0056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773FF0B-E409-739E-9F70-0C7A83CB57C8}"/>
              </a:ext>
            </a:extLst>
          </p:cNvPr>
          <p:cNvGrpSpPr/>
          <p:nvPr/>
        </p:nvGrpSpPr>
        <p:grpSpPr>
          <a:xfrm>
            <a:off x="1473613" y="1115581"/>
            <a:ext cx="4093033" cy="4334487"/>
            <a:chOff x="1168813" y="1613350"/>
            <a:chExt cx="4093033" cy="4334487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ADEA68C-E766-32F4-E7AC-A41A43E05CF0}"/>
                </a:ext>
              </a:extLst>
            </p:cNvPr>
            <p:cNvGrpSpPr/>
            <p:nvPr/>
          </p:nvGrpSpPr>
          <p:grpSpPr>
            <a:xfrm>
              <a:off x="1168813" y="1613350"/>
              <a:ext cx="4093033" cy="4334487"/>
              <a:chOff x="1161691" y="1613350"/>
              <a:chExt cx="4093033" cy="4334487"/>
            </a:xfrm>
          </p:grpSpPr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13981629-7135-D47C-EB9E-98045EE13BD1}"/>
                  </a:ext>
                </a:extLst>
              </p:cNvPr>
              <p:cNvSpPr/>
              <p:nvPr/>
            </p:nvSpPr>
            <p:spPr>
              <a:xfrm>
                <a:off x="1161691" y="1613350"/>
                <a:ext cx="4093033" cy="4334487"/>
              </a:xfrm>
              <a:prstGeom prst="roundRect">
                <a:avLst/>
              </a:prstGeom>
              <a:solidFill>
                <a:srgbClr val="0056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B5BD039-AAF4-4BA1-BB5E-4298A49CE619}"/>
                  </a:ext>
                </a:extLst>
              </p:cNvPr>
              <p:cNvSpPr txBox="1"/>
              <p:nvPr/>
            </p:nvSpPr>
            <p:spPr>
              <a:xfrm>
                <a:off x="1683701" y="1878942"/>
                <a:ext cx="303476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o-RO" sz="3600" spc="-15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ordique Inline" panose="020F0502020204030204" pitchFamily="2" charset="0"/>
                    <a:cs typeface="Aharoni" panose="02010803020104030203" pitchFamily="2" charset="-79"/>
                  </a:rPr>
                  <a:t>A</a:t>
                </a:r>
                <a:r>
                  <a:rPr lang="en-US" sz="3600" spc="-15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ordique Inline" panose="020F0502020204030204" pitchFamily="2" charset="0"/>
                    <a:cs typeface="Aharoni" panose="02010803020104030203" pitchFamily="2" charset="-79"/>
                  </a:rPr>
                  <a:t>DVANTAGES</a:t>
                </a:r>
                <a:endParaRPr lang="en-GB" sz="3600" b="0" i="0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rdique Inline" panose="020F0502020204030204" pitchFamily="2" charset="0"/>
                  <a:cs typeface="Aharoni" panose="02010803020104030203" pitchFamily="2" charset="-79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AC560B4-DC29-1F67-323C-DB52A5B5A011}"/>
                  </a:ext>
                </a:extLst>
              </p:cNvPr>
              <p:cNvSpPr txBox="1"/>
              <p:nvPr/>
            </p:nvSpPr>
            <p:spPr>
              <a:xfrm>
                <a:off x="1194996" y="2747393"/>
                <a:ext cx="4052606" cy="1703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Easy interview practice in browser.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Get instant AI feedback.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Connect with student community.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Secure, student-exclusive platform.</a:t>
                </a:r>
              </a:p>
            </p:txBody>
          </p:sp>
        </p:grpSp>
        <p:pic>
          <p:nvPicPr>
            <p:cNvPr id="76" name="Graphic 75" descr="Comment Like with solid fill">
              <a:extLst>
                <a:ext uri="{FF2B5EF4-FFF2-40B4-BE49-F238E27FC236}">
                  <a16:creationId xmlns:a16="http://schemas.microsoft.com/office/drawing/2014/main" id="{D8F2B6CD-EEAB-919A-9F24-51CED734E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640081" y="4998932"/>
              <a:ext cx="914400" cy="9144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5144EE4-20E3-BA1A-5819-2D9B5117868D}"/>
              </a:ext>
            </a:extLst>
          </p:cNvPr>
          <p:cNvGrpSpPr/>
          <p:nvPr/>
        </p:nvGrpSpPr>
        <p:grpSpPr>
          <a:xfrm>
            <a:off x="1486704" y="1115581"/>
            <a:ext cx="4093033" cy="4334487"/>
            <a:chOff x="1168813" y="1613350"/>
            <a:chExt cx="4093033" cy="433448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04C433B-E14D-75F8-CB53-42E9AA7F3DB5}"/>
                </a:ext>
              </a:extLst>
            </p:cNvPr>
            <p:cNvGrpSpPr/>
            <p:nvPr/>
          </p:nvGrpSpPr>
          <p:grpSpPr>
            <a:xfrm>
              <a:off x="1168813" y="1613350"/>
              <a:ext cx="4093033" cy="4334487"/>
              <a:chOff x="1161691" y="1613350"/>
              <a:chExt cx="4093033" cy="4334487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8BF18CDC-BF9C-FB24-5913-C55BB17E4786}"/>
                  </a:ext>
                </a:extLst>
              </p:cNvPr>
              <p:cNvSpPr/>
              <p:nvPr/>
            </p:nvSpPr>
            <p:spPr>
              <a:xfrm>
                <a:off x="1161691" y="1613350"/>
                <a:ext cx="4093033" cy="4334487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3638A8F-4C97-7FAC-9DF0-5ED815A3F44C}"/>
                  </a:ext>
                </a:extLst>
              </p:cNvPr>
              <p:cNvSpPr txBox="1"/>
              <p:nvPr/>
            </p:nvSpPr>
            <p:spPr>
              <a:xfrm>
                <a:off x="1683701" y="1878942"/>
                <a:ext cx="303476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o-RO" sz="3600" spc="-15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ordique Inline" panose="020F0502020204030204" pitchFamily="2" charset="0"/>
                    <a:cs typeface="Aharoni" panose="02010803020104030203" pitchFamily="2" charset="-79"/>
                  </a:rPr>
                  <a:t>A</a:t>
                </a:r>
                <a:r>
                  <a:rPr lang="en-US" sz="3600" spc="-15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ordique Inline" panose="020F0502020204030204" pitchFamily="2" charset="0"/>
                    <a:cs typeface="Aharoni" panose="02010803020104030203" pitchFamily="2" charset="-79"/>
                  </a:rPr>
                  <a:t>DVANTAGES</a:t>
                </a:r>
                <a:endParaRPr lang="en-GB" sz="3600" b="0" i="0" spc="-1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rdique Inline" panose="020F0502020204030204" pitchFamily="2" charset="0"/>
                  <a:cs typeface="Aharoni" panose="02010803020104030203" pitchFamily="2" charset="-79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1AEF0E0-2471-7DCE-6EE3-8024093DA410}"/>
                  </a:ext>
                </a:extLst>
              </p:cNvPr>
              <p:cNvSpPr txBox="1"/>
              <p:nvPr/>
            </p:nvSpPr>
            <p:spPr>
              <a:xfrm>
                <a:off x="1194996" y="2747393"/>
                <a:ext cx="4052606" cy="17038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" panose="02040502050405020303" pitchFamily="18" charset="0"/>
                  </a:rPr>
                  <a:t>Easy interview practice in browser.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" panose="02040502050405020303" pitchFamily="18" charset="0"/>
                  </a:rPr>
                  <a:t>Get instant AI feedback.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" panose="02040502050405020303" pitchFamily="18" charset="0"/>
                  </a:rPr>
                  <a:t>Connect with student community.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" panose="02040502050405020303" pitchFamily="18" charset="0"/>
                  </a:rPr>
                  <a:t>Secure, student-exclusive platform.</a:t>
                </a:r>
              </a:p>
            </p:txBody>
          </p:sp>
        </p:grpSp>
        <p:pic>
          <p:nvPicPr>
            <p:cNvPr id="65" name="Graphic 64" descr="Comment Like with solid fill">
              <a:extLst>
                <a:ext uri="{FF2B5EF4-FFF2-40B4-BE49-F238E27FC236}">
                  <a16:creationId xmlns:a16="http://schemas.microsoft.com/office/drawing/2014/main" id="{8DAA21ED-CFEF-1F8E-05D7-5D1CEA762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40081" y="4998932"/>
              <a:ext cx="914400" cy="9144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C56BCC2-BE1F-9C42-1F0E-D8A23869E198}"/>
              </a:ext>
            </a:extLst>
          </p:cNvPr>
          <p:cNvGrpSpPr/>
          <p:nvPr/>
        </p:nvGrpSpPr>
        <p:grpSpPr>
          <a:xfrm>
            <a:off x="6303767" y="1120731"/>
            <a:ext cx="4144295" cy="4324186"/>
            <a:chOff x="5998967" y="1623651"/>
            <a:chExt cx="4144295" cy="432418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7CCE0E3-557A-1A9B-D04E-7894EAE4EDFC}"/>
                </a:ext>
              </a:extLst>
            </p:cNvPr>
            <p:cNvGrpSpPr/>
            <p:nvPr/>
          </p:nvGrpSpPr>
          <p:grpSpPr>
            <a:xfrm>
              <a:off x="5998967" y="1623651"/>
              <a:ext cx="4144295" cy="4324186"/>
              <a:chOff x="5998967" y="1623651"/>
              <a:chExt cx="4144295" cy="4324186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5A24D87-7529-5940-D7F6-8B4B9C98F128}"/>
                  </a:ext>
                </a:extLst>
              </p:cNvPr>
              <p:cNvSpPr/>
              <p:nvPr/>
            </p:nvSpPr>
            <p:spPr>
              <a:xfrm>
                <a:off x="5998967" y="1623651"/>
                <a:ext cx="4093034" cy="4324186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D3A9AC-DE4A-C4BF-C783-30E9FCC1727C}"/>
                  </a:ext>
                </a:extLst>
              </p:cNvPr>
              <p:cNvSpPr txBox="1"/>
              <p:nvPr/>
            </p:nvSpPr>
            <p:spPr>
              <a:xfrm>
                <a:off x="6342295" y="1889243"/>
                <a:ext cx="340637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o-RO" sz="3600" spc="-15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ordique Inline" panose="020F0502020204030204" pitchFamily="2" charset="0"/>
                    <a:cs typeface="Aharoni" panose="02010803020104030203" pitchFamily="2" charset="-79"/>
                  </a:rPr>
                  <a:t>D</a:t>
                </a:r>
                <a:r>
                  <a:rPr lang="en-US" sz="3600" spc="-15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ordique Inline" panose="020F0502020204030204" pitchFamily="2" charset="0"/>
                    <a:cs typeface="Aharoni" panose="02010803020104030203" pitchFamily="2" charset="-79"/>
                  </a:rPr>
                  <a:t>ISADVANTAGES</a:t>
                </a:r>
                <a:endParaRPr lang="en-GB" sz="3600" b="0" i="0" spc="-1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rdique Inline" panose="020F0502020204030204" pitchFamily="2" charset="0"/>
                  <a:cs typeface="Aharoni" panose="02010803020104030203" pitchFamily="2" charset="-79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927D2B-226D-58D8-7BCD-BDAB008905E0}"/>
                  </a:ext>
                </a:extLst>
              </p:cNvPr>
              <p:cNvSpPr txBox="1"/>
              <p:nvPr/>
            </p:nvSpPr>
            <p:spPr>
              <a:xfrm>
                <a:off x="6123033" y="2562529"/>
                <a:ext cx="4020229" cy="2119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" panose="02040502050405020303" pitchFamily="18" charset="0"/>
                  </a:rPr>
                  <a:t>Key features still planned.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" panose="02040502050405020303" pitchFamily="18" charset="0"/>
                  </a:rPr>
                  <a:t>AI feedback has limits.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" panose="02040502050405020303" pitchFamily="18" charset="0"/>
                  </a:rPr>
                  <a:t>Requires active student participation.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" panose="02040502050405020303" pitchFamily="18" charset="0"/>
                  </a:rPr>
                  <a:t>Currently limited feature scope.</a:t>
                </a:r>
                <a:endParaRPr lang="ro-RO" dirty="0">
                  <a:latin typeface="Georgia" panose="02040502050405020303" pitchFamily="18" charset="0"/>
                </a:endParaRPr>
              </a:p>
            </p:txBody>
          </p:sp>
        </p:grpSp>
        <p:pic>
          <p:nvPicPr>
            <p:cNvPr id="86" name="Graphic 85" descr="Comment Important with solid fill">
              <a:extLst>
                <a:ext uri="{FF2B5EF4-FFF2-40B4-BE49-F238E27FC236}">
                  <a16:creationId xmlns:a16="http://schemas.microsoft.com/office/drawing/2014/main" id="{5D4C2A9B-0AB3-4BC5-500F-1CCFFD5DD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588282" y="4998932"/>
              <a:ext cx="914400" cy="914400"/>
            </a:xfrm>
            <a:prstGeom prst="rect">
              <a:avLst/>
            </a:prstGeom>
          </p:spPr>
        </p:pic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174D051-79FA-357F-2B04-2732DFB56F4F}"/>
              </a:ext>
            </a:extLst>
          </p:cNvPr>
          <p:cNvGrpSpPr/>
          <p:nvPr/>
        </p:nvGrpSpPr>
        <p:grpSpPr>
          <a:xfrm>
            <a:off x="6303768" y="1120731"/>
            <a:ext cx="4118664" cy="4324186"/>
            <a:chOff x="5998966" y="1613350"/>
            <a:chExt cx="4118664" cy="4324186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EB7748E-73DB-B422-53FF-035F8706DF3C}"/>
                </a:ext>
              </a:extLst>
            </p:cNvPr>
            <p:cNvGrpSpPr/>
            <p:nvPr/>
          </p:nvGrpSpPr>
          <p:grpSpPr>
            <a:xfrm>
              <a:off x="5998966" y="1613350"/>
              <a:ext cx="4118664" cy="4324186"/>
              <a:chOff x="9831863" y="3120867"/>
              <a:chExt cx="4118664" cy="432418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180BBB0E-385D-CB9A-FA46-DF1B7A4E18D6}"/>
                  </a:ext>
                </a:extLst>
              </p:cNvPr>
              <p:cNvGrpSpPr/>
              <p:nvPr/>
            </p:nvGrpSpPr>
            <p:grpSpPr>
              <a:xfrm>
                <a:off x="9831863" y="3120867"/>
                <a:ext cx="4093034" cy="4324186"/>
                <a:chOff x="5998967" y="1623651"/>
                <a:chExt cx="4093034" cy="4324186"/>
              </a:xfrm>
            </p:grpSpPr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F192685A-FCCB-19BB-BA8B-0EE228393916}"/>
                    </a:ext>
                  </a:extLst>
                </p:cNvPr>
                <p:cNvSpPr/>
                <p:nvPr/>
              </p:nvSpPr>
              <p:spPr>
                <a:xfrm>
                  <a:off x="5998967" y="1623651"/>
                  <a:ext cx="4093034" cy="4324186"/>
                </a:xfrm>
                <a:prstGeom prst="roundRect">
                  <a:avLst/>
                </a:prstGeom>
                <a:solidFill>
                  <a:srgbClr val="FF8C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o-RO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B3D3B30-1243-2A60-7F1C-3E61585557E7}"/>
                    </a:ext>
                  </a:extLst>
                </p:cNvPr>
                <p:cNvSpPr txBox="1"/>
                <p:nvPr/>
              </p:nvSpPr>
              <p:spPr>
                <a:xfrm>
                  <a:off x="6416374" y="1899543"/>
                  <a:ext cx="3467095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3600" spc="-15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Nordique Inline" panose="020F0502020204030204" pitchFamily="2" charset="0"/>
                      <a:cs typeface="Aharoni" panose="02010803020104030203" pitchFamily="2" charset="-79"/>
                    </a:rPr>
                    <a:t>DIS</a:t>
                  </a:r>
                  <a:r>
                    <a:rPr lang="ro-RO" sz="3600" spc="-15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Nordique Inline" panose="020F0502020204030204" pitchFamily="2" charset="0"/>
                      <a:cs typeface="Aharoni" panose="02010803020104030203" pitchFamily="2" charset="-79"/>
                    </a:rPr>
                    <a:t>A</a:t>
                  </a:r>
                  <a:r>
                    <a:rPr lang="en-US" sz="3600" spc="-150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Nordique Inline" panose="020F0502020204030204" pitchFamily="2" charset="0"/>
                      <a:cs typeface="Aharoni" panose="02010803020104030203" pitchFamily="2" charset="-79"/>
                    </a:rPr>
                    <a:t>DVANTAGES</a:t>
                  </a:r>
                  <a:endParaRPr lang="en-GB" sz="3600" b="0" i="0" spc="-15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ordique Inline" panose="020F0502020204030204" pitchFamily="2" charset="0"/>
                    <a:cs typeface="Aharoni" panose="02010803020104030203" pitchFamily="2" charset="-79"/>
                  </a:endParaRPr>
                </a:p>
              </p:txBody>
            </p: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F35EEC8-68BA-2A82-B394-1F1E077567D1}"/>
                  </a:ext>
                </a:extLst>
              </p:cNvPr>
              <p:cNvSpPr txBox="1"/>
              <p:nvPr/>
            </p:nvSpPr>
            <p:spPr>
              <a:xfrm>
                <a:off x="9930298" y="4111914"/>
                <a:ext cx="4020229" cy="2119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Key features still planned.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AI feedback has limits.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Requires active student participation.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Currently limited feature scope.</a:t>
                </a:r>
                <a:endParaRPr lang="ro-RO" dirty="0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pic>
          <p:nvPicPr>
            <p:cNvPr id="84" name="Graphic 83" descr="Comment Important with solid fill">
              <a:extLst>
                <a:ext uri="{FF2B5EF4-FFF2-40B4-BE49-F238E27FC236}">
                  <a16:creationId xmlns:a16="http://schemas.microsoft.com/office/drawing/2014/main" id="{B39F13DE-D079-8364-6ED3-8B9ABE839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88282" y="4998932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23099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0.00139 L 0.40885 0.0002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4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ABB202-33F7-4655-F756-D663B443022F}"/>
              </a:ext>
            </a:extLst>
          </p:cNvPr>
          <p:cNvSpPr txBox="1"/>
          <p:nvPr/>
        </p:nvSpPr>
        <p:spPr>
          <a:xfrm>
            <a:off x="2785242" y="8945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H</a:t>
            </a:r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omepage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791A387-5560-74D3-F5B1-30B678538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5" y="1362749"/>
            <a:ext cx="6789683" cy="3247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37B20D-3E8C-926B-53F1-ED89024151BD}"/>
              </a:ext>
            </a:extLst>
          </p:cNvPr>
          <p:cNvSpPr txBox="1"/>
          <p:nvPr/>
        </p:nvSpPr>
        <p:spPr>
          <a:xfrm>
            <a:off x="8198070" y="44141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</a:t>
            </a:r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ign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U</a:t>
            </a:r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1E100467-7A16-21F5-0576-8C95F5AA0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640" y="4981246"/>
            <a:ext cx="6789683" cy="1645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269A1C-E278-893A-487A-72272B98CA3F}"/>
              </a:ext>
            </a:extLst>
          </p:cNvPr>
          <p:cNvSpPr txBox="1"/>
          <p:nvPr/>
        </p:nvSpPr>
        <p:spPr>
          <a:xfrm>
            <a:off x="924165" y="136933"/>
            <a:ext cx="7189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App Overview</a:t>
            </a:r>
          </a:p>
        </p:txBody>
      </p:sp>
      <p:pic>
        <p:nvPicPr>
          <p:cNvPr id="9" name="Graphic 8" descr="Magnifying glass with solid fill">
            <a:extLst>
              <a:ext uri="{FF2B5EF4-FFF2-40B4-BE49-F238E27FC236}">
                <a16:creationId xmlns:a16="http://schemas.microsoft.com/office/drawing/2014/main" id="{63B0DC7E-BF7D-0CAE-F893-9B8D2BC1CB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165" y="-19885"/>
            <a:ext cx="756000" cy="75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4D8A85-1207-93A4-4D47-3FAEE241CFF2}"/>
              </a:ext>
            </a:extLst>
          </p:cNvPr>
          <p:cNvSpPr txBox="1"/>
          <p:nvPr/>
        </p:nvSpPr>
        <p:spPr>
          <a:xfrm>
            <a:off x="8198070" y="339535"/>
            <a:ext cx="716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Notification system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2C8A89D7-DEB8-F47E-80F1-AC60DF0D1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634" y="857957"/>
            <a:ext cx="4319725" cy="2732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532375-E7A1-E5C9-7684-BDAC7B91F97C}"/>
              </a:ext>
            </a:extLst>
          </p:cNvPr>
          <p:cNvSpPr txBox="1"/>
          <p:nvPr/>
        </p:nvSpPr>
        <p:spPr>
          <a:xfrm>
            <a:off x="1368051" y="-626437"/>
            <a:ext cx="14500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Company Dashboard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D0D5ED37-FBBC-3966-FBBB-8AEFC335B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41" y="-4134284"/>
            <a:ext cx="6096000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85513004-2BF6-5B28-F21E-F8161E48E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275" y="7306758"/>
            <a:ext cx="4319725" cy="2041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1931D9-11DF-2E9F-0A06-875EC89EAE90}"/>
              </a:ext>
            </a:extLst>
          </p:cNvPr>
          <p:cNvSpPr txBox="1"/>
          <p:nvPr/>
        </p:nvSpPr>
        <p:spPr>
          <a:xfrm>
            <a:off x="-121381" y="7666124"/>
            <a:ext cx="2091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ctr"/>
            <a:r>
              <a:rPr lang="ro-RO" dirty="0"/>
              <a:t>Candidate list and option to refuse/accept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13A99B76-507B-3F82-AB5C-2BCEC7D1B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4314" y="3281738"/>
            <a:ext cx="5483522" cy="3417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23D08D-6BDB-0A36-FAB1-7F13118F4590}"/>
              </a:ext>
            </a:extLst>
          </p:cNvPr>
          <p:cNvSpPr txBox="1"/>
          <p:nvPr/>
        </p:nvSpPr>
        <p:spPr>
          <a:xfrm>
            <a:off x="16285751" y="2837861"/>
            <a:ext cx="1447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New Job listing</a:t>
            </a:r>
          </a:p>
        </p:txBody>
      </p:sp>
    </p:spTree>
    <p:extLst>
      <p:ext uri="{BB962C8B-B14F-4D97-AF65-F5344CB8AC3E}">
        <p14:creationId xmlns:p14="http://schemas.microsoft.com/office/powerpoint/2010/main" val="792532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84E1B-D784-DE6E-289A-31EC1CE06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7CBCBD-1010-9775-0747-0E3C717EE2B3}"/>
              </a:ext>
            </a:extLst>
          </p:cNvPr>
          <p:cNvSpPr txBox="1"/>
          <p:nvPr/>
        </p:nvSpPr>
        <p:spPr>
          <a:xfrm>
            <a:off x="-5549835" y="8945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H</a:t>
            </a:r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omepage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D186253-6E46-BDBB-402C-D3BB33240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93795" y="1369630"/>
            <a:ext cx="6789683" cy="32472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C8CC9E-C6A9-D7C1-AA4E-B96084EA8AE5}"/>
              </a:ext>
            </a:extLst>
          </p:cNvPr>
          <p:cNvSpPr txBox="1"/>
          <p:nvPr/>
        </p:nvSpPr>
        <p:spPr>
          <a:xfrm>
            <a:off x="8198070" y="72328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</a:t>
            </a:r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ign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U</a:t>
            </a:r>
            <a:r>
              <a:rPr lang="ro-RO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334C1FE0-8EAC-DD69-24C8-60FC5136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387" y="7787828"/>
            <a:ext cx="6789683" cy="1645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928FB5-97E5-382A-E9A6-420B600D8A4B}"/>
              </a:ext>
            </a:extLst>
          </p:cNvPr>
          <p:cNvSpPr txBox="1"/>
          <p:nvPr/>
        </p:nvSpPr>
        <p:spPr>
          <a:xfrm>
            <a:off x="924165" y="136933"/>
            <a:ext cx="7189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App Overview</a:t>
            </a:r>
          </a:p>
        </p:txBody>
      </p:sp>
      <p:pic>
        <p:nvPicPr>
          <p:cNvPr id="9" name="Graphic 8" descr="Magnifying glass with solid fill">
            <a:extLst>
              <a:ext uri="{FF2B5EF4-FFF2-40B4-BE49-F238E27FC236}">
                <a16:creationId xmlns:a16="http://schemas.microsoft.com/office/drawing/2014/main" id="{9ACC162F-108B-B65A-DEEB-C75885212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165" y="-19885"/>
            <a:ext cx="756000" cy="75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B694D2-040D-2C9C-89E7-C7FC9C7C3E35}"/>
              </a:ext>
            </a:extLst>
          </p:cNvPr>
          <p:cNvSpPr txBox="1"/>
          <p:nvPr/>
        </p:nvSpPr>
        <p:spPr>
          <a:xfrm>
            <a:off x="13699710" y="339535"/>
            <a:ext cx="716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Notification system</a:t>
            </a: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6C5C8861-FA57-FC46-E1B1-E4BAE74E1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1554" y="857957"/>
            <a:ext cx="4319725" cy="27322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B601B5-65AE-B204-85F7-A38C14C4A4E3}"/>
              </a:ext>
            </a:extLst>
          </p:cNvPr>
          <p:cNvSpPr txBox="1"/>
          <p:nvPr/>
        </p:nvSpPr>
        <p:spPr>
          <a:xfrm>
            <a:off x="1369649" y="824618"/>
            <a:ext cx="14500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Company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4160FC7-B96D-6F2A-A825-1BA62E76C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64" y="1193950"/>
            <a:ext cx="6096000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CB29050D-F3EA-97B0-2760-AB56DE660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548" y="3281738"/>
            <a:ext cx="5483522" cy="3417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5B5F8D-1EE1-2BE5-B7D1-2FD9F2520B59}"/>
              </a:ext>
            </a:extLst>
          </p:cNvPr>
          <p:cNvSpPr txBox="1"/>
          <p:nvPr/>
        </p:nvSpPr>
        <p:spPr>
          <a:xfrm>
            <a:off x="8113241" y="2837861"/>
            <a:ext cx="1447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New Job listing</a:t>
            </a:r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6A3F654B-C5C6-6BD7-80BE-A201072BA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275" y="4616831"/>
            <a:ext cx="4319725" cy="2041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517596-3F73-ED03-5B28-90600AC9D7DE}"/>
              </a:ext>
            </a:extLst>
          </p:cNvPr>
          <p:cNvSpPr txBox="1"/>
          <p:nvPr/>
        </p:nvSpPr>
        <p:spPr>
          <a:xfrm>
            <a:off x="-121381" y="5040155"/>
            <a:ext cx="2091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ctr"/>
            <a:r>
              <a:rPr lang="ro-RO" dirty="0"/>
              <a:t>Candidate list and option to refuse/accept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A4CF1EB8-1BE8-9555-CEF9-31A4B21D1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60960" y="2155086"/>
            <a:ext cx="5222134" cy="4038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EDE303-7D97-1981-F630-AB1A0C9D098A}"/>
              </a:ext>
            </a:extLst>
          </p:cNvPr>
          <p:cNvSpPr txBox="1"/>
          <p:nvPr/>
        </p:nvSpPr>
        <p:spPr>
          <a:xfrm>
            <a:off x="-5549835" y="1785754"/>
            <a:ext cx="1900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Admin Dashboard</a:t>
            </a: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6E0335F9-27EF-9B54-0899-66419ED0D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4445" y="3835474"/>
            <a:ext cx="5483522" cy="2822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27E93870-D4E5-BBF1-CADD-6B1009E28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644" y="-3657810"/>
            <a:ext cx="5483522" cy="2618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0DE885A-57BC-BC4D-7AF7-74AC043C65AD}"/>
              </a:ext>
            </a:extLst>
          </p:cNvPr>
          <p:cNvSpPr txBox="1"/>
          <p:nvPr/>
        </p:nvSpPr>
        <p:spPr>
          <a:xfrm>
            <a:off x="7947660" y="-748902"/>
            <a:ext cx="1900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Student </a:t>
            </a:r>
            <a:r>
              <a:rPr lang="en-US" dirty="0"/>
              <a:t>D</a:t>
            </a:r>
            <a:r>
              <a:rPr lang="ro-RO" dirty="0"/>
              <a:t>ashboard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EA8FAD-CECF-FE62-27DD-152EB47C9250}"/>
              </a:ext>
            </a:extLst>
          </p:cNvPr>
          <p:cNvSpPr txBox="1"/>
          <p:nvPr/>
        </p:nvSpPr>
        <p:spPr>
          <a:xfrm>
            <a:off x="13089101" y="3466142"/>
            <a:ext cx="1900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Interview based on Job description</a:t>
            </a:r>
          </a:p>
        </p:txBody>
      </p:sp>
    </p:spTree>
    <p:extLst>
      <p:ext uri="{BB962C8B-B14F-4D97-AF65-F5344CB8AC3E}">
        <p14:creationId xmlns:p14="http://schemas.microsoft.com/office/powerpoint/2010/main" val="2949944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EB61D-3153-F6AE-E710-401AC69B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887339-23ED-EDA3-C9DD-96A660C0ADD6}"/>
              </a:ext>
            </a:extLst>
          </p:cNvPr>
          <p:cNvSpPr txBox="1"/>
          <p:nvPr/>
        </p:nvSpPr>
        <p:spPr>
          <a:xfrm>
            <a:off x="924165" y="136933"/>
            <a:ext cx="7189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 Black" panose="02000503040000020004" pitchFamily="2" charset="0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App Overview</a:t>
            </a:r>
          </a:p>
        </p:txBody>
      </p:sp>
      <p:pic>
        <p:nvPicPr>
          <p:cNvPr id="9" name="Graphic 8" descr="Magnifying glass with solid fill">
            <a:extLst>
              <a:ext uri="{FF2B5EF4-FFF2-40B4-BE49-F238E27FC236}">
                <a16:creationId xmlns:a16="http://schemas.microsoft.com/office/drawing/2014/main" id="{B8B83247-AE9C-1642-23EA-CBA781781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165" y="-19885"/>
            <a:ext cx="756000" cy="75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8EDBD1-2E5C-5F8E-E82E-DA5E75AAE13C}"/>
              </a:ext>
            </a:extLst>
          </p:cNvPr>
          <p:cNvSpPr txBox="1"/>
          <p:nvPr/>
        </p:nvSpPr>
        <p:spPr>
          <a:xfrm>
            <a:off x="-5280719" y="824618"/>
            <a:ext cx="14500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Company Dashboard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1576D2E-A986-BFB2-59B2-5C1C8EEA9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61144" y="1193950"/>
            <a:ext cx="6096000" cy="32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DD6EB14A-01FF-DBB2-D8D0-50B292146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3532" y="3281738"/>
            <a:ext cx="5483522" cy="3417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277B76-13CB-4239-53AB-08DCF7262B33}"/>
              </a:ext>
            </a:extLst>
          </p:cNvPr>
          <p:cNvSpPr txBox="1"/>
          <p:nvPr/>
        </p:nvSpPr>
        <p:spPr>
          <a:xfrm>
            <a:off x="15870509" y="2837861"/>
            <a:ext cx="1447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New Job listing</a:t>
            </a:r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623B9680-2D33-6B7F-B0D3-79594796D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275" y="7524154"/>
            <a:ext cx="4319725" cy="2041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31F425-0984-996B-56A7-721B81D4034E}"/>
              </a:ext>
            </a:extLst>
          </p:cNvPr>
          <p:cNvSpPr txBox="1"/>
          <p:nvPr/>
        </p:nvSpPr>
        <p:spPr>
          <a:xfrm>
            <a:off x="-121381" y="8083080"/>
            <a:ext cx="2091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algn="ctr"/>
            <a:r>
              <a:rPr lang="ro-RO" dirty="0"/>
              <a:t>Candidate list and option to refuse/accept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2D832FA-52D1-0A1F-8457-0E26343D6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313" y="403574"/>
            <a:ext cx="5483522" cy="2618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887E0E-BD34-FF68-D13B-FE3F5703B489}"/>
              </a:ext>
            </a:extLst>
          </p:cNvPr>
          <p:cNvSpPr txBox="1"/>
          <p:nvPr/>
        </p:nvSpPr>
        <p:spPr>
          <a:xfrm>
            <a:off x="7947660" y="29211"/>
            <a:ext cx="1900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Student </a:t>
            </a:r>
            <a:r>
              <a:rPr lang="en-US" dirty="0"/>
              <a:t>D</a:t>
            </a:r>
            <a:r>
              <a:rPr lang="ro-RO" dirty="0"/>
              <a:t>ashboard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AE2648-BA97-555F-15C6-ECA3C7F57E7E}"/>
              </a:ext>
            </a:extLst>
          </p:cNvPr>
          <p:cNvSpPr txBox="1"/>
          <p:nvPr/>
        </p:nvSpPr>
        <p:spPr>
          <a:xfrm>
            <a:off x="6923608" y="3466142"/>
            <a:ext cx="1900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Interview based on Job description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9D6C9A82-AD4F-33DC-C9CE-298D0C992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65" y="2155086"/>
            <a:ext cx="5222134" cy="4038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596F7A-ECA0-0FB8-9F80-BD9943E00549}"/>
              </a:ext>
            </a:extLst>
          </p:cNvPr>
          <p:cNvSpPr txBox="1"/>
          <p:nvPr/>
        </p:nvSpPr>
        <p:spPr>
          <a:xfrm>
            <a:off x="1605130" y="1785754"/>
            <a:ext cx="19004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ro-RO" dirty="0"/>
              <a:t>Admin Dashboard</a:t>
            </a: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A175DF7E-908B-2CE3-B11F-528918ACD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313" y="3835474"/>
            <a:ext cx="5483522" cy="2822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806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1B8B27-874E-9AA3-C494-47BA8ECB8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704002" y="1728535"/>
            <a:ext cx="5087750" cy="340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InternStud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 stands out by offering tools tailored to students' needs, such as AI-powered interview practice and company reviews. </a:t>
            </a: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" panose="02000503040000020004" pitchFamily="2" charset="0"/>
              <a:cs typeface="MV Boli" panose="0200050003020009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It bridges the gap between academic life and career opportunities, helping students prepare effectively for the job market.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2ED680-FB9A-88EF-0795-EDCEB87CE880}"/>
              </a:ext>
            </a:extLst>
          </p:cNvPr>
          <p:cNvSpPr/>
          <p:nvPr/>
        </p:nvSpPr>
        <p:spPr>
          <a:xfrm>
            <a:off x="-4033618" y="591333"/>
            <a:ext cx="3079531" cy="5675332"/>
          </a:xfrm>
          <a:prstGeom prst="rect">
            <a:avLst/>
          </a:prstGeom>
          <a:gradFill flip="none" rotWithShape="1">
            <a:gsLst>
              <a:gs pos="100000">
                <a:srgbClr val="0056A0"/>
              </a:gs>
              <a:gs pos="0">
                <a:srgbClr val="FF8C00"/>
              </a:gs>
              <a:gs pos="0">
                <a:srgbClr val="FF8C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E0F4E4-AD84-B748-75A0-A7E36896964B}"/>
              </a:ext>
            </a:extLst>
          </p:cNvPr>
          <p:cNvSpPr/>
          <p:nvPr/>
        </p:nvSpPr>
        <p:spPr>
          <a:xfrm rot="2826017">
            <a:off x="-8702314" y="1088998"/>
            <a:ext cx="4680000" cy="4680000"/>
          </a:xfrm>
          <a:prstGeom prst="roundRect">
            <a:avLst/>
          </a:prstGeom>
          <a:solidFill>
            <a:srgbClr val="0056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B8C6D5-8922-5B9D-AC7A-A74D3F05C6F6}"/>
              </a:ext>
            </a:extLst>
          </p:cNvPr>
          <p:cNvSpPr/>
          <p:nvPr/>
        </p:nvSpPr>
        <p:spPr>
          <a:xfrm rot="2826017">
            <a:off x="-11731528" y="1628997"/>
            <a:ext cx="3600000" cy="360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52400" sx="107000" sy="107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00FB0D-2BF9-00A8-B664-E348F143B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278348" y="3075054"/>
            <a:ext cx="380294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  <a:cs typeface="MV Boli" panose="02000500030200090000" pitchFamily="2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170594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Click="0" advTm="0">
        <p14:ripple/>
      </p:transition>
    </mc:Choice>
    <mc:Fallback>
      <p:transition spd="slow" advClick="0" advTm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8B384-C2F9-71BC-5066-7E504AED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3B877C6-C1B6-3462-3282-1A7CB553F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072" y="1728535"/>
            <a:ext cx="5087750" cy="340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	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InternStud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 stands out by offering tools tailored to students' needs, such as AI-powered interview practice and company reviews. </a:t>
            </a: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" panose="02000503040000020004" pitchFamily="2" charset="0"/>
              <a:cs typeface="MV Boli" panose="0200050003020009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It bridges the gap between academic life and career opportunities, helping students prepare effectively for the job market.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1AB28A-A351-64E3-D0CF-EB2F31DA7C79}"/>
              </a:ext>
            </a:extLst>
          </p:cNvPr>
          <p:cNvSpPr/>
          <p:nvPr/>
        </p:nvSpPr>
        <p:spPr>
          <a:xfrm>
            <a:off x="0" y="591333"/>
            <a:ext cx="3079531" cy="5675332"/>
          </a:xfrm>
          <a:prstGeom prst="rect">
            <a:avLst/>
          </a:prstGeom>
          <a:gradFill flip="none" rotWithShape="1">
            <a:gsLst>
              <a:gs pos="100000">
                <a:srgbClr val="0056A0"/>
              </a:gs>
              <a:gs pos="0">
                <a:srgbClr val="FF8C00"/>
              </a:gs>
              <a:gs pos="0">
                <a:srgbClr val="FF8C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93A4BBE-3E08-729D-B815-FA5C49AD325B}"/>
              </a:ext>
            </a:extLst>
          </p:cNvPr>
          <p:cNvSpPr/>
          <p:nvPr/>
        </p:nvSpPr>
        <p:spPr>
          <a:xfrm rot="2826017">
            <a:off x="967036" y="1088999"/>
            <a:ext cx="4680000" cy="4680000"/>
          </a:xfrm>
          <a:prstGeom prst="roundRect">
            <a:avLst/>
          </a:prstGeom>
          <a:solidFill>
            <a:srgbClr val="005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DE5253-B9E4-E9A9-723F-FD8FFD80F0D3}"/>
              </a:ext>
            </a:extLst>
          </p:cNvPr>
          <p:cNvSpPr/>
          <p:nvPr/>
        </p:nvSpPr>
        <p:spPr>
          <a:xfrm rot="2826017">
            <a:off x="1507036" y="1628999"/>
            <a:ext cx="3600000" cy="360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52400" sx="107000" sy="107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CF637E-8E43-7910-6344-0A419F2B7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169" y="3075056"/>
            <a:ext cx="32358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  <a:cs typeface="MV Boli" panose="02000500030200090000" pitchFamily="2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974309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5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BB384-95AF-6E8E-E634-A5C6919A7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3283EF-5903-B4DA-D5FC-F0FC82348A87}"/>
              </a:ext>
            </a:extLst>
          </p:cNvPr>
          <p:cNvSpPr/>
          <p:nvPr/>
        </p:nvSpPr>
        <p:spPr>
          <a:xfrm>
            <a:off x="4663441" y="1523999"/>
            <a:ext cx="2316480" cy="2667001"/>
          </a:xfrm>
          <a:prstGeom prst="rect">
            <a:avLst/>
          </a:prstGeom>
          <a:gradFill flip="none" rotWithShape="1">
            <a:gsLst>
              <a:gs pos="100000">
                <a:srgbClr val="0056A0"/>
              </a:gs>
              <a:gs pos="0">
                <a:srgbClr val="FF8C00"/>
              </a:gs>
              <a:gs pos="0">
                <a:srgbClr val="FF8C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FC26F7-4550-8C61-51A1-EE708E2DB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548" y="1966292"/>
            <a:ext cx="3079532" cy="2925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	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InternStud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 stands out by offering tools tailored to students' needs, such as AI-powered interview practice and company reviews. </a:t>
            </a: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genial" panose="02000503040000020004" pitchFamily="2" charset="0"/>
              <a:cs typeface="MV Boli" panose="02000500030200090000" pitchFamily="2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genial" panose="02000503040000020004" pitchFamily="2" charset="0"/>
                <a:cs typeface="MV Boli" panose="02000500030200090000" pitchFamily="2" charset="0"/>
              </a:rPr>
              <a:t>It bridges the gap between academic life and career opportunities, helping students prepare effectively for the job market.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D7531C-F753-BC54-6340-DE708F89D6DD}"/>
              </a:ext>
            </a:extLst>
          </p:cNvPr>
          <p:cNvSpPr/>
          <p:nvPr/>
        </p:nvSpPr>
        <p:spPr>
          <a:xfrm rot="8100000">
            <a:off x="2204408" y="-569063"/>
            <a:ext cx="7783184" cy="7996127"/>
          </a:xfrm>
          <a:prstGeom prst="roundRect">
            <a:avLst/>
          </a:prstGeom>
          <a:solidFill>
            <a:srgbClr val="0050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DB1A1C-8B2C-93C0-EF93-A4D03534A2C3}"/>
              </a:ext>
            </a:extLst>
          </p:cNvPr>
          <p:cNvSpPr/>
          <p:nvPr/>
        </p:nvSpPr>
        <p:spPr>
          <a:xfrm rot="13473768">
            <a:off x="4296000" y="1629000"/>
            <a:ext cx="3600000" cy="3600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152400" sx="107000" sy="107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FCEB0C-6495-FCD3-56FF-0F521D8F8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058" y="2459504"/>
            <a:ext cx="323588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  <a:cs typeface="MV Boli" panose="02000500030200090000" pitchFamily="2" charset="0"/>
              </a:rPr>
              <a:t>THANK YOU FOR WATCHING!</a:t>
            </a:r>
          </a:p>
        </p:txBody>
      </p:sp>
    </p:spTree>
    <p:extLst>
      <p:ext uri="{BB962C8B-B14F-4D97-AF65-F5344CB8AC3E}">
        <p14:creationId xmlns:p14="http://schemas.microsoft.com/office/powerpoint/2010/main" val="4005380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3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1014</Words>
  <Application>Microsoft Office PowerPoint</Application>
  <PresentationFormat>Widescreen</PresentationFormat>
  <Paragraphs>152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34" baseType="lpstr">
      <vt:lpstr>Aharoni</vt:lpstr>
      <vt:lpstr>Aptos</vt:lpstr>
      <vt:lpstr>Aptos Display</vt:lpstr>
      <vt:lpstr>Arial</vt:lpstr>
      <vt:lpstr>Bauhaus 93</vt:lpstr>
      <vt:lpstr>Congenial</vt:lpstr>
      <vt:lpstr>Congenial Black</vt:lpstr>
      <vt:lpstr>Georgia</vt:lpstr>
      <vt:lpstr>Nordique Inline</vt:lpstr>
      <vt:lpstr>Times New Roman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Balacciu I Alexia-Maria</dc:creator>
  <cp:lastModifiedBy>Balacciu I Alexia-Maria</cp:lastModifiedBy>
  <cp:revision>65</cp:revision>
  <dcterms:created xsi:type="dcterms:W3CDTF">2025-05-24T19:14:53Z</dcterms:created>
  <dcterms:modified xsi:type="dcterms:W3CDTF">2025-05-25T21:03:53Z</dcterms:modified>
</cp:coreProperties>
</file>